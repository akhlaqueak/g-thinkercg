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6" r:id="rId6"/>
    <p:sldId id="267" r:id="rId7"/>
    <p:sldId id="268" r:id="rId8"/>
    <p:sldId id="262" r:id="rId9"/>
    <p:sldId id="263" r:id="rId10"/>
    <p:sldId id="264" r:id="rId11"/>
    <p:sldId id="265" r:id="rId12"/>
    <p:sldId id="271" r:id="rId13"/>
    <p:sldId id="272" r:id="rId14"/>
    <p:sldId id="273" r:id="rId15"/>
    <p:sldId id="274" r:id="rId16"/>
    <p:sldId id="275" r:id="rId17"/>
    <p:sldId id="258" r:id="rId18"/>
    <p:sldId id="276" r:id="rId19"/>
    <p:sldId id="277" r:id="rId20"/>
    <p:sldId id="278" r:id="rId21"/>
    <p:sldId id="279" r:id="rId22"/>
    <p:sldId id="26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622"/>
    <p:restoredTop sz="96512"/>
  </p:normalViewPr>
  <p:slideViewPr>
    <p:cSldViewPr snapToGrid="0">
      <p:cViewPr varScale="1">
        <p:scale>
          <a:sx n="121" d="100"/>
          <a:sy n="121" d="100"/>
        </p:scale>
        <p:origin x="20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8FCC2-6CD8-C9EF-9FD9-D3693D9448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C65EE2-2ECC-3C5C-E866-91AFD6F2A6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5A4D6-D480-B7AA-462C-03479678F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281B43-B5E3-F9F5-4BF7-15672D6C4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EBFAE-E1AF-CFCE-DD68-F96DB4792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436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2EFD9-C212-57F7-C85C-17D2C0195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6B25D-889A-32AF-FD02-62323B239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C122E-5C2F-7599-9C0C-C81C37063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3A8F1-2B9E-4725-EFFD-6286B3C3C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A8AEA-D89A-C65E-6B73-78CAC1E5A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71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904F-AEDE-9839-0BE6-BB84006BC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2CCF4-78F7-2967-9BEE-F0029E63F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B11E9-1125-8EFD-A225-B22CE23E9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D144D-8070-C6C6-C791-402CA27E0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764B6-4E8E-B9BD-C1EA-316DEA9DB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35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37286-6F42-64A7-D03A-6C399084F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1AE32-BCEE-B1A0-EE6F-F6F55B145C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59F491-69FC-7F77-3A37-42F1A76C32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AE3E9-5EE1-81DD-58BD-5C9910336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8/2/26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8C946-B4F6-249B-E976-E04A6ED3D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CEFFC-D441-9F53-1741-A51888F66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601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CC61A-F181-73CD-E382-60A5878DB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9A9D8A-1AA3-7E64-9B9C-76C5AED8F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045CBA-7265-5D6C-9E9A-0E37B41D16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29C13A-C48A-73F6-D370-4D7D666B2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90D0D-B6E1-74D5-B586-C29B4DC4F7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0A82CF-7E6F-621E-63BC-9BE6B59A4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8/2/26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2AF6FC-14F0-F557-8B55-689C7C922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2CCC6-C83A-CC6A-88D8-89B4197AA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869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026FB-F82C-4ECD-EB69-75E1B92D8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756E7C-69BE-9C46-C5B3-CC2291FD2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8/2/26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8C6168-9855-84F7-8D7A-52ADE7D36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FD3A02-888B-5D8B-BD28-D8DE5D6B3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45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168F61-DF89-4755-8555-26EDFDCB7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8/2/26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FA70ED-39AF-DD47-5C8E-45F184ED2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3031C-7849-FFAB-D7BE-9C2FAE3C8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01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F478F-B1FA-7BDB-36C3-DDFA1448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6EE8B-229B-997D-A171-01118C990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C8B40-0B36-CBEB-2BB4-1879690CF4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F7929D-C037-AD47-C5AF-BE76D23FD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8/2/26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95A27F-6260-CD0A-0846-D3952688C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41465D-9A18-8876-B0A2-94A040FCA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596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DD0D-7A26-5E7B-BBEF-E14658070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C8715F-8281-44AB-619D-17EC6CC42C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61771F-8D88-6066-1062-E7D4F3BF66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D819B4-46CC-D375-BC23-78F2E9FA8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8/2/26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625E3-9979-3408-C588-FD39F37D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6AC7B0-ACE9-5947-8FDA-879F59A05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35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C66FA-D9E8-3C3F-7980-CA28F9FA4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058B1F-270F-FF14-46CD-8D7AEF1FC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56D945-880A-E7FF-96F4-8EEF81BE9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0E45BF-986F-C31E-50E1-DB0216129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A82DD-4FF2-886E-A92B-F01AE9793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078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399E1-9F0D-61B4-3F00-B7F43D64CB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140E4-11D8-A7C7-0F62-FDABD2CCD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8262A7-0A29-0070-16A4-999F3B003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78B2C-0EC6-8B88-BE71-DC9C3EC64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FFF9F-FF47-1654-7F28-2EC6A6256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271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AA00FA-5594-4369-5228-B9B0CB884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3CEC81-0E19-3B5C-992C-7188030D6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4B29A-EA94-D501-3D91-A94AE1366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584DAC-AA37-8C49-B5B6-53E9519E19BB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5945-053E-B5ED-4102-14373FB57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FC8C2-BFDA-B1DB-E344-F18838133F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378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83BC5-4C6B-8910-76B7-242970843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Managed Memory Spill Buffer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32683D2-412B-E49D-3E90-10F604088A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79650" y="1690688"/>
            <a:ext cx="7632700" cy="2628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0E8320-6BF3-0868-0178-705E89D0131E}"/>
              </a:ext>
            </a:extLst>
          </p:cNvPr>
          <p:cNvSpPr txBox="1"/>
          <p:nvPr/>
        </p:nvSpPr>
        <p:spPr>
          <a:xfrm>
            <a:off x="2627586" y="4845269"/>
            <a:ext cx="518494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Too slow to read/write to managed memory buffer. </a:t>
            </a:r>
            <a:endParaRPr lang="en-US" dirty="0"/>
          </a:p>
          <a:p>
            <a:r>
              <a:rPr lang="en-US" b="1" dirty="0"/>
              <a:t>Example:</a:t>
            </a:r>
          </a:p>
          <a:p>
            <a:endParaRPr lang="en-US" b="1" dirty="0"/>
          </a:p>
          <a:p>
            <a:r>
              <a:rPr lang="en-US" b="1" dirty="0" err="1"/>
              <a:t>wikipedia_link_ru</a:t>
            </a:r>
            <a:endParaRPr lang="en-US" b="1" dirty="0"/>
          </a:p>
          <a:p>
            <a:r>
              <a:rPr lang="en-US"/>
              <a:t>total run time: 105.2 sec </a:t>
            </a:r>
            <a:endParaRPr lang="en-US" dirty="0"/>
          </a:p>
          <a:p>
            <a:r>
              <a:rPr lang="en-US"/>
              <a:t>host buffer read</a:t>
            </a:r>
            <a:r>
              <a:rPr lang="en-US" dirty="0"/>
              <a:t>/</a:t>
            </a:r>
            <a:r>
              <a:rPr lang="en-US"/>
              <a:t>write: 20.3 sec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2357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C8055-AC4B-5124-0509-8DA608A7D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Host Resident Buffer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3F9EF-384A-6025-F4AC-E25DAFB4F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53734"/>
          </a:xfrm>
        </p:spPr>
        <p:txBody>
          <a:bodyPr/>
          <a:lstStyle/>
          <a:p>
            <a:r>
              <a:rPr lang="en-US"/>
              <a:t>Create with </a:t>
            </a:r>
            <a:r>
              <a:rPr lang="en-US" b="1"/>
              <a:t>new</a:t>
            </a:r>
            <a:r>
              <a:rPr lang="en-US"/>
              <a:t> </a:t>
            </a:r>
            <a:endParaRPr lang="en-US" dirty="0"/>
          </a:p>
          <a:p>
            <a:r>
              <a:rPr lang="en-US"/>
              <a:t>After returning from kernel, copy data to/from host buffer</a:t>
            </a:r>
            <a:endParaRPr lang="en-US" dirty="0"/>
          </a:p>
          <a:p>
            <a:r>
              <a:rPr lang="en-US"/>
              <a:t>Bulk copy data instead of copying each subgraph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B173A4-D879-8F03-F25D-E7815C89E0E5}"/>
              </a:ext>
            </a:extLst>
          </p:cNvPr>
          <p:cNvSpPr txBox="1"/>
          <p:nvPr/>
        </p:nvSpPr>
        <p:spPr>
          <a:xfrm>
            <a:off x="1135117" y="494249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wikipedia_link_ru</a:t>
            </a:r>
            <a:endParaRPr lang="en-US" b="1" dirty="0"/>
          </a:p>
          <a:p>
            <a:r>
              <a:rPr lang="en-US"/>
              <a:t>total run time: 76.6 sec </a:t>
            </a:r>
            <a:endParaRPr lang="en-US" dirty="0"/>
          </a:p>
          <a:p>
            <a:r>
              <a:rPr lang="en-US"/>
              <a:t>host buffer read</a:t>
            </a:r>
            <a:r>
              <a:rPr lang="en-US" dirty="0"/>
              <a:t>/</a:t>
            </a:r>
            <a:r>
              <a:rPr lang="en-US"/>
              <a:t>write: 1.3 sec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EFBDFB-41DF-7F29-62B9-ECD1A2DD775A}"/>
              </a:ext>
            </a:extLst>
          </p:cNvPr>
          <p:cNvSpPr/>
          <p:nvPr/>
        </p:nvSpPr>
        <p:spPr>
          <a:xfrm>
            <a:off x="6369270" y="4001294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CA4AD0-905A-73B5-2396-1B60E26A33B2}"/>
              </a:ext>
            </a:extLst>
          </p:cNvPr>
          <p:cNvSpPr/>
          <p:nvPr/>
        </p:nvSpPr>
        <p:spPr>
          <a:xfrm>
            <a:off x="6369269" y="4691091"/>
            <a:ext cx="5281447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97D780-A2CF-ADE2-2254-21FE67E594F0}"/>
              </a:ext>
            </a:extLst>
          </p:cNvPr>
          <p:cNvSpPr/>
          <p:nvPr/>
        </p:nvSpPr>
        <p:spPr>
          <a:xfrm>
            <a:off x="6453353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F4DC7D-F514-61BA-B92D-3CAC78907D58}"/>
              </a:ext>
            </a:extLst>
          </p:cNvPr>
          <p:cNvSpPr/>
          <p:nvPr/>
        </p:nvSpPr>
        <p:spPr>
          <a:xfrm>
            <a:off x="6716112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66C9C8-6328-FFE2-28BC-DDA56EF2F51E}"/>
              </a:ext>
            </a:extLst>
          </p:cNvPr>
          <p:cNvSpPr/>
          <p:nvPr/>
        </p:nvSpPr>
        <p:spPr>
          <a:xfrm>
            <a:off x="6978871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7CB73C-AF4D-75B5-9FF0-C8A040C2A12F}"/>
              </a:ext>
            </a:extLst>
          </p:cNvPr>
          <p:cNvSpPr/>
          <p:nvPr/>
        </p:nvSpPr>
        <p:spPr>
          <a:xfrm>
            <a:off x="7241630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DC9702-9889-7364-6CE6-71121028C96E}"/>
              </a:ext>
            </a:extLst>
          </p:cNvPr>
          <p:cNvSpPr/>
          <p:nvPr/>
        </p:nvSpPr>
        <p:spPr>
          <a:xfrm>
            <a:off x="7504389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5F749-FD06-0D3D-7909-D2347A5FE9F5}"/>
              </a:ext>
            </a:extLst>
          </p:cNvPr>
          <p:cNvSpPr/>
          <p:nvPr/>
        </p:nvSpPr>
        <p:spPr>
          <a:xfrm>
            <a:off x="7767148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BB24A6-520A-8390-DD38-29421AA7B233}"/>
              </a:ext>
            </a:extLst>
          </p:cNvPr>
          <p:cNvSpPr/>
          <p:nvPr/>
        </p:nvSpPr>
        <p:spPr>
          <a:xfrm>
            <a:off x="7252141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A72DB4-0476-BAE8-979B-CA1FA6C5B484}"/>
              </a:ext>
            </a:extLst>
          </p:cNvPr>
          <p:cNvSpPr/>
          <p:nvPr/>
        </p:nvSpPr>
        <p:spPr>
          <a:xfrm>
            <a:off x="7514900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183DA3-803D-4514-6E30-05674FA14CED}"/>
              </a:ext>
            </a:extLst>
          </p:cNvPr>
          <p:cNvSpPr/>
          <p:nvPr/>
        </p:nvSpPr>
        <p:spPr>
          <a:xfrm>
            <a:off x="7777659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77F7D2-A995-61AE-E9F2-6048D1D7A137}"/>
              </a:ext>
            </a:extLst>
          </p:cNvPr>
          <p:cNvSpPr/>
          <p:nvPr/>
        </p:nvSpPr>
        <p:spPr>
          <a:xfrm>
            <a:off x="8040418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90374B-097C-5122-CBAD-2915914995C4}"/>
              </a:ext>
            </a:extLst>
          </p:cNvPr>
          <p:cNvSpPr/>
          <p:nvPr/>
        </p:nvSpPr>
        <p:spPr>
          <a:xfrm>
            <a:off x="8303177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87CEC49-1F7E-1E80-E876-1E69912CAB70}"/>
              </a:ext>
            </a:extLst>
          </p:cNvPr>
          <p:cNvSpPr/>
          <p:nvPr/>
        </p:nvSpPr>
        <p:spPr>
          <a:xfrm>
            <a:off x="8565936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979762-27FC-9B1F-8300-846E2E53A02D}"/>
              </a:ext>
            </a:extLst>
          </p:cNvPr>
          <p:cNvSpPr txBox="1"/>
          <p:nvPr/>
        </p:nvSpPr>
        <p:spPr>
          <a:xfrm>
            <a:off x="6096000" y="3666756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Brd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758331-BB25-1684-0F06-17283CFB3658}"/>
              </a:ext>
            </a:extLst>
          </p:cNvPr>
          <p:cNvSpPr txBox="1"/>
          <p:nvPr/>
        </p:nvSpPr>
        <p:spPr>
          <a:xfrm>
            <a:off x="6001409" y="4379632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CFCB574-DD58-2725-E233-047340E09CB3}"/>
              </a:ext>
            </a:extLst>
          </p:cNvPr>
          <p:cNvSpPr/>
          <p:nvPr/>
        </p:nvSpPr>
        <p:spPr>
          <a:xfrm>
            <a:off x="6458611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B0DF84-B1EE-F287-C1A8-3E3058C29298}"/>
              </a:ext>
            </a:extLst>
          </p:cNvPr>
          <p:cNvSpPr/>
          <p:nvPr/>
        </p:nvSpPr>
        <p:spPr>
          <a:xfrm>
            <a:off x="6721370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90E2C1-92CB-2B2B-4BB2-1ADC3CEC5873}"/>
              </a:ext>
            </a:extLst>
          </p:cNvPr>
          <p:cNvSpPr/>
          <p:nvPr/>
        </p:nvSpPr>
        <p:spPr>
          <a:xfrm>
            <a:off x="6984129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06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03FD5-EB14-7CC3-5BB1-285AB4037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Quasi Clique Application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FAC095E-BF34-B701-4D03-C8F4840B95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41600" y="1393191"/>
            <a:ext cx="4908800" cy="500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375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F48B0D-AF69-96DE-08CC-BB0DE9568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Results - MQC</a:t>
            </a:r>
            <a:endParaRPr lang="en-US" sz="48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4799DED-BE63-3006-EA39-C74B5E392F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2828120"/>
              </p:ext>
            </p:extLst>
          </p:nvPr>
        </p:nvGraphicFramePr>
        <p:xfrm>
          <a:off x="904602" y="3063421"/>
          <a:ext cx="10378445" cy="3118103"/>
        </p:xfrm>
        <a:graphic>
          <a:graphicData uri="http://schemas.openxmlformats.org/drawingml/2006/table">
            <a:tbl>
              <a:tblPr/>
              <a:tblGrid>
                <a:gridCol w="1132150">
                  <a:extLst>
                    <a:ext uri="{9D8B030D-6E8A-4147-A177-3AD203B41FA5}">
                      <a16:colId xmlns:a16="http://schemas.microsoft.com/office/drawing/2014/main" val="2713897327"/>
                    </a:ext>
                  </a:extLst>
                </a:gridCol>
                <a:gridCol w="903797">
                  <a:extLst>
                    <a:ext uri="{9D8B030D-6E8A-4147-A177-3AD203B41FA5}">
                      <a16:colId xmlns:a16="http://schemas.microsoft.com/office/drawing/2014/main" val="2150304406"/>
                    </a:ext>
                  </a:extLst>
                </a:gridCol>
                <a:gridCol w="915816">
                  <a:extLst>
                    <a:ext uri="{9D8B030D-6E8A-4147-A177-3AD203B41FA5}">
                      <a16:colId xmlns:a16="http://schemas.microsoft.com/office/drawing/2014/main" val="2243225001"/>
                    </a:ext>
                  </a:extLst>
                </a:gridCol>
                <a:gridCol w="515197">
                  <a:extLst>
                    <a:ext uri="{9D8B030D-6E8A-4147-A177-3AD203B41FA5}">
                      <a16:colId xmlns:a16="http://schemas.microsoft.com/office/drawing/2014/main" val="2972052075"/>
                    </a:ext>
                  </a:extLst>
                </a:gridCol>
                <a:gridCol w="573286">
                  <a:extLst>
                    <a:ext uri="{9D8B030D-6E8A-4147-A177-3AD203B41FA5}">
                      <a16:colId xmlns:a16="http://schemas.microsoft.com/office/drawing/2014/main" val="1334432183"/>
                    </a:ext>
                  </a:extLst>
                </a:gridCol>
                <a:gridCol w="829683">
                  <a:extLst>
                    <a:ext uri="{9D8B030D-6E8A-4147-A177-3AD203B41FA5}">
                      <a16:colId xmlns:a16="http://schemas.microsoft.com/office/drawing/2014/main" val="2626238600"/>
                    </a:ext>
                  </a:extLst>
                </a:gridCol>
                <a:gridCol w="1102104">
                  <a:extLst>
                    <a:ext uri="{9D8B030D-6E8A-4147-A177-3AD203B41FA5}">
                      <a16:colId xmlns:a16="http://schemas.microsoft.com/office/drawing/2014/main" val="297224623"/>
                    </a:ext>
                  </a:extLst>
                </a:gridCol>
                <a:gridCol w="1290395">
                  <a:extLst>
                    <a:ext uri="{9D8B030D-6E8A-4147-A177-3AD203B41FA5}">
                      <a16:colId xmlns:a16="http://schemas.microsoft.com/office/drawing/2014/main" val="3163159027"/>
                    </a:ext>
                  </a:extLst>
                </a:gridCol>
                <a:gridCol w="931840">
                  <a:extLst>
                    <a:ext uri="{9D8B030D-6E8A-4147-A177-3AD203B41FA5}">
                      <a16:colId xmlns:a16="http://schemas.microsoft.com/office/drawing/2014/main" val="962728455"/>
                    </a:ext>
                  </a:extLst>
                </a:gridCol>
                <a:gridCol w="853720">
                  <a:extLst>
                    <a:ext uri="{9D8B030D-6E8A-4147-A177-3AD203B41FA5}">
                      <a16:colId xmlns:a16="http://schemas.microsoft.com/office/drawing/2014/main" val="3298218237"/>
                    </a:ext>
                  </a:extLst>
                </a:gridCol>
                <a:gridCol w="1330457">
                  <a:extLst>
                    <a:ext uri="{9D8B030D-6E8A-4147-A177-3AD203B41FA5}">
                      <a16:colId xmlns:a16="http://schemas.microsoft.com/office/drawing/2014/main" val="900833380"/>
                    </a:ext>
                  </a:extLst>
                </a:gridCol>
              </a:tblGrid>
              <a:tr h="3658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dataset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θ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γ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#MQC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Gthinker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DCFastQC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Quick+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cu-QC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#{</a:t>
                      </a: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cu-QC}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527003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ca-GrQc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26,198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14,490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1,665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0659542"/>
                  </a:ext>
                </a:extLst>
              </a:tr>
              <a:tr h="6735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condmat-dimacs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39,577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175,691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7,222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2.2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432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4619954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108,301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93,468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4,382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</a:t>
                      </a: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(4396)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510221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enron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36,692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183,831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9.7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102.0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3.3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</a:t>
                      </a: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(200)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238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facebook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   4,039 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88,234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282.9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352.1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 (</a:t>
                      </a: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2)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7667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733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E5CE3626-FB0A-692A-F035-A1DF78C21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602" y="0"/>
            <a:ext cx="660327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150E0C-EF31-9E3B-653E-154243818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Scratch Buffer</a:t>
            </a:r>
            <a:endParaRPr lang="en-US" dirty="0"/>
          </a:p>
        </p:txBody>
      </p:sp>
      <p:graphicFrame>
        <p:nvGraphicFramePr>
          <p:cNvPr id="31" name="Content Placeholder 3">
            <a:extLst>
              <a:ext uri="{FF2B5EF4-FFF2-40B4-BE49-F238E27FC236}">
                <a16:creationId xmlns:a16="http://schemas.microsoft.com/office/drawing/2014/main" id="{19DFFE26-B75F-43CD-55F5-9E3EA43815AA}"/>
              </a:ext>
            </a:extLst>
          </p:cNvPr>
          <p:cNvGraphicFramePr>
            <a:graphicFrameLocks/>
          </p:cNvGraphicFramePr>
          <p:nvPr/>
        </p:nvGraphicFramePr>
        <p:xfrm>
          <a:off x="5219609" y="860756"/>
          <a:ext cx="3180630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925629564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505726368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268241414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CD8A8E56-B852-AB89-A094-0ABE1BBE77BC}"/>
              </a:ext>
            </a:extLst>
          </p:cNvPr>
          <p:cNvSpPr txBox="1"/>
          <p:nvPr/>
        </p:nvSpPr>
        <p:spPr>
          <a:xfrm>
            <a:off x="5993706" y="374835"/>
            <a:ext cx="175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top level tasks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B306A4D-FDE3-C800-7E1C-84906394F217}"/>
              </a:ext>
            </a:extLst>
          </p:cNvPr>
          <p:cNvSpPr/>
          <p:nvPr/>
        </p:nvSpPr>
        <p:spPr>
          <a:xfrm>
            <a:off x="6358791" y="1515328"/>
            <a:ext cx="908197" cy="558836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2-hop neigh</a:t>
            </a:r>
            <a:endParaRPr lang="en-US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DA448AB-F1BC-2284-B2BB-209FB2E9000F}"/>
              </a:ext>
            </a:extLst>
          </p:cNvPr>
          <p:cNvCxnSpPr>
            <a:cxnSpLocks/>
            <a:stCxn id="31" idx="2"/>
            <a:endCxn id="33" idx="0"/>
          </p:cNvCxnSpPr>
          <p:nvPr/>
        </p:nvCxnSpPr>
        <p:spPr>
          <a:xfrm>
            <a:off x="6809924" y="1299115"/>
            <a:ext cx="2966" cy="2162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74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5A725-C0FB-AFBB-BD77-C989D1102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F65E09FD-86C3-B452-444F-53A4F6F76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602" y="0"/>
            <a:ext cx="660327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2F1B3E-B919-6AAB-EBA8-2232CDA90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Scratch Buffer</a:t>
            </a:r>
            <a:endParaRPr lang="en-US" dirty="0"/>
          </a:p>
        </p:txBody>
      </p:sp>
      <p:graphicFrame>
        <p:nvGraphicFramePr>
          <p:cNvPr id="31" name="Content Placeholder 3">
            <a:extLst>
              <a:ext uri="{FF2B5EF4-FFF2-40B4-BE49-F238E27FC236}">
                <a16:creationId xmlns:a16="http://schemas.microsoft.com/office/drawing/2014/main" id="{F7BEEAA0-DB71-CB33-8F1C-7F30FD0FB0F1}"/>
              </a:ext>
            </a:extLst>
          </p:cNvPr>
          <p:cNvGraphicFramePr>
            <a:graphicFrameLocks/>
          </p:cNvGraphicFramePr>
          <p:nvPr/>
        </p:nvGraphicFramePr>
        <p:xfrm>
          <a:off x="5219609" y="860756"/>
          <a:ext cx="3180630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925629564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505726368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268241414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DD450443-76AA-47EF-8518-82CDF232C420}"/>
              </a:ext>
            </a:extLst>
          </p:cNvPr>
          <p:cNvSpPr txBox="1"/>
          <p:nvPr/>
        </p:nvSpPr>
        <p:spPr>
          <a:xfrm>
            <a:off x="5993706" y="374835"/>
            <a:ext cx="175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top level tasks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3DF527D-D515-F294-E1EC-14ED18FFC723}"/>
              </a:ext>
            </a:extLst>
          </p:cNvPr>
          <p:cNvSpPr/>
          <p:nvPr/>
        </p:nvSpPr>
        <p:spPr>
          <a:xfrm>
            <a:off x="6358791" y="1515328"/>
            <a:ext cx="908197" cy="558836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2-hop neigh</a:t>
            </a:r>
            <a:endParaRPr lang="en-US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4BC0C70-8964-A7F5-37A8-04C08D4E0EBC}"/>
              </a:ext>
            </a:extLst>
          </p:cNvPr>
          <p:cNvCxnSpPr>
            <a:cxnSpLocks/>
            <a:stCxn id="31" idx="2"/>
            <a:endCxn id="33" idx="0"/>
          </p:cNvCxnSpPr>
          <p:nvPr/>
        </p:nvCxnSpPr>
        <p:spPr>
          <a:xfrm>
            <a:off x="6809924" y="1299115"/>
            <a:ext cx="2966" cy="2162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9088A7C-78EB-F510-6A5A-607DA4322B1B}"/>
              </a:ext>
            </a:extLst>
          </p:cNvPr>
          <p:cNvSpPr txBox="1"/>
          <p:nvPr/>
        </p:nvSpPr>
        <p:spPr>
          <a:xfrm>
            <a:off x="1709998" y="3289727"/>
            <a:ext cx="1850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per warp scratch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D53A03-19D4-3309-7501-A43EB6713F89}"/>
              </a:ext>
            </a:extLst>
          </p:cNvPr>
          <p:cNvSpPr txBox="1"/>
          <p:nvPr/>
        </p:nvSpPr>
        <p:spPr>
          <a:xfrm>
            <a:off x="1172184" y="3576806"/>
            <a:ext cx="2953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 32000 it sums to 6.5GB</a:t>
            </a:r>
          </a:p>
        </p:txBody>
      </p:sp>
    </p:spTree>
    <p:extLst>
      <p:ext uri="{BB962C8B-B14F-4D97-AF65-F5344CB8AC3E}">
        <p14:creationId xmlns:p14="http://schemas.microsoft.com/office/powerpoint/2010/main" val="167228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B744D-A139-FB1A-B60B-51B6E6286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Handlink Big Tasks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923482F-EE93-313A-EB53-C79917AA892F}"/>
              </a:ext>
            </a:extLst>
          </p:cNvPr>
          <p:cNvGraphicFramePr>
            <a:graphicFrameLocks/>
          </p:cNvGraphicFramePr>
          <p:nvPr/>
        </p:nvGraphicFramePr>
        <p:xfrm>
          <a:off x="4092558" y="2098718"/>
          <a:ext cx="3180630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925629564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505726368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268241414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A5B80B6-EC4E-F048-0038-CFF6411D550E}"/>
              </a:ext>
            </a:extLst>
          </p:cNvPr>
          <p:cNvSpPr txBox="1"/>
          <p:nvPr/>
        </p:nvSpPr>
        <p:spPr>
          <a:xfrm>
            <a:off x="4866655" y="1612797"/>
            <a:ext cx="175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root vertices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5991E7-EBD9-411B-061E-6EB77AADD304}"/>
              </a:ext>
            </a:extLst>
          </p:cNvPr>
          <p:cNvSpPr/>
          <p:nvPr/>
        </p:nvSpPr>
        <p:spPr>
          <a:xfrm>
            <a:off x="5231740" y="2753290"/>
            <a:ext cx="908197" cy="558836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2-hop neigh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12D79D-DB24-5704-F564-5A38DEC648E9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5682873" y="2537077"/>
            <a:ext cx="2966" cy="2162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C93F2F9-94CF-FE9B-9197-06D4D1F1CD30}"/>
              </a:ext>
            </a:extLst>
          </p:cNvPr>
          <p:cNvSpPr txBox="1"/>
          <p:nvPr/>
        </p:nvSpPr>
        <p:spPr>
          <a:xfrm>
            <a:off x="1214293" y="3528339"/>
            <a:ext cx="98512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root vertices with big tasks are separated at initialization step, using CPU threads (by OpenMP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graphicFrame>
        <p:nvGraphicFramePr>
          <p:cNvPr id="10" name="Content Placeholder 3">
            <a:extLst>
              <a:ext uri="{FF2B5EF4-FFF2-40B4-BE49-F238E27FC236}">
                <a16:creationId xmlns:a16="http://schemas.microsoft.com/office/drawing/2014/main" id="{BF605D24-416F-9502-BA14-C0F3CB133CFE}"/>
              </a:ext>
            </a:extLst>
          </p:cNvPr>
          <p:cNvGraphicFramePr>
            <a:graphicFrameLocks/>
          </p:cNvGraphicFramePr>
          <p:nvPr/>
        </p:nvGraphicFramePr>
        <p:xfrm>
          <a:off x="2686966" y="4796747"/>
          <a:ext cx="1908378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925629564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55C8D13-994B-590F-D315-8769F534E8DE}"/>
              </a:ext>
            </a:extLst>
          </p:cNvPr>
          <p:cNvSpPr txBox="1"/>
          <p:nvPr/>
        </p:nvSpPr>
        <p:spPr>
          <a:xfrm>
            <a:off x="2626729" y="4428363"/>
            <a:ext cx="2406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regular root vertices</a:t>
            </a:r>
            <a:endParaRPr lang="en-US" dirty="0"/>
          </a:p>
        </p:txBody>
      </p:sp>
      <p:graphicFrame>
        <p:nvGraphicFramePr>
          <p:cNvPr id="14" name="Content Placeholder 3">
            <a:extLst>
              <a:ext uri="{FF2B5EF4-FFF2-40B4-BE49-F238E27FC236}">
                <a16:creationId xmlns:a16="http://schemas.microsoft.com/office/drawing/2014/main" id="{C6FCD81F-D4A1-BEE8-5E13-FBED0B789AD8}"/>
              </a:ext>
            </a:extLst>
          </p:cNvPr>
          <p:cNvGraphicFramePr>
            <a:graphicFrameLocks/>
          </p:cNvGraphicFramePr>
          <p:nvPr/>
        </p:nvGraphicFramePr>
        <p:xfrm>
          <a:off x="7885816" y="4809544"/>
          <a:ext cx="1272252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4B4EE0A-6C55-BBED-95D8-E20AFE162E30}"/>
              </a:ext>
            </a:extLst>
          </p:cNvPr>
          <p:cNvSpPr txBox="1"/>
          <p:nvPr/>
        </p:nvSpPr>
        <p:spPr>
          <a:xfrm>
            <a:off x="7596657" y="4427415"/>
            <a:ext cx="2406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big</a:t>
            </a:r>
            <a:r>
              <a:rPr lang="en-US" err="1"/>
              <a:t>_</a:t>
            </a:r>
            <a:r>
              <a:rPr lang="en-US"/>
              <a:t>root vertices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B344CD-3D80-F184-01EF-D60C64B87CD9}"/>
              </a:ext>
            </a:extLst>
          </p:cNvPr>
          <p:cNvSpPr txBox="1"/>
          <p:nvPr/>
        </p:nvSpPr>
        <p:spPr>
          <a:xfrm>
            <a:off x="7227116" y="5365990"/>
            <a:ext cx="3034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master schedules big</a:t>
            </a:r>
            <a:r>
              <a:rPr lang="en-US" err="1"/>
              <a:t>_</a:t>
            </a:r>
            <a:r>
              <a:rPr lang="en-US"/>
              <a:t>root </a:t>
            </a:r>
            <a:endParaRPr lang="en-US" dirty="0"/>
          </a:p>
          <a:p>
            <a:r>
              <a:rPr lang="en-US"/>
              <a:t>vertices to CPU threads only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0717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8D451-66A4-3181-8DDD-496D006AA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CPU is much faster than GPU?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397CA-74DB-C096-A33A-4A6EA1EBA1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few vertices are very high degree in the graphs</a:t>
            </a:r>
            <a:endParaRPr lang="en-US" dirty="0"/>
          </a:p>
          <a:p>
            <a:r>
              <a:rPr lang="en-US"/>
              <a:t>Since a warp processes a vertex, a high degree vertex causes a warp to take a long time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4BE56B-7E87-DFA0-0FE1-28C1ECB32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090" y="3429000"/>
            <a:ext cx="3913909" cy="28601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33D4D8-8E2F-2C12-BC14-03C68E73F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636" y="3429000"/>
            <a:ext cx="3640100" cy="2660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2104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F3868-9696-2B98-D1A3-613A21D0A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hybrid-copy is faster than layered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11D006-07A2-FB25-AA6D-21914978D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35884"/>
          </a:xfrm>
        </p:spPr>
        <p:txBody>
          <a:bodyPr/>
          <a:lstStyle/>
          <a:p>
            <a:r>
              <a:rPr lang="en-US"/>
              <a:t>In the layered case, a fixed η may underutilize GPU cores, increasing runtime. (currently η</a:t>
            </a:r>
            <a:r>
              <a:rPr lang="en-US" dirty="0"/>
              <a:t>=2000)</a:t>
            </a:r>
          </a:p>
          <a:p>
            <a:r>
              <a:rPr lang="en-US"/>
              <a:t>Ping-pong execution processes the entire buffer, resulting in faster runtime</a:t>
            </a:r>
            <a:r>
              <a:rPr lang="en-US" dirty="0"/>
              <a:t>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E308B00-5A5B-3BAC-2EB1-D29D1B3561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5985711"/>
              </p:ext>
            </p:extLst>
          </p:nvPr>
        </p:nvGraphicFramePr>
        <p:xfrm>
          <a:off x="1402772" y="6188075"/>
          <a:ext cx="8077200" cy="30480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440064474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1993903042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045103679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963501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700" u="none" strike="noStrike" dirty="0">
                          <a:effectLst/>
                        </a:rPr>
                        <a:t>edit-</a:t>
                      </a:r>
                      <a:r>
                        <a:rPr lang="en-US" sz="1700" u="none" strike="noStrike" dirty="0" err="1">
                          <a:effectLst/>
                        </a:rPr>
                        <a:t>nlwiki</a:t>
                      </a:r>
                      <a:endParaRPr lang="en-US" sz="17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>
                          <a:effectLst/>
                        </a:rPr>
                        <a:t>20.5</a:t>
                      </a:r>
                      <a:endParaRPr lang="en-US" sz="1700" b="0" i="0" u="none" strike="noStrike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 dirty="0">
                          <a:effectLst/>
                        </a:rPr>
                        <a:t>18.4</a:t>
                      </a:r>
                      <a:endParaRPr lang="en-US" sz="17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 dirty="0">
                          <a:effectLst/>
                        </a:rPr>
                        <a:t>16.8</a:t>
                      </a:r>
                      <a:endParaRPr lang="en-US" sz="17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737372659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E30A8DC-34D0-5DF0-03C7-008572D49F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802704"/>
              </p:ext>
            </p:extLst>
          </p:nvPr>
        </p:nvGraphicFramePr>
        <p:xfrm>
          <a:off x="1402772" y="5845175"/>
          <a:ext cx="8077200" cy="342900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960849052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114501400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581511765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80859961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u="none" strike="noStrike">
                          <a:solidFill>
                            <a:srgbClr val="000000"/>
                          </a:solidFill>
                          <a:effectLst/>
                        </a:rPr>
                        <a:t>eta values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u="none" strike="noStrike">
                          <a:effectLst/>
                        </a:rPr>
                        <a:t>              1,000 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u="none" strike="noStrike">
                          <a:effectLst/>
                        </a:rPr>
                        <a:t>              2,000 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u="none" strike="noStrike">
                          <a:effectLst/>
                        </a:rPr>
                        <a:t>              5,000 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71299161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8C9E8D5-9850-50E3-F8B6-44CB0BEB3E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055540"/>
              </p:ext>
            </p:extLst>
          </p:nvPr>
        </p:nvGraphicFramePr>
        <p:xfrm>
          <a:off x="1194954" y="3761509"/>
          <a:ext cx="10235046" cy="9663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9205">
                  <a:extLst>
                    <a:ext uri="{9D8B030D-6E8A-4147-A177-3AD203B41FA5}">
                      <a16:colId xmlns:a16="http://schemas.microsoft.com/office/drawing/2014/main" val="2457110133"/>
                    </a:ext>
                  </a:extLst>
                </a:gridCol>
                <a:gridCol w="1312986">
                  <a:extLst>
                    <a:ext uri="{9D8B030D-6E8A-4147-A177-3AD203B41FA5}">
                      <a16:colId xmlns:a16="http://schemas.microsoft.com/office/drawing/2014/main" val="3853503667"/>
                    </a:ext>
                  </a:extLst>
                </a:gridCol>
                <a:gridCol w="1662235">
                  <a:extLst>
                    <a:ext uri="{9D8B030D-6E8A-4147-A177-3AD203B41FA5}">
                      <a16:colId xmlns:a16="http://schemas.microsoft.com/office/drawing/2014/main" val="1010362570"/>
                    </a:ext>
                  </a:extLst>
                </a:gridCol>
                <a:gridCol w="2795310">
                  <a:extLst>
                    <a:ext uri="{9D8B030D-6E8A-4147-A177-3AD203B41FA5}">
                      <a16:colId xmlns:a16="http://schemas.microsoft.com/office/drawing/2014/main" val="3721380"/>
                    </a:ext>
                  </a:extLst>
                </a:gridCol>
                <a:gridCol w="2795310">
                  <a:extLst>
                    <a:ext uri="{9D8B030D-6E8A-4147-A177-3AD203B41FA5}">
                      <a16:colId xmlns:a16="http://schemas.microsoft.com/office/drawing/2014/main" val="3894600151"/>
                    </a:ext>
                  </a:extLst>
                </a:gridCol>
              </a:tblGrid>
              <a:tr h="6390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u="none" strike="noStrike" dirty="0">
                          <a:effectLst/>
                        </a:rPr>
                        <a:t>dataset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u="none" strike="noStrike">
                          <a:effectLst/>
                        </a:rPr>
                        <a:t>G2AIMD (</a:t>
                      </a:r>
                      <a:r>
                        <a:rPr lang="en-US" sz="1800" b="1" u="none" strike="noStrike" dirty="0" err="1">
                          <a:effectLst/>
                        </a:rPr>
                        <a:t>pingpong</a:t>
                      </a:r>
                      <a:r>
                        <a:rPr lang="en-US" sz="1800" b="1" u="none" strike="noStrike" dirty="0">
                          <a:effectLst/>
                        </a:rPr>
                        <a:t>)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u="none" strike="noStrike">
                          <a:effectLst/>
                        </a:rPr>
                        <a:t>gpu-layered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u="none" strike="noStrike">
                          <a:effectLst/>
                        </a:rPr>
                        <a:t>gpu-hybrid-drop 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solidFill>
                            <a:schemeClr val="accent1"/>
                          </a:solidFill>
                          <a:effectLst/>
                        </a:rPr>
                        <a:t>gpu</a:t>
                      </a:r>
                      <a:r>
                        <a:rPr lang="en-US" sz="1600" b="1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-hybrid-copy</a:t>
                      </a:r>
                      <a:endParaRPr lang="en-US" sz="1600" b="1" i="0" u="none" strike="noStrike" dirty="0">
                        <a:solidFill>
                          <a:schemeClr val="accent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5187684"/>
                  </a:ext>
                </a:extLst>
              </a:tr>
              <a:tr h="3273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edit-nlwiki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11.3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20.0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12.4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11.0</a:t>
                      </a:r>
                      <a:endParaRPr lang="en-US" sz="1800" b="0" i="0" u="none" strike="noStrike" dirty="0">
                        <a:solidFill>
                          <a:schemeClr val="accent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3285426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3B95060-A99D-E2AE-DB18-3CC5868B03BB}"/>
              </a:ext>
            </a:extLst>
          </p:cNvPr>
          <p:cNvSpPr txBox="1"/>
          <p:nvPr/>
        </p:nvSpPr>
        <p:spPr>
          <a:xfrm>
            <a:off x="675409" y="5268191"/>
            <a:ext cx="3767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experiments with other values of eta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7949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6E464-F975-0C7D-197A-2970399E6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hybrid-drop is slower than layered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A6BDEF-0548-33E3-938B-027E7E255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It was caused by an incorrect gpuchunk setting: </a:t>
            </a:r>
            <a:endParaRPr lang="en-US" dirty="0"/>
          </a:p>
          <a:p>
            <a:pPr marL="457200" lvl="1" indent="0">
              <a:buNone/>
            </a:pPr>
            <a:r>
              <a:rPr lang="en-US"/>
              <a:t>Hybrid-Drop used 100K, while the others used 1M</a:t>
            </a:r>
            <a:r>
              <a:rPr lang="en-US" dirty="0"/>
              <a:t>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79D71B-105A-025B-1FD4-CB5747B99B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124874"/>
              </p:ext>
            </p:extLst>
          </p:nvPr>
        </p:nvGraphicFramePr>
        <p:xfrm>
          <a:off x="509155" y="3761509"/>
          <a:ext cx="10920846" cy="11362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2872">
                  <a:extLst>
                    <a:ext uri="{9D8B030D-6E8A-4147-A177-3AD203B41FA5}">
                      <a16:colId xmlns:a16="http://schemas.microsoft.com/office/drawing/2014/main" val="2457110133"/>
                    </a:ext>
                  </a:extLst>
                </a:gridCol>
                <a:gridCol w="1953491">
                  <a:extLst>
                    <a:ext uri="{9D8B030D-6E8A-4147-A177-3AD203B41FA5}">
                      <a16:colId xmlns:a16="http://schemas.microsoft.com/office/drawing/2014/main" val="3853503667"/>
                    </a:ext>
                  </a:extLst>
                </a:gridCol>
                <a:gridCol w="1527464">
                  <a:extLst>
                    <a:ext uri="{9D8B030D-6E8A-4147-A177-3AD203B41FA5}">
                      <a16:colId xmlns:a16="http://schemas.microsoft.com/office/drawing/2014/main" val="1010362570"/>
                    </a:ext>
                  </a:extLst>
                </a:gridCol>
                <a:gridCol w="2254409">
                  <a:extLst>
                    <a:ext uri="{9D8B030D-6E8A-4147-A177-3AD203B41FA5}">
                      <a16:colId xmlns:a16="http://schemas.microsoft.com/office/drawing/2014/main" val="3721380"/>
                    </a:ext>
                  </a:extLst>
                </a:gridCol>
                <a:gridCol w="2982610">
                  <a:extLst>
                    <a:ext uri="{9D8B030D-6E8A-4147-A177-3AD203B41FA5}">
                      <a16:colId xmlns:a16="http://schemas.microsoft.com/office/drawing/2014/main" val="3894600151"/>
                    </a:ext>
                  </a:extLst>
                </a:gridCol>
              </a:tblGrid>
              <a:tr h="63901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u="none" strike="noStrike" dirty="0">
                          <a:effectLst/>
                        </a:rPr>
                        <a:t>dataset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u="none" strike="noStrike">
                          <a:effectLst/>
                        </a:rPr>
                        <a:t>G2AIMD (</a:t>
                      </a:r>
                      <a:r>
                        <a:rPr lang="en-US" sz="1800" b="1" u="none" strike="noStrike" dirty="0" err="1">
                          <a:effectLst/>
                        </a:rPr>
                        <a:t>pingpong</a:t>
                      </a:r>
                      <a:r>
                        <a:rPr lang="en-US" sz="1800" b="1" u="none" strike="noStrike" dirty="0">
                          <a:effectLst/>
                        </a:rPr>
                        <a:t>)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u="none" strike="noStrike" dirty="0" err="1">
                          <a:effectLst/>
                        </a:rPr>
                        <a:t>gpu</a:t>
                      </a:r>
                      <a:r>
                        <a:rPr lang="en-US" sz="1800" b="1" u="none" strike="noStrike" dirty="0">
                          <a:effectLst/>
                        </a:rPr>
                        <a:t>-layered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u="none" strike="noStrike">
                          <a:solidFill>
                            <a:srgbClr val="C00000"/>
                          </a:solidFill>
                          <a:effectLst/>
                        </a:rPr>
                        <a:t>gpu-hybrid-drop </a:t>
                      </a:r>
                      <a:endParaRPr lang="en-US" sz="18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  <a:r>
                        <a:rPr lang="en-US" sz="16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-hybrid-copy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5187684"/>
                  </a:ext>
                </a:extLst>
              </a:tr>
              <a:tr h="3273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web-wikipedia_link_en13-all</a:t>
                      </a:r>
                      <a:endParaRPr lang="en-US" sz="16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150.7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225.3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700" b="0" u="none" strike="noStrike" dirty="0">
                          <a:solidFill>
                            <a:srgbClr val="C00000"/>
                          </a:solidFill>
                          <a:effectLst/>
                        </a:rPr>
                        <a:t>317.9</a:t>
                      </a:r>
                      <a:endParaRPr lang="en-US" sz="1700" b="0" i="0" u="none" strike="noStrike" dirty="0">
                        <a:solidFill>
                          <a:srgbClr val="C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147.3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32854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89230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612FE-A783-B001-47EB-C974AAAD0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hybrid is slower than layered? (</a:t>
            </a:r>
            <a:r>
              <a:rPr lang="en-US" dirty="0"/>
              <a:t>SM)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C9936E5-358D-5258-9BD9-A37F7DC979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8310211"/>
              </p:ext>
            </p:extLst>
          </p:nvPr>
        </p:nvGraphicFramePr>
        <p:xfrm>
          <a:off x="838200" y="1900876"/>
          <a:ext cx="10515600" cy="5264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916250">
                  <a:extLst>
                    <a:ext uri="{9D8B030D-6E8A-4147-A177-3AD203B41FA5}">
                      <a16:colId xmlns:a16="http://schemas.microsoft.com/office/drawing/2014/main" val="1046455315"/>
                    </a:ext>
                  </a:extLst>
                </a:gridCol>
                <a:gridCol w="838332">
                  <a:extLst>
                    <a:ext uri="{9D8B030D-6E8A-4147-A177-3AD203B41FA5}">
                      <a16:colId xmlns:a16="http://schemas.microsoft.com/office/drawing/2014/main" val="1687158871"/>
                    </a:ext>
                  </a:extLst>
                </a:gridCol>
                <a:gridCol w="2201408">
                  <a:extLst>
                    <a:ext uri="{9D8B030D-6E8A-4147-A177-3AD203B41FA5}">
                      <a16:colId xmlns:a16="http://schemas.microsoft.com/office/drawing/2014/main" val="263035580"/>
                    </a:ext>
                  </a:extLst>
                </a:gridCol>
                <a:gridCol w="1227592">
                  <a:extLst>
                    <a:ext uri="{9D8B030D-6E8A-4147-A177-3AD203B41FA5}">
                      <a16:colId xmlns:a16="http://schemas.microsoft.com/office/drawing/2014/main" val="4056306273"/>
                    </a:ext>
                  </a:extLst>
                </a:gridCol>
                <a:gridCol w="1812148">
                  <a:extLst>
                    <a:ext uri="{9D8B030D-6E8A-4147-A177-3AD203B41FA5}">
                      <a16:colId xmlns:a16="http://schemas.microsoft.com/office/drawing/2014/main" val="329124393"/>
                    </a:ext>
                  </a:extLst>
                </a:gridCol>
                <a:gridCol w="1519870">
                  <a:extLst>
                    <a:ext uri="{9D8B030D-6E8A-4147-A177-3AD203B41FA5}">
                      <a16:colId xmlns:a16="http://schemas.microsoft.com/office/drawing/2014/main" val="2603204388"/>
                    </a:ext>
                  </a:extLst>
                </a:gridCol>
              </a:tblGrid>
              <a:tr h="27547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dataset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query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G2AIMD (</a:t>
                      </a:r>
                      <a:r>
                        <a:rPr lang="en-US" sz="1600" u="none" strike="noStrike" dirty="0" err="1">
                          <a:effectLst/>
                        </a:rPr>
                        <a:t>pingpong</a:t>
                      </a:r>
                      <a:r>
                        <a:rPr lang="en-US" sz="1600" u="none" strike="noStrike" dirty="0">
                          <a:effectLst/>
                        </a:rPr>
                        <a:t>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effectLst/>
                        </a:rPr>
                        <a:t>-layered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solidFill>
                            <a:srgbClr val="C00000"/>
                          </a:solidFill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-hybrid-drop</a:t>
                      </a:r>
                      <a:endParaRPr lang="en-US" sz="16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solidFill>
                            <a:srgbClr val="C00000"/>
                          </a:solidFill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-hybrid-copy</a:t>
                      </a:r>
                      <a:endParaRPr lang="en-US" sz="16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extLst>
                  <a:ext uri="{0D108BD9-81ED-4DB2-BD59-A6C34878D82A}">
                    <a16:rowId xmlns:a16="http://schemas.microsoft.com/office/drawing/2014/main" val="1927394708"/>
                  </a:ext>
                </a:extLst>
              </a:tr>
              <a:tr h="24697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zhishi-baidu-internallink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42.4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42.5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558.7</a:t>
                      </a:r>
                      <a:endParaRPr lang="en-US" sz="1600" b="0" i="0" u="none" strike="noStrike" dirty="0">
                        <a:solidFill>
                          <a:srgbClr val="C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507.6</a:t>
                      </a:r>
                      <a:endParaRPr lang="en-US" sz="1600" b="0" i="0" u="none" strike="noStrike" dirty="0">
                        <a:solidFill>
                          <a:srgbClr val="C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extLst>
                  <a:ext uri="{0D108BD9-81ED-4DB2-BD59-A6C34878D82A}">
                    <a16:rowId xmlns:a16="http://schemas.microsoft.com/office/drawing/2014/main" val="23051007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7FCEF90-6001-61FD-248D-4F9005122A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4391383"/>
              </p:ext>
            </p:extLst>
          </p:nvPr>
        </p:nvGraphicFramePr>
        <p:xfrm>
          <a:off x="568038" y="3291201"/>
          <a:ext cx="5527965" cy="1752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42655">
                  <a:extLst>
                    <a:ext uri="{9D8B030D-6E8A-4147-A177-3AD203B41FA5}">
                      <a16:colId xmlns:a16="http://schemas.microsoft.com/office/drawing/2014/main" val="4023161429"/>
                    </a:ext>
                  </a:extLst>
                </a:gridCol>
                <a:gridCol w="1842655">
                  <a:extLst>
                    <a:ext uri="{9D8B030D-6E8A-4147-A177-3AD203B41FA5}">
                      <a16:colId xmlns:a16="http://schemas.microsoft.com/office/drawing/2014/main" val="1027886083"/>
                    </a:ext>
                  </a:extLst>
                </a:gridCol>
                <a:gridCol w="1842655">
                  <a:extLst>
                    <a:ext uri="{9D8B030D-6E8A-4147-A177-3AD203B41FA5}">
                      <a16:colId xmlns:a16="http://schemas.microsoft.com/office/drawing/2014/main" val="2854186224"/>
                    </a:ext>
                  </a:extLst>
                </a:gridCol>
              </a:tblGrid>
              <a:tr h="2921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effectLst/>
                        </a:rPr>
                        <a:t>-layered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</a:rPr>
                        <a:t>-hybrid-drop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solidFill>
                            <a:schemeClr val="tx1"/>
                          </a:solidFill>
                          <a:effectLst/>
                        </a:rPr>
                        <a:t>-hybrid-copy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extLst>
                  <a:ext uri="{0D108BD9-81ED-4DB2-BD59-A6C34878D82A}">
                    <a16:rowId xmlns:a16="http://schemas.microsoft.com/office/drawing/2014/main" val="964431789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331.9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281.0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183.09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579266394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234.4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175.6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479.54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10646299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149.7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429.7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180.02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83417123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42.4*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177.5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182.85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814087310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191.6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41.6*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476.47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46733515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C3F4191-D22A-D3C5-EF9F-30E752B27629}"/>
              </a:ext>
            </a:extLst>
          </p:cNvPr>
          <p:cNvSpPr txBox="1"/>
          <p:nvPr/>
        </p:nvSpPr>
        <p:spPr>
          <a:xfrm>
            <a:off x="2469574" y="2921869"/>
            <a:ext cx="1507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5 executions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53B5A9-DF3D-53CF-A3B9-B621C35D24CF}"/>
              </a:ext>
            </a:extLst>
          </p:cNvPr>
          <p:cNvSpPr txBox="1"/>
          <p:nvPr/>
        </p:nvSpPr>
        <p:spPr>
          <a:xfrm>
            <a:off x="1714500" y="5538355"/>
            <a:ext cx="28189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* Did not overflow to host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0B255E-E163-B8EB-5D6D-DD441EED9F78}"/>
              </a:ext>
            </a:extLst>
          </p:cNvPr>
          <p:cNvSpPr txBox="1"/>
          <p:nvPr/>
        </p:nvSpPr>
        <p:spPr>
          <a:xfrm>
            <a:off x="7031182" y="3705836"/>
            <a:ext cx="450272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gpu</a:t>
            </a:r>
            <a:r>
              <a:rPr lang="en-US" b="1" dirty="0"/>
              <a:t>-hybrid-copy summary:</a:t>
            </a:r>
            <a:endParaRPr lang="en-US" b="1" dirty="0">
              <a:latin typeface="Aptos Narrow" panose="020B0004020202020204" pitchFamily="34" charset="0"/>
            </a:endParaRPr>
          </a:p>
          <a:p>
            <a:endParaRPr lang="en-US" dirty="0"/>
          </a:p>
          <a:p>
            <a:r>
              <a:rPr lang="en-US" dirty="0"/>
              <a:t>Total time (s): 181.56</a:t>
            </a:r>
          </a:p>
          <a:p>
            <a:r>
              <a:rPr lang="en-US" dirty="0"/>
              <a:t>at switch </a:t>
            </a:r>
            <a:r>
              <a:rPr lang="en-US" dirty="0" err="1"/>
              <a:t>dump_to_host</a:t>
            </a:r>
            <a:r>
              <a:rPr lang="en-US" dirty="0"/>
              <a:t> time (s): 3.44</a:t>
            </a:r>
          </a:p>
          <a:p>
            <a:r>
              <a:rPr lang="en-US" dirty="0"/>
              <a:t>other </a:t>
            </a:r>
            <a:r>
              <a:rPr lang="en-US" dirty="0" err="1"/>
              <a:t>dump_to_host</a:t>
            </a:r>
            <a:r>
              <a:rPr lang="en-US" dirty="0"/>
              <a:t> time (s): 24.86</a:t>
            </a:r>
          </a:p>
          <a:p>
            <a:r>
              <a:rPr lang="en-US" dirty="0" err="1"/>
              <a:t>load_from_host</a:t>
            </a:r>
            <a:r>
              <a:rPr lang="en-US" dirty="0"/>
              <a:t> time (s): 31.78</a:t>
            </a:r>
          </a:p>
        </p:txBody>
      </p:sp>
    </p:spTree>
    <p:extLst>
      <p:ext uri="{BB962C8B-B14F-4D97-AF65-F5344CB8AC3E}">
        <p14:creationId xmlns:p14="http://schemas.microsoft.com/office/powerpoint/2010/main" val="698545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5BEF8-7CFE-8D4A-07BD-F542601BA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E7B21-17B3-0962-472F-BE6388D2E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hybrid is slower than layered? (</a:t>
            </a:r>
            <a:r>
              <a:rPr lang="en-US" dirty="0"/>
              <a:t>SM)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F9DD2AD-416D-F32C-3937-4B189D3C795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900876"/>
          <a:ext cx="10515600" cy="5264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916250">
                  <a:extLst>
                    <a:ext uri="{9D8B030D-6E8A-4147-A177-3AD203B41FA5}">
                      <a16:colId xmlns:a16="http://schemas.microsoft.com/office/drawing/2014/main" val="1046455315"/>
                    </a:ext>
                  </a:extLst>
                </a:gridCol>
                <a:gridCol w="838332">
                  <a:extLst>
                    <a:ext uri="{9D8B030D-6E8A-4147-A177-3AD203B41FA5}">
                      <a16:colId xmlns:a16="http://schemas.microsoft.com/office/drawing/2014/main" val="1687158871"/>
                    </a:ext>
                  </a:extLst>
                </a:gridCol>
                <a:gridCol w="2201408">
                  <a:extLst>
                    <a:ext uri="{9D8B030D-6E8A-4147-A177-3AD203B41FA5}">
                      <a16:colId xmlns:a16="http://schemas.microsoft.com/office/drawing/2014/main" val="263035580"/>
                    </a:ext>
                  </a:extLst>
                </a:gridCol>
                <a:gridCol w="1227592">
                  <a:extLst>
                    <a:ext uri="{9D8B030D-6E8A-4147-A177-3AD203B41FA5}">
                      <a16:colId xmlns:a16="http://schemas.microsoft.com/office/drawing/2014/main" val="4056306273"/>
                    </a:ext>
                  </a:extLst>
                </a:gridCol>
                <a:gridCol w="1812148">
                  <a:extLst>
                    <a:ext uri="{9D8B030D-6E8A-4147-A177-3AD203B41FA5}">
                      <a16:colId xmlns:a16="http://schemas.microsoft.com/office/drawing/2014/main" val="329124393"/>
                    </a:ext>
                  </a:extLst>
                </a:gridCol>
                <a:gridCol w="1519870">
                  <a:extLst>
                    <a:ext uri="{9D8B030D-6E8A-4147-A177-3AD203B41FA5}">
                      <a16:colId xmlns:a16="http://schemas.microsoft.com/office/drawing/2014/main" val="2603204388"/>
                    </a:ext>
                  </a:extLst>
                </a:gridCol>
              </a:tblGrid>
              <a:tr h="27547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dataset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query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G2AIMD (</a:t>
                      </a:r>
                      <a:r>
                        <a:rPr lang="en-US" sz="1600" u="none" strike="noStrike" dirty="0" err="1">
                          <a:effectLst/>
                        </a:rPr>
                        <a:t>pingpong</a:t>
                      </a:r>
                      <a:r>
                        <a:rPr lang="en-US" sz="1600" u="none" strike="noStrike" dirty="0">
                          <a:effectLst/>
                        </a:rPr>
                        <a:t>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effectLst/>
                        </a:rPr>
                        <a:t>-layered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solidFill>
                            <a:srgbClr val="C00000"/>
                          </a:solidFill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-hybrid-drop</a:t>
                      </a:r>
                      <a:endParaRPr lang="en-US" sz="16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solidFill>
                            <a:srgbClr val="C00000"/>
                          </a:solidFill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-hybrid-copy</a:t>
                      </a:r>
                      <a:endParaRPr lang="en-US" sz="16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extLst>
                  <a:ext uri="{0D108BD9-81ED-4DB2-BD59-A6C34878D82A}">
                    <a16:rowId xmlns:a16="http://schemas.microsoft.com/office/drawing/2014/main" val="1927394708"/>
                  </a:ext>
                </a:extLst>
              </a:tr>
              <a:tr h="24697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zhishi-baidu-internallink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42.4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42.5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558.7</a:t>
                      </a:r>
                      <a:endParaRPr lang="en-US" sz="1600" b="0" i="0" u="none" strike="noStrike" dirty="0">
                        <a:solidFill>
                          <a:srgbClr val="C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507.6</a:t>
                      </a:r>
                      <a:endParaRPr lang="en-US" sz="1600" b="0" i="0" u="none" strike="noStrike" dirty="0">
                        <a:solidFill>
                          <a:srgbClr val="C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extLst>
                  <a:ext uri="{0D108BD9-81ED-4DB2-BD59-A6C34878D82A}">
                    <a16:rowId xmlns:a16="http://schemas.microsoft.com/office/drawing/2014/main" val="2305100746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B963D685-554F-5083-27AA-BCFDFC43A3D4}"/>
              </a:ext>
            </a:extLst>
          </p:cNvPr>
          <p:cNvSpPr/>
          <p:nvPr/>
        </p:nvSpPr>
        <p:spPr>
          <a:xfrm>
            <a:off x="1239537" y="3546333"/>
            <a:ext cx="3688772" cy="369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724227-A814-D618-0507-C5D96FD2B3E3}"/>
              </a:ext>
            </a:extLst>
          </p:cNvPr>
          <p:cNvSpPr/>
          <p:nvPr/>
        </p:nvSpPr>
        <p:spPr>
          <a:xfrm>
            <a:off x="1769474" y="3637480"/>
            <a:ext cx="507660" cy="19268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58A93F-2524-B9DA-454F-89C0186D36C4}"/>
              </a:ext>
            </a:extLst>
          </p:cNvPr>
          <p:cNvSpPr/>
          <p:nvPr/>
        </p:nvSpPr>
        <p:spPr>
          <a:xfrm>
            <a:off x="3733357" y="3643128"/>
            <a:ext cx="474992" cy="18703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A0C88-9263-A67B-F9E0-5D8BE0D21B02}"/>
              </a:ext>
            </a:extLst>
          </p:cNvPr>
          <p:cNvSpPr txBox="1"/>
          <p:nvPr/>
        </p:nvSpPr>
        <p:spPr>
          <a:xfrm>
            <a:off x="250467" y="3166356"/>
            <a:ext cx="749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level </a:t>
            </a:r>
            <a:r>
              <a:rPr lang="en-US" dirty="0" err="1"/>
              <a:t>i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B8EB49-67E0-4193-A247-07DBFD2B6542}"/>
              </a:ext>
            </a:extLst>
          </p:cNvPr>
          <p:cNvSpPr/>
          <p:nvPr/>
        </p:nvSpPr>
        <p:spPr>
          <a:xfrm>
            <a:off x="1239537" y="4568799"/>
            <a:ext cx="3688772" cy="369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EEAC42-33B4-0AD8-26C2-89339F812096}"/>
              </a:ext>
            </a:extLst>
          </p:cNvPr>
          <p:cNvSpPr txBox="1"/>
          <p:nvPr/>
        </p:nvSpPr>
        <p:spPr>
          <a:xfrm>
            <a:off x="184658" y="4360808"/>
            <a:ext cx="996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level i+1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472F976-D9C5-900C-295F-A8A09B99C333}"/>
              </a:ext>
            </a:extLst>
          </p:cNvPr>
          <p:cNvCxnSpPr>
            <a:cxnSpLocks/>
          </p:cNvCxnSpPr>
          <p:nvPr/>
        </p:nvCxnSpPr>
        <p:spPr>
          <a:xfrm>
            <a:off x="3087633" y="3416901"/>
            <a:ext cx="0" cy="6810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BC24FDA-23F5-3179-C619-D559EFD84644}"/>
              </a:ext>
            </a:extLst>
          </p:cNvPr>
          <p:cNvSpPr txBox="1"/>
          <p:nvPr/>
        </p:nvSpPr>
        <p:spPr>
          <a:xfrm>
            <a:off x="2831738" y="3099816"/>
            <a:ext cx="504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eta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4AF1626-445B-6904-AD56-56F4982218C4}"/>
              </a:ext>
            </a:extLst>
          </p:cNvPr>
          <p:cNvSpPr/>
          <p:nvPr/>
        </p:nvSpPr>
        <p:spPr>
          <a:xfrm>
            <a:off x="7665028" y="3462544"/>
            <a:ext cx="3688772" cy="369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37DC134-4846-C19E-3F45-17B96B58AC46}"/>
              </a:ext>
            </a:extLst>
          </p:cNvPr>
          <p:cNvSpPr/>
          <p:nvPr/>
        </p:nvSpPr>
        <p:spPr>
          <a:xfrm>
            <a:off x="8194965" y="3553691"/>
            <a:ext cx="507660" cy="19268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0F8857A-CFB8-CC19-B6CC-19043ED96654}"/>
              </a:ext>
            </a:extLst>
          </p:cNvPr>
          <p:cNvSpPr/>
          <p:nvPr/>
        </p:nvSpPr>
        <p:spPr>
          <a:xfrm>
            <a:off x="8805823" y="3554744"/>
            <a:ext cx="474992" cy="18703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EED57B5-E32C-36EA-6A99-301B401718C3}"/>
              </a:ext>
            </a:extLst>
          </p:cNvPr>
          <p:cNvSpPr txBox="1"/>
          <p:nvPr/>
        </p:nvSpPr>
        <p:spPr>
          <a:xfrm>
            <a:off x="6675958" y="3082567"/>
            <a:ext cx="749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level </a:t>
            </a:r>
            <a:r>
              <a:rPr lang="en-US" dirty="0" err="1"/>
              <a:t>i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13A147D-63D4-4B9F-812B-4ED61C736254}"/>
              </a:ext>
            </a:extLst>
          </p:cNvPr>
          <p:cNvSpPr/>
          <p:nvPr/>
        </p:nvSpPr>
        <p:spPr>
          <a:xfrm>
            <a:off x="7665028" y="4485010"/>
            <a:ext cx="3688772" cy="369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00C058B-0396-82B4-4508-45A4039593FA}"/>
              </a:ext>
            </a:extLst>
          </p:cNvPr>
          <p:cNvSpPr txBox="1"/>
          <p:nvPr/>
        </p:nvSpPr>
        <p:spPr>
          <a:xfrm>
            <a:off x="6610149" y="4277019"/>
            <a:ext cx="996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level i+1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066618D-9A64-FF92-3E61-78A9CF30E0F3}"/>
              </a:ext>
            </a:extLst>
          </p:cNvPr>
          <p:cNvCxnSpPr>
            <a:cxnSpLocks/>
          </p:cNvCxnSpPr>
          <p:nvPr/>
        </p:nvCxnSpPr>
        <p:spPr>
          <a:xfrm>
            <a:off x="9513124" y="3333112"/>
            <a:ext cx="0" cy="6810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E3FAC43-2749-D1F9-82CD-BD337CEB35F6}"/>
              </a:ext>
            </a:extLst>
          </p:cNvPr>
          <p:cNvSpPr txBox="1"/>
          <p:nvPr/>
        </p:nvSpPr>
        <p:spPr>
          <a:xfrm>
            <a:off x="9257229" y="3016027"/>
            <a:ext cx="504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eta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39E560-8E6D-891F-8F31-D4488203EAEF}"/>
              </a:ext>
            </a:extLst>
          </p:cNvPr>
          <p:cNvSpPr txBox="1"/>
          <p:nvPr/>
        </p:nvSpPr>
        <p:spPr>
          <a:xfrm>
            <a:off x="1569244" y="2778175"/>
            <a:ext cx="3029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Execution with No overflow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9A843C-FF3D-7129-9537-A3EA729D7B6F}"/>
              </a:ext>
            </a:extLst>
          </p:cNvPr>
          <p:cNvSpPr txBox="1"/>
          <p:nvPr/>
        </p:nvSpPr>
        <p:spPr>
          <a:xfrm>
            <a:off x="8082331" y="2711119"/>
            <a:ext cx="2683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Execution with overflow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83F1A2F-950C-27AB-6732-D2761185EDD8}"/>
              </a:ext>
            </a:extLst>
          </p:cNvPr>
          <p:cNvSpPr/>
          <p:nvPr/>
        </p:nvSpPr>
        <p:spPr>
          <a:xfrm>
            <a:off x="7665028" y="5049369"/>
            <a:ext cx="3688772" cy="369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58C73A-4B0B-288F-6624-A646A7838B10}"/>
              </a:ext>
            </a:extLst>
          </p:cNvPr>
          <p:cNvSpPr/>
          <p:nvPr/>
        </p:nvSpPr>
        <p:spPr>
          <a:xfrm>
            <a:off x="1496387" y="4661657"/>
            <a:ext cx="2909358" cy="1926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AA04472-4CC8-E841-AD7D-816B1B93BD90}"/>
              </a:ext>
            </a:extLst>
          </p:cNvPr>
          <p:cNvSpPr/>
          <p:nvPr/>
        </p:nvSpPr>
        <p:spPr>
          <a:xfrm>
            <a:off x="7752159" y="4565315"/>
            <a:ext cx="3501196" cy="16482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B9A3039-3A9C-96C9-AFEC-D9ECB1A2BDCB}"/>
              </a:ext>
            </a:extLst>
          </p:cNvPr>
          <p:cNvSpPr/>
          <p:nvPr/>
        </p:nvSpPr>
        <p:spPr>
          <a:xfrm>
            <a:off x="7758815" y="5151621"/>
            <a:ext cx="1754309" cy="173589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DC9A123-D36C-0B80-DD88-A14FD1931A61}"/>
              </a:ext>
            </a:extLst>
          </p:cNvPr>
          <p:cNvSpPr txBox="1"/>
          <p:nvPr/>
        </p:nvSpPr>
        <p:spPr>
          <a:xfrm>
            <a:off x="6381620" y="4867103"/>
            <a:ext cx="13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host buffer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73FAE0D-C7DD-8686-AF24-52938EEE735D}"/>
              </a:ext>
            </a:extLst>
          </p:cNvPr>
          <p:cNvSpPr txBox="1"/>
          <p:nvPr/>
        </p:nvSpPr>
        <p:spPr>
          <a:xfrm>
            <a:off x="6381620" y="5379110"/>
            <a:ext cx="5964382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 spilled 482,573,443 tasks to host during expansion, spending 90.28 s in the expand kernel.</a:t>
            </a:r>
          </a:p>
          <a:p>
            <a:r>
              <a:rPr lang="en-US" sz="1400" dirty="0"/>
              <a:t>Total time (s): 181.56</a:t>
            </a:r>
          </a:p>
          <a:p>
            <a:r>
              <a:rPr lang="en-US" sz="1400" dirty="0"/>
              <a:t>at switch </a:t>
            </a:r>
            <a:r>
              <a:rPr lang="en-US" sz="1400" dirty="0" err="1"/>
              <a:t>dump_to_host</a:t>
            </a:r>
            <a:r>
              <a:rPr lang="en-US" sz="1400" dirty="0"/>
              <a:t> time (s): 3.44</a:t>
            </a:r>
          </a:p>
          <a:p>
            <a:r>
              <a:rPr lang="en-US" sz="1400" dirty="0"/>
              <a:t>other </a:t>
            </a:r>
            <a:r>
              <a:rPr lang="en-US" sz="1400" dirty="0" err="1"/>
              <a:t>dump_to_host</a:t>
            </a:r>
            <a:r>
              <a:rPr lang="en-US" sz="1400" dirty="0"/>
              <a:t> time (s): 24.86</a:t>
            </a:r>
          </a:p>
          <a:p>
            <a:r>
              <a:rPr lang="en-US" sz="1400" dirty="0" err="1"/>
              <a:t>load_from_host</a:t>
            </a:r>
            <a:r>
              <a:rPr lang="en-US" sz="1400" dirty="0"/>
              <a:t> time (s): 31.78</a:t>
            </a:r>
          </a:p>
        </p:txBody>
      </p:sp>
    </p:spTree>
    <p:extLst>
      <p:ext uri="{BB962C8B-B14F-4D97-AF65-F5344CB8AC3E}">
        <p14:creationId xmlns:p14="http://schemas.microsoft.com/office/powerpoint/2010/main" val="3476703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C761D-9E6B-F920-E605-52E6A438E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EB93B-7AA2-1523-AA7F-EC52B02E04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if layered approach is better than g2aimd in MC and SM. as it is not good on MQC.</a:t>
            </a:r>
          </a:p>
        </p:txBody>
      </p:sp>
    </p:spTree>
    <p:extLst>
      <p:ext uri="{BB962C8B-B14F-4D97-AF65-F5344CB8AC3E}">
        <p14:creationId xmlns:p14="http://schemas.microsoft.com/office/powerpoint/2010/main" val="1294580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9D014-764C-D5CC-4B57-F0464240D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Application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13AAF-6B1E-ED25-25F1-0EDB7894A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G2-AIMD vs GPU-Layered: sometimes G2-AIMD is almost 5x faster, other cases GPU-Layered can be close to 2x faster</a:t>
            </a:r>
          </a:p>
          <a:p>
            <a:r>
              <a:rPr lang="en-US" dirty="0"/>
              <a:t>Why G2-AIMD can be faster? Because we tuned \eta for the MC application (see sheet “MC-para”) with 1000, 2000, 5000, and find 2000 to work well in general. However, for some data \eta is too small to fully utilize GPU cores, such as edit-</a:t>
            </a:r>
            <a:r>
              <a:rPr lang="en-US" dirty="0" err="1"/>
              <a:t>nlwiki</a:t>
            </a:r>
            <a:r>
              <a:rPr lang="en-US" dirty="0"/>
              <a:t>. The time improves to 16.8 sec with \eta=5000, but still slower than 11 sec for G2-AIMD.</a:t>
            </a:r>
          </a:p>
          <a:p>
            <a:r>
              <a:rPr lang="en-US" dirty="0"/>
              <a:t>That motivates us to try combine G2-AIMD and GPU-Layered.</a:t>
            </a:r>
          </a:p>
        </p:txBody>
      </p:sp>
    </p:spTree>
    <p:extLst>
      <p:ext uri="{BB962C8B-B14F-4D97-AF65-F5344CB8AC3E}">
        <p14:creationId xmlns:p14="http://schemas.microsoft.com/office/powerpoint/2010/main" val="31614154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DD97-BFEC-35E9-13EB-703DC4AD3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AAB47-DE5B-AD1F-AAD4-38EF569B6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Application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F61BA-7ED5-42B4-7C97-EC478F1D9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combine G2-AIMD and GPU-Layered to produce GPU-Hybrid. GPU-Hybrid switches from G2-AIMD to GPU-Layered upon the first time a chunk overflows GPU </a:t>
            </a:r>
            <a:r>
              <a:rPr lang="en-US" dirty="0" err="1"/>
              <a:t>pingpong</a:t>
            </a:r>
            <a:r>
              <a:rPr lang="en-US" dirty="0"/>
              <a:t> memory buffer. </a:t>
            </a:r>
          </a:p>
          <a:p>
            <a:r>
              <a:rPr lang="en-US" dirty="0"/>
              <a:t>The switch is achieved by saving all ping-buffer remaining (unexpanded) subgraphs + all pong-buffer subgraphs to host buffer, which are then read back to GPU buffer array for layered extension.</a:t>
            </a:r>
          </a:p>
        </p:txBody>
      </p:sp>
    </p:spTree>
    <p:extLst>
      <p:ext uri="{BB962C8B-B14F-4D97-AF65-F5344CB8AC3E}">
        <p14:creationId xmlns:p14="http://schemas.microsoft.com/office/powerpoint/2010/main" val="33923781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AD936-1399-EE37-291B-F67F6F53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57192-4680-17A3-7ACB-2A18544BDE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G2-AIMD can fail (OOM in 2 cases), and always slower than GPU-Layered, up to 1.98x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8425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6E973-A004-1ADE-14F2-6CA6ED23E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 Buffer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281DFC-C1BD-CDA5-1357-6531DDCAE1FC}"/>
              </a:ext>
            </a:extLst>
          </p:cNvPr>
          <p:cNvSpPr/>
          <p:nvPr/>
        </p:nvSpPr>
        <p:spPr>
          <a:xfrm>
            <a:off x="1618593" y="1855069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Bwr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52861B-6AEB-4D99-1565-3BAB19A9A7EB}"/>
              </a:ext>
            </a:extLst>
          </p:cNvPr>
          <p:cNvSpPr/>
          <p:nvPr/>
        </p:nvSpPr>
        <p:spPr>
          <a:xfrm>
            <a:off x="6905295" y="1855069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4C53FC0-B59F-7874-3116-BBD204AC84FC}"/>
              </a:ext>
            </a:extLst>
          </p:cNvPr>
          <p:cNvCxnSpPr/>
          <p:nvPr/>
        </p:nvCxnSpPr>
        <p:spPr>
          <a:xfrm flipV="1">
            <a:off x="4981903" y="2220303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3E271A6-5D77-3579-CA03-3906DBFDB080}"/>
              </a:ext>
            </a:extLst>
          </p:cNvPr>
          <p:cNvSpPr txBox="1"/>
          <p:nvPr/>
        </p:nvSpPr>
        <p:spPr>
          <a:xfrm>
            <a:off x="2575040" y="2816766"/>
            <a:ext cx="54653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90% filled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press brake pedal</a:t>
            </a:r>
          </a:p>
          <a:p>
            <a:r>
              <a:rPr lang="en-US" dirty="0"/>
              <a:t>new tasks are not expanded after this point. However,  tasks on the fly are fully expanded, and may exceed </a:t>
            </a:r>
            <a:r>
              <a:rPr lang="en-US" dirty="0" err="1"/>
              <a:t>Bwr</a:t>
            </a:r>
            <a:r>
              <a:rPr lang="en-US" dirty="0"/>
              <a:t> capacity.  Such tasks are spilled to H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3BDBA0-E359-5938-0FB3-E30F9AA2466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5528441" y="2039000"/>
            <a:ext cx="1376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3BF1332-30DB-73E3-0140-6FAFD1EAB2AD}"/>
              </a:ext>
            </a:extLst>
          </p:cNvPr>
          <p:cNvSpPr txBox="1"/>
          <p:nvPr/>
        </p:nvSpPr>
        <p:spPr>
          <a:xfrm>
            <a:off x="5754415" y="1690688"/>
            <a:ext cx="1057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spill to 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2127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15F67-CC66-76E8-1A76-6F2AF3484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Reservation – System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4BF8F-E991-6701-FF2B-CB1E55E6C7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5906"/>
          </a:xfrm>
        </p:spPr>
        <p:txBody>
          <a:bodyPr>
            <a:normAutofit fontScale="92500" lnSpcReduction="20000"/>
          </a:bodyPr>
          <a:lstStyle/>
          <a:p>
            <a:r>
              <a:rPr lang="en-US" dirty="0" err="1"/>
              <a:t>BufferReservation</a:t>
            </a:r>
            <a:r>
              <a:rPr lang="en-US" dirty="0"/>
              <a:t> is a small value returned by append</a:t>
            </a:r>
          </a:p>
          <a:p>
            <a:r>
              <a:rPr lang="en-US" dirty="0"/>
              <a:t>The system tries the device buffer first. If failed, it appends on host buffer. </a:t>
            </a:r>
          </a:p>
          <a:p>
            <a:r>
              <a:rPr lang="en-US" dirty="0"/>
              <a:t>In hybrid-drop mode, it does not append on host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B8D59D-4C1E-F677-6507-4B0E32C9983D}"/>
              </a:ext>
            </a:extLst>
          </p:cNvPr>
          <p:cNvSpPr txBox="1"/>
          <p:nvPr/>
        </p:nvSpPr>
        <p:spPr>
          <a:xfrm>
            <a:off x="7409793" y="157719"/>
            <a:ext cx="6096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struct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BufferReservation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rtl="0"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ull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vt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rtl="0"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   bool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to_host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rtl="0"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   __device__ __host__ bool valid()const{</a:t>
            </a:r>
          </a:p>
          <a:p>
            <a:pPr rtl="0"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       return </a:t>
            </a:r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vt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!=INVALID_BUFFER_POS;</a:t>
            </a:r>
          </a:p>
          <a:p>
            <a:pPr rtl="0"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rtl="0">
              <a:buNone/>
            </a:pP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D44317-D602-0122-DF85-450740EEFDCC}"/>
              </a:ext>
            </a:extLst>
          </p:cNvPr>
          <p:cNvSpPr txBox="1"/>
          <p:nvPr/>
        </p:nvSpPr>
        <p:spPr>
          <a:xfrm>
            <a:off x="3185948" y="4385441"/>
            <a:ext cx="582010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BufferReservation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result=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Bwr.append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sglen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if(!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result.valid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and !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hybrid_drop_mode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result=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H.append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sglen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result.to_host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=true;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return result;</a:t>
            </a:r>
          </a:p>
        </p:txBody>
      </p:sp>
    </p:spTree>
    <p:extLst>
      <p:ext uri="{BB962C8B-B14F-4D97-AF65-F5344CB8AC3E}">
        <p14:creationId xmlns:p14="http://schemas.microsoft.com/office/powerpoint/2010/main" val="193670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ABA0D-0AC8-1FE1-BFFE-7F7AAC630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Reservation – App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C61F98-D28B-FA5D-E29D-D3FF738D4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application calls append, and checks if the reservation is valid. </a:t>
            </a:r>
          </a:p>
          <a:p>
            <a:r>
              <a:rPr lang="en-US" dirty="0"/>
              <a:t>Switches to device or host buffer based on </a:t>
            </a:r>
            <a:r>
              <a:rPr lang="en-US" dirty="0" err="1"/>
              <a:t>to_host</a:t>
            </a:r>
            <a:r>
              <a:rPr lang="en-US" dirty="0"/>
              <a:t> flag.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317F2A-D790-DE9C-2764-64F64CB86CC0}"/>
              </a:ext>
            </a:extLst>
          </p:cNvPr>
          <p:cNvSpPr txBox="1"/>
          <p:nvPr/>
        </p:nvSpPr>
        <p:spPr>
          <a:xfrm>
            <a:off x="3048000" y="4080328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auto reservation = append(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task_size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if(!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reservation.valid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()) return;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auto&amp; buffer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reservation.to_host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?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H:Bwr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ull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start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reservation.vt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8739452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D8988-8E15-7B7A-BAF1-331B63E6D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Scratch Buffers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351F9D-CC97-4118-4C60-B611E7CC1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59696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QC uses scratch storage as a </a:t>
            </a:r>
            <a:r>
              <a:rPr lang="en-US" b="1" dirty="0"/>
              <a:t>per-warp</a:t>
            </a:r>
            <a:r>
              <a:rPr lang="en-US" dirty="0"/>
              <a:t> working copy of the current task.</a:t>
            </a:r>
          </a:p>
          <a:p>
            <a:r>
              <a:rPr lang="en-US" dirty="0"/>
              <a:t>Pruning, sorting, candidate removal, degree updates, and child generation operate on this temporary copy before writing the resulting task to </a:t>
            </a:r>
            <a:r>
              <a:rPr lang="en-US" dirty="0" err="1"/>
              <a:t>Bwr</a:t>
            </a:r>
            <a:r>
              <a:rPr lang="en-US" dirty="0"/>
              <a:t>.</a:t>
            </a:r>
          </a:p>
          <a:p>
            <a:r>
              <a:rPr lang="en-US" dirty="0"/>
              <a:t>Smaller (&lt;70 candidates) tasks use shared-memory buffer</a:t>
            </a:r>
          </a:p>
          <a:p>
            <a:r>
              <a:rPr lang="en-US" dirty="0"/>
              <a:t>Medium (71-32000 candidates) tasks use global memory</a:t>
            </a:r>
          </a:p>
          <a:p>
            <a:r>
              <a:rPr lang="en-US" dirty="0"/>
              <a:t>Big tasks were dropped in original implementation of BigData’25 paper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470301-7272-B311-DD7F-69756A08A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7896" y="842963"/>
            <a:ext cx="418971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0140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FC657-1725-2BA2-8F36-71CCCAF5D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Big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ABE05-11A9-4071-8AEE-405ABDB6D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66490" cy="4351338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US" dirty="0"/>
              <a:t>Large root tasks are placed in a dedicated </a:t>
            </a:r>
            <a:r>
              <a:rPr lang="en-US" dirty="0" err="1"/>
              <a:t>big_root</a:t>
            </a:r>
            <a:r>
              <a:rPr lang="en-US" dirty="0"/>
              <a:t> queue.</a:t>
            </a:r>
          </a:p>
          <a:p>
            <a:pPr lvl="0"/>
            <a:r>
              <a:rPr lang="en-US" dirty="0"/>
              <a:t>CPU workers prioritize </a:t>
            </a:r>
            <a:r>
              <a:rPr lang="en-US" dirty="0" err="1"/>
              <a:t>big_root</a:t>
            </a:r>
            <a:r>
              <a:rPr lang="en-US" dirty="0"/>
              <a:t> before processing the regular queue.</a:t>
            </a:r>
          </a:p>
          <a:p>
            <a:pPr lvl="0"/>
            <a:r>
              <a:rPr lang="en-US" dirty="0"/>
              <a:t>As recursion progresses, candidate sets become smaller.</a:t>
            </a:r>
          </a:p>
          <a:p>
            <a:pPr lvl="0"/>
            <a:r>
              <a:rPr lang="en-US" dirty="0"/>
              <a:t>When a task times out, it is decomposed into smaller subtasks:</a:t>
            </a:r>
          </a:p>
          <a:p>
            <a:pPr lvl="1"/>
            <a:r>
              <a:rPr lang="en-US" dirty="0"/>
              <a:t>Still large → place in </a:t>
            </a:r>
            <a:r>
              <a:rPr lang="en-US" dirty="0" err="1"/>
              <a:t>big_S</a:t>
            </a:r>
            <a:r>
              <a:rPr lang="en-US" dirty="0"/>
              <a:t> for CPU-only processing.</a:t>
            </a:r>
          </a:p>
          <a:p>
            <a:pPr lvl="1"/>
            <a:r>
              <a:rPr lang="en-US" dirty="0"/>
              <a:t>Small enough → place in the regular queue S.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D7F9CEC-4146-E2F2-BFC3-939D824E9163}"/>
              </a:ext>
            </a:extLst>
          </p:cNvPr>
          <p:cNvGrpSpPr/>
          <p:nvPr/>
        </p:nvGrpSpPr>
        <p:grpSpPr>
          <a:xfrm>
            <a:off x="7304690" y="1489294"/>
            <a:ext cx="4645133" cy="2683314"/>
            <a:chOff x="2349500" y="1321356"/>
            <a:chExt cx="7950200" cy="4940462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11846B11-537C-3C87-05B4-C65D9378A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9091"/>
            <a:stretch>
              <a:fillRect/>
            </a:stretch>
          </p:blipFill>
          <p:spPr>
            <a:xfrm>
              <a:off x="2349500" y="1955631"/>
              <a:ext cx="7950200" cy="2603669"/>
            </a:xfrm>
            <a:prstGeom prst="rect">
              <a:avLst/>
            </a:prstGeom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56D8731E-9725-854D-9936-1C48BA5D13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3140"/>
            <a:stretch>
              <a:fillRect/>
            </a:stretch>
          </p:blipFill>
          <p:spPr>
            <a:xfrm>
              <a:off x="7412901" y="5259645"/>
              <a:ext cx="390360" cy="730728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F04D6B4-BA2D-B76A-BE06-064C671AB290}"/>
                </a:ext>
              </a:extLst>
            </p:cNvPr>
            <p:cNvSpPr txBox="1"/>
            <p:nvPr/>
          </p:nvSpPr>
          <p:spPr>
            <a:xfrm>
              <a:off x="7412900" y="5259645"/>
              <a:ext cx="626005" cy="4181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b="1" i="1" dirty="0"/>
                <a:t>big</a:t>
              </a:r>
            </a:p>
          </p:txBody>
        </p:sp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F4A40412-4767-D6F6-A550-5137D724B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21350" y="1663531"/>
              <a:ext cx="2527300" cy="292100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37B7C6C-0590-B4B8-894E-E0BE79F0F53E}"/>
                </a:ext>
              </a:extLst>
            </p:cNvPr>
            <p:cNvSpPr txBox="1"/>
            <p:nvPr/>
          </p:nvSpPr>
          <p:spPr>
            <a:xfrm>
              <a:off x="5721350" y="1321356"/>
              <a:ext cx="1188618" cy="4561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CPU </a:t>
              </a:r>
              <a:r>
                <a:rPr lang="en-US" sz="1200">
                  <a:sym typeface="Wingdings" pitchFamily="2" charset="2"/>
                </a:rPr>
                <a:t> </a:t>
              </a:r>
              <a:endParaRPr lang="en-US" sz="1200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A453859-63E7-6986-84D8-978CF2DC9182}"/>
                </a:ext>
              </a:extLst>
            </p:cNvPr>
            <p:cNvSpPr txBox="1"/>
            <p:nvPr/>
          </p:nvSpPr>
          <p:spPr>
            <a:xfrm>
              <a:off x="4622800" y="1586299"/>
              <a:ext cx="1231443" cy="4561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 err="1"/>
                <a:t>big_root</a:t>
              </a:r>
              <a:endParaRPr lang="en-US" sz="1200" dirty="0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B6436557-BE9E-3C69-2DBA-AB5EA8E5326F}"/>
                </a:ext>
              </a:extLst>
            </p:cNvPr>
            <p:cNvCxnSpPr>
              <a:cxnSpLocks/>
              <a:stCxn id="33" idx="2"/>
            </p:cNvCxnSpPr>
            <p:nvPr/>
          </p:nvCxnSpPr>
          <p:spPr>
            <a:xfrm>
              <a:off x="6985000" y="1955631"/>
              <a:ext cx="1263650" cy="11685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456BA7B-ACA6-9E4F-095E-94DF3C44AD5A}"/>
                </a:ext>
              </a:extLst>
            </p:cNvPr>
            <p:cNvCxnSpPr>
              <a:cxnSpLocks/>
            </p:cNvCxnSpPr>
            <p:nvPr/>
          </p:nvCxnSpPr>
          <p:spPr>
            <a:xfrm>
              <a:off x="7539468" y="3572171"/>
              <a:ext cx="27025" cy="1687473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F9E6907-8053-9652-6D7E-43AD83A27080}"/>
                </a:ext>
              </a:extLst>
            </p:cNvPr>
            <p:cNvSpPr txBox="1"/>
            <p:nvPr/>
          </p:nvSpPr>
          <p:spPr>
            <a:xfrm>
              <a:off x="6592907" y="4618896"/>
              <a:ext cx="1187635" cy="7601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still a </a:t>
              </a:r>
              <a:endParaRPr lang="en-US" sz="1200" dirty="0"/>
            </a:p>
            <a:p>
              <a:r>
                <a:rPr lang="en-US" sz="1200"/>
                <a:t>big task</a:t>
              </a:r>
              <a:endParaRPr lang="en-US" sz="1200" dirty="0"/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02AEF44A-A7E4-40A6-C221-BD5924DE74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8414" b="18252"/>
            <a:stretch>
              <a:fillRect/>
            </a:stretch>
          </p:blipFill>
          <p:spPr>
            <a:xfrm>
              <a:off x="8038907" y="5756778"/>
              <a:ext cx="736405" cy="467190"/>
            </a:xfrm>
            <a:prstGeom prst="rect">
              <a:avLst/>
            </a:prstGeom>
          </p:spPr>
        </p:pic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880A00D-3469-96F1-5E09-C854C31F5085}"/>
                </a:ext>
              </a:extLst>
            </p:cNvPr>
            <p:cNvCxnSpPr>
              <a:cxnSpLocks/>
              <a:endCxn id="39" idx="1"/>
            </p:cNvCxnSpPr>
            <p:nvPr/>
          </p:nvCxnSpPr>
          <p:spPr>
            <a:xfrm>
              <a:off x="7632312" y="5990373"/>
              <a:ext cx="406595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9E11BB8-963D-6772-30CC-9878F6E79852}"/>
                </a:ext>
              </a:extLst>
            </p:cNvPr>
            <p:cNvSpPr txBox="1"/>
            <p:nvPr/>
          </p:nvSpPr>
          <p:spPr>
            <a:xfrm>
              <a:off x="8700988" y="5805705"/>
              <a:ext cx="918230" cy="4561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i="1" dirty="0" err="1"/>
                <a:t>big_S</a:t>
              </a:r>
              <a:endParaRPr lang="en-US" sz="1200" i="1" dirty="0"/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81B5AA44-4AE6-3499-7DD1-5DE77E072723}"/>
                </a:ext>
              </a:extLst>
            </p:cNvPr>
            <p:cNvCxnSpPr>
              <a:cxnSpLocks/>
              <a:stCxn id="39" idx="1"/>
            </p:cNvCxnSpPr>
            <p:nvPr/>
          </p:nvCxnSpPr>
          <p:spPr>
            <a:xfrm flipV="1">
              <a:off x="8038907" y="3552586"/>
              <a:ext cx="474147" cy="2437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73597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91E18-9DFD-BE05-AAD5-88906D182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Update CPU Worker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4F3316-7270-F1BB-A82C-E34019F8BA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091"/>
          <a:stretch>
            <a:fillRect/>
          </a:stretch>
        </p:blipFill>
        <p:spPr>
          <a:xfrm>
            <a:off x="2349500" y="1955631"/>
            <a:ext cx="7950200" cy="26036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887BFF7-624C-257F-6649-8B778DD7D0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140"/>
          <a:stretch>
            <a:fillRect/>
          </a:stretch>
        </p:blipFill>
        <p:spPr>
          <a:xfrm>
            <a:off x="7412901" y="5259645"/>
            <a:ext cx="390360" cy="7307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D916048-DF75-1452-4265-9D9A582345D9}"/>
              </a:ext>
            </a:extLst>
          </p:cNvPr>
          <p:cNvSpPr txBox="1"/>
          <p:nvPr/>
        </p:nvSpPr>
        <p:spPr>
          <a:xfrm>
            <a:off x="7412901" y="5259645"/>
            <a:ext cx="626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i="1" dirty="0"/>
              <a:t>big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90DF368-E8DA-C66C-E90C-77DD0DB2C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350" y="1663531"/>
            <a:ext cx="2527300" cy="2921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32A7DEC-0ED2-99D7-C858-3C74D3068193}"/>
              </a:ext>
            </a:extLst>
          </p:cNvPr>
          <p:cNvSpPr txBox="1"/>
          <p:nvPr/>
        </p:nvSpPr>
        <p:spPr>
          <a:xfrm>
            <a:off x="5721350" y="1321356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CPU </a:t>
            </a:r>
            <a:r>
              <a:rPr lang="en-US">
                <a:sym typeface="Wingdings" pitchFamily="2" charset="2"/>
              </a:rPr>
              <a:t> 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E7DE85-92A7-A7EA-AE7C-F1B776E35B2C}"/>
              </a:ext>
            </a:extLst>
          </p:cNvPr>
          <p:cNvSpPr txBox="1"/>
          <p:nvPr/>
        </p:nvSpPr>
        <p:spPr>
          <a:xfrm>
            <a:off x="4622800" y="1586299"/>
            <a:ext cx="989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big_root</a:t>
            </a:r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C7BAF6-FF5F-E302-0365-0CAF2AAD1F7C}"/>
              </a:ext>
            </a:extLst>
          </p:cNvPr>
          <p:cNvCxnSpPr>
            <a:stCxn id="15" idx="2"/>
          </p:cNvCxnSpPr>
          <p:nvPr/>
        </p:nvCxnSpPr>
        <p:spPr>
          <a:xfrm>
            <a:off x="6985000" y="1955631"/>
            <a:ext cx="1263650" cy="1168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88E86F-74E4-1777-90C5-96968350B754}"/>
              </a:ext>
            </a:extLst>
          </p:cNvPr>
          <p:cNvCxnSpPr>
            <a:cxnSpLocks/>
          </p:cNvCxnSpPr>
          <p:nvPr/>
        </p:nvCxnSpPr>
        <p:spPr>
          <a:xfrm>
            <a:off x="7539468" y="3572171"/>
            <a:ext cx="27025" cy="168747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53AEAA8-B890-570B-D908-E2423BC4FBAA}"/>
              </a:ext>
            </a:extLst>
          </p:cNvPr>
          <p:cNvSpPr txBox="1"/>
          <p:nvPr/>
        </p:nvSpPr>
        <p:spPr>
          <a:xfrm>
            <a:off x="6592907" y="4618895"/>
            <a:ext cx="950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still a </a:t>
            </a:r>
            <a:endParaRPr lang="en-US" dirty="0"/>
          </a:p>
          <a:p>
            <a:r>
              <a:rPr lang="en-US"/>
              <a:t>big task</a:t>
            </a:r>
            <a:endParaRPr lang="en-US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93D4A19A-2EDE-CB25-E141-9CEF122CCFC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8414" b="18252"/>
          <a:stretch>
            <a:fillRect/>
          </a:stretch>
        </p:blipFill>
        <p:spPr>
          <a:xfrm>
            <a:off x="8038907" y="5756778"/>
            <a:ext cx="736405" cy="467190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B99B4F-A683-F981-B0B5-E57FAF0629D9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7632312" y="5990373"/>
            <a:ext cx="406595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89AF7A7-23FB-40B7-63F6-C7FA798F1045}"/>
              </a:ext>
            </a:extLst>
          </p:cNvPr>
          <p:cNvSpPr txBox="1"/>
          <p:nvPr/>
        </p:nvSpPr>
        <p:spPr>
          <a:xfrm>
            <a:off x="8700988" y="5805707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big_S</a:t>
            </a:r>
            <a:endParaRPr lang="en-US" i="1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1A66878-DAE4-281F-4E7A-65095BA631A9}"/>
              </a:ext>
            </a:extLst>
          </p:cNvPr>
          <p:cNvCxnSpPr>
            <a:cxnSpLocks/>
            <a:stCxn id="25" idx="1"/>
          </p:cNvCxnSpPr>
          <p:nvPr/>
        </p:nvCxnSpPr>
        <p:spPr>
          <a:xfrm flipV="1">
            <a:off x="8038907" y="3552586"/>
            <a:ext cx="474147" cy="2437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2813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42389</TotalTime>
  <Words>1222</Words>
  <Application>Microsoft Macintosh PowerPoint</Application>
  <PresentationFormat>Widescreen</PresentationFormat>
  <Paragraphs>274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Aptos</vt:lpstr>
      <vt:lpstr>Aptos Display</vt:lpstr>
      <vt:lpstr>Aptos Narrow</vt:lpstr>
      <vt:lpstr>Arial</vt:lpstr>
      <vt:lpstr>Consolas</vt:lpstr>
      <vt:lpstr>Monaco</vt:lpstr>
      <vt:lpstr>Wingdings</vt:lpstr>
      <vt:lpstr>Office Theme</vt:lpstr>
      <vt:lpstr>Managed Memory Spill Buffer</vt:lpstr>
      <vt:lpstr>Host Resident Buffer</vt:lpstr>
      <vt:lpstr>Quasi Clique Application</vt:lpstr>
      <vt:lpstr>Results - MQC</vt:lpstr>
      <vt:lpstr>Scratch Buffer</vt:lpstr>
      <vt:lpstr>Scratch Buffer</vt:lpstr>
      <vt:lpstr>Handlink Big Tasks</vt:lpstr>
      <vt:lpstr>Why CPU is much faster than GPU? </vt:lpstr>
      <vt:lpstr>Why hybrid-copy is faster than layered?</vt:lpstr>
      <vt:lpstr>Why hybrid-drop is slower than layered?</vt:lpstr>
      <vt:lpstr>Why hybrid is slower than layered? (SM)</vt:lpstr>
      <vt:lpstr>Why hybrid is slower than layered? (SM)</vt:lpstr>
      <vt:lpstr>PowerPoint Presentation</vt:lpstr>
      <vt:lpstr>MC Application </vt:lpstr>
      <vt:lpstr>MC Application </vt:lpstr>
      <vt:lpstr>SM Application</vt:lpstr>
      <vt:lpstr>Host Buffer</vt:lpstr>
      <vt:lpstr>Buffer Reservation – System </vt:lpstr>
      <vt:lpstr>Buffer Reservation – App </vt:lpstr>
      <vt:lpstr>Scratch Buffers</vt:lpstr>
      <vt:lpstr>Handling Big Tasks</vt:lpstr>
      <vt:lpstr>Update CPU Worker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Ahmad, Akhlaque</dc:creator>
  <cp:lastModifiedBy>Ahmad, Akhlaque</cp:lastModifiedBy>
  <cp:revision>10</cp:revision>
  <dcterms:created xsi:type="dcterms:W3CDTF">2026-04-20T02:32:18Z</dcterms:created>
  <dcterms:modified xsi:type="dcterms:W3CDTF">2026-08-04T23:22:40Z</dcterms:modified>
</cp:coreProperties>
</file>