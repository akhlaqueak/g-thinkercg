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6" r:id="rId7"/>
    <p:sldId id="267" r:id="rId8"/>
    <p:sldId id="268" r:id="rId9"/>
    <p:sldId id="269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703"/>
  </p:normalViewPr>
  <p:slideViewPr>
    <p:cSldViewPr snapToGrid="0">
      <p:cViewPr varScale="1">
        <p:scale>
          <a:sx n="123" d="100"/>
          <a:sy n="123" d="100"/>
        </p:scale>
        <p:origin x="22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8FCC2-6CD8-C9EF-9FD9-D3693D9448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C65EE2-2ECC-3C5C-E866-91AFD6F2A6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5A4D6-D480-B7AA-462C-03479678F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81B43-B5E3-F9F5-4BF7-15672D6C4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EBFAE-E1AF-CFCE-DD68-F96DB4792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436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2EFD9-C212-57F7-C85C-17D2C0195C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96B25D-889A-32AF-FD02-62323B2392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C122E-5C2F-7599-9C0C-C81C37063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13A8F1-2B9E-4725-EFFD-6286B3C3C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A8AEA-D89A-C65E-6B73-78CAC1E5A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10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B904F-AEDE-9839-0BE6-BB84006BC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72CCF4-78F7-2967-9BEE-F0029E63F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B11E9-1125-8EFD-A225-B22CE23E9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9D144D-8070-C6C6-C791-402CA27E00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9764B6-4E8E-B9BD-C1EA-316DEA9DB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68356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37286-6F42-64A7-D03A-6C399084F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1AE32-BCEE-B1A0-EE6F-F6F55B145C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59F491-69FC-7F77-3A37-42F1A76C32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AE3E9-5EE1-81DD-58BD-5C9910336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D8C946-B4F6-249B-E976-E04A6ED3D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CEFFC-D441-9F53-1741-A51888F66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601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CC61A-F181-73CD-E382-60A5878DB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9A9D8A-1AA3-7E64-9B9C-76C5AED8F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045CBA-7265-5D6C-9E9A-0E37B41D16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9C13A-C48A-73F6-D370-4D7D666B2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3490D0D-B6E1-74D5-B586-C29B4DC4F7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0A82CF-7E6F-621E-63BC-9BE6B59A4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AF6FC-14F0-F557-8B55-689C7C922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2CCC6-C83A-CC6A-88D8-89B4197AA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8696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026FB-F82C-4ECD-EB69-75E1B92D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756E7C-69BE-9C46-C5B3-CC2291FD27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8C6168-9855-84F7-8D7A-52ADE7D365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FD3A02-888B-5D8B-BD28-D8DE5D6B3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45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168F61-DF89-4755-8555-26EDFDCB78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FA70ED-39AF-DD47-5C8E-45F184ED2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3031C-7849-FFAB-D7BE-9C2FAE3C8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01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F478F-B1FA-7BDB-36C3-DDFA14488A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6EE8B-229B-997D-A171-01118C990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7C8B40-0B36-CBEB-2BB4-1879690CF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F7929D-C037-AD47-C5AF-BE76D23FDE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95A27F-6260-CD0A-0846-D3952688C6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41465D-9A18-8876-B0A2-94A040FCA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5964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4DD0D-7A26-5E7B-BBEF-E146580703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C8715F-8281-44AB-619D-17EC6CC42C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61771F-8D88-6066-1062-E7D4F3BF66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D819B4-46CC-D375-BC23-78F2E9FA8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E625E3-9979-3408-C588-FD39F37D4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6AC7B0-ACE9-5947-8FDA-879F59A05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3513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C66FA-D9E8-3C3F-7980-CA28F9FA4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058B1F-270F-FF14-46CD-8D7AEF1FC0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56D945-880A-E7FF-96F4-8EEF81BE92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E45BF-986F-C31E-50E1-DB0216129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4A82DD-4FF2-886E-A92B-F01AE9793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078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4399E1-9F0D-61B4-3F00-B7F43D64CB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9140E4-11D8-A7C7-0F62-FDABD2CCDA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262A7-0A29-0070-16A4-999F3B003A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378B2C-0EC6-8B88-BE71-DC9C3EC64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FFF9F-FF47-1654-7F28-2EC6A6256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271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AA00FA-5594-4369-5228-B9B0CB88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3CEC81-0E19-3B5C-992C-7188030D6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4B29A-EA94-D501-3D91-A94AE1366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584DAC-AA37-8C49-B5B6-53E9519E19BB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5945-053E-B5ED-4102-14373FB57B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FC8C2-BFDA-B1DB-E344-F18838133F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2FDC34-D7BB-C24E-8041-A2B20FADB5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378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583BC5-4C6B-8910-76B7-242970843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Memory Spill Buffer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32683D2-412B-E49D-3E90-10F604088A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650" y="1690688"/>
            <a:ext cx="7632700" cy="2628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C0E8320-6BF3-0868-0178-705E89D0131E}"/>
              </a:ext>
            </a:extLst>
          </p:cNvPr>
          <p:cNvSpPr txBox="1"/>
          <p:nvPr/>
        </p:nvSpPr>
        <p:spPr>
          <a:xfrm>
            <a:off x="2627586" y="4845269"/>
            <a:ext cx="518494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 slow to read/write to managed memory buffer. </a:t>
            </a:r>
          </a:p>
          <a:p>
            <a:r>
              <a:rPr lang="en-US" b="1" dirty="0"/>
              <a:t>Example:</a:t>
            </a:r>
          </a:p>
          <a:p>
            <a:endParaRPr lang="en-US" b="1" dirty="0"/>
          </a:p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105.2 sec </a:t>
            </a:r>
          </a:p>
          <a:p>
            <a:r>
              <a:rPr lang="en-US" dirty="0"/>
              <a:t>host buffer read/write: 20.3 sec</a:t>
            </a:r>
          </a:p>
        </p:txBody>
      </p:sp>
    </p:spTree>
    <p:extLst>
      <p:ext uri="{BB962C8B-B14F-4D97-AF65-F5344CB8AC3E}">
        <p14:creationId xmlns:p14="http://schemas.microsoft.com/office/powerpoint/2010/main" val="202235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8055-AC4B-5124-0509-8DA608A7D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F3F9EF-384A-6025-F4AC-E25DAFB4FC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53734"/>
          </a:xfrm>
        </p:spPr>
        <p:txBody>
          <a:bodyPr/>
          <a:lstStyle/>
          <a:p>
            <a:r>
              <a:rPr lang="en-US" dirty="0"/>
              <a:t>Create with </a:t>
            </a:r>
            <a:r>
              <a:rPr lang="en-US" b="1" dirty="0"/>
              <a:t>new</a:t>
            </a:r>
            <a:r>
              <a:rPr lang="en-US" dirty="0"/>
              <a:t> </a:t>
            </a:r>
          </a:p>
          <a:p>
            <a:r>
              <a:rPr lang="en-US" dirty="0"/>
              <a:t>After returning from kernel, copy data to/from host buffer</a:t>
            </a:r>
          </a:p>
          <a:p>
            <a:r>
              <a:rPr lang="en-US" dirty="0"/>
              <a:t>Bulk copy data instead of copying each subgraph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B173A4-D879-8F03-F25D-E7815C89E0E5}"/>
              </a:ext>
            </a:extLst>
          </p:cNvPr>
          <p:cNvSpPr txBox="1"/>
          <p:nvPr/>
        </p:nvSpPr>
        <p:spPr>
          <a:xfrm>
            <a:off x="1135117" y="494249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wikipedia_link_ru</a:t>
            </a:r>
            <a:endParaRPr lang="en-US" b="1" dirty="0"/>
          </a:p>
          <a:p>
            <a:r>
              <a:rPr lang="en-US" dirty="0"/>
              <a:t>total run time: 76.6 sec </a:t>
            </a:r>
          </a:p>
          <a:p>
            <a:r>
              <a:rPr lang="en-US" dirty="0"/>
              <a:t>host buffer read/write: 1.3 sec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FBDFB-41DF-7F29-62B9-ECD1A2DD775A}"/>
              </a:ext>
            </a:extLst>
          </p:cNvPr>
          <p:cNvSpPr/>
          <p:nvPr/>
        </p:nvSpPr>
        <p:spPr>
          <a:xfrm>
            <a:off x="6369270" y="4001294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CA4AD0-905A-73B5-2396-1B60E26A33B2}"/>
              </a:ext>
            </a:extLst>
          </p:cNvPr>
          <p:cNvSpPr/>
          <p:nvPr/>
        </p:nvSpPr>
        <p:spPr>
          <a:xfrm>
            <a:off x="6369269" y="4691091"/>
            <a:ext cx="5281447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997D780-A2CF-ADE2-2254-21FE67E594F0}"/>
              </a:ext>
            </a:extLst>
          </p:cNvPr>
          <p:cNvSpPr/>
          <p:nvPr/>
        </p:nvSpPr>
        <p:spPr>
          <a:xfrm>
            <a:off x="6453353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4DC7D-F514-61BA-B92D-3CAC78907D58}"/>
              </a:ext>
            </a:extLst>
          </p:cNvPr>
          <p:cNvSpPr/>
          <p:nvPr/>
        </p:nvSpPr>
        <p:spPr>
          <a:xfrm>
            <a:off x="6716112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66C9C8-6328-FFE2-28BC-DDA56EF2F51E}"/>
              </a:ext>
            </a:extLst>
          </p:cNvPr>
          <p:cNvSpPr/>
          <p:nvPr/>
        </p:nvSpPr>
        <p:spPr>
          <a:xfrm>
            <a:off x="6978871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97CB73C-AF4D-75B5-9FF0-C8A040C2A12F}"/>
              </a:ext>
            </a:extLst>
          </p:cNvPr>
          <p:cNvSpPr/>
          <p:nvPr/>
        </p:nvSpPr>
        <p:spPr>
          <a:xfrm>
            <a:off x="7241630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DDC9702-9889-7364-6CE6-71121028C96E}"/>
              </a:ext>
            </a:extLst>
          </p:cNvPr>
          <p:cNvSpPr/>
          <p:nvPr/>
        </p:nvSpPr>
        <p:spPr>
          <a:xfrm>
            <a:off x="7504389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045F749-FD06-0D3D-7909-D2347A5FE9F5}"/>
              </a:ext>
            </a:extLst>
          </p:cNvPr>
          <p:cNvSpPr/>
          <p:nvPr/>
        </p:nvSpPr>
        <p:spPr>
          <a:xfrm>
            <a:off x="7767148" y="4051803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BB24A6-520A-8390-DD38-29421AA7B233}"/>
              </a:ext>
            </a:extLst>
          </p:cNvPr>
          <p:cNvSpPr/>
          <p:nvPr/>
        </p:nvSpPr>
        <p:spPr>
          <a:xfrm>
            <a:off x="7252141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4A72DB4-0476-BAE8-979B-CA1FA6C5B484}"/>
              </a:ext>
            </a:extLst>
          </p:cNvPr>
          <p:cNvSpPr/>
          <p:nvPr/>
        </p:nvSpPr>
        <p:spPr>
          <a:xfrm>
            <a:off x="7514900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183DA3-803D-4514-6E30-05674FA14CED}"/>
              </a:ext>
            </a:extLst>
          </p:cNvPr>
          <p:cNvSpPr/>
          <p:nvPr/>
        </p:nvSpPr>
        <p:spPr>
          <a:xfrm>
            <a:off x="7777659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7F7D2-A995-61AE-E9F2-6048D1D7A137}"/>
              </a:ext>
            </a:extLst>
          </p:cNvPr>
          <p:cNvSpPr/>
          <p:nvPr/>
        </p:nvSpPr>
        <p:spPr>
          <a:xfrm>
            <a:off x="8040418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90374B-097C-5122-CBAD-2915914995C4}"/>
              </a:ext>
            </a:extLst>
          </p:cNvPr>
          <p:cNvSpPr/>
          <p:nvPr/>
        </p:nvSpPr>
        <p:spPr>
          <a:xfrm>
            <a:off x="8303177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87CEC49-1F7E-1E80-E876-1E69912CAB70}"/>
              </a:ext>
            </a:extLst>
          </p:cNvPr>
          <p:cNvSpPr/>
          <p:nvPr/>
        </p:nvSpPr>
        <p:spPr>
          <a:xfrm>
            <a:off x="8565936" y="4748964"/>
            <a:ext cx="178676" cy="26684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979762-27FC-9B1F-8300-846E2E53A02D}"/>
              </a:ext>
            </a:extLst>
          </p:cNvPr>
          <p:cNvSpPr txBox="1"/>
          <p:nvPr/>
        </p:nvSpPr>
        <p:spPr>
          <a:xfrm>
            <a:off x="6096000" y="3666756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Brd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758331-BB25-1684-0F06-17283CFB3658}"/>
              </a:ext>
            </a:extLst>
          </p:cNvPr>
          <p:cNvSpPr txBox="1"/>
          <p:nvPr/>
        </p:nvSpPr>
        <p:spPr>
          <a:xfrm>
            <a:off x="6001409" y="4379632"/>
            <a:ext cx="7987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FCB574-DD58-2725-E233-047340E09CB3}"/>
              </a:ext>
            </a:extLst>
          </p:cNvPr>
          <p:cNvSpPr/>
          <p:nvPr/>
        </p:nvSpPr>
        <p:spPr>
          <a:xfrm>
            <a:off x="6458611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B0DF84-B1EE-F287-C1A8-3E3058C29298}"/>
              </a:ext>
            </a:extLst>
          </p:cNvPr>
          <p:cNvSpPr/>
          <p:nvPr/>
        </p:nvSpPr>
        <p:spPr>
          <a:xfrm>
            <a:off x="6721370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590E2C1-92CB-2B2B-4BB2-1ADC3CEC5873}"/>
              </a:ext>
            </a:extLst>
          </p:cNvPr>
          <p:cNvSpPr/>
          <p:nvPr/>
        </p:nvSpPr>
        <p:spPr>
          <a:xfrm>
            <a:off x="6984129" y="4756913"/>
            <a:ext cx="178676" cy="266844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206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6E973-A004-1ADE-14F2-6CA6ED23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 Resident Buffer – Downside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281DFC-C1BD-CDA5-1357-6531DDCAE1FC}"/>
              </a:ext>
            </a:extLst>
          </p:cNvPr>
          <p:cNvSpPr/>
          <p:nvPr/>
        </p:nvSpPr>
        <p:spPr>
          <a:xfrm>
            <a:off x="2091559" y="2764221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2861B-6AEB-4D99-1565-3BAB19A9A7EB}"/>
              </a:ext>
            </a:extLst>
          </p:cNvPr>
          <p:cNvSpPr/>
          <p:nvPr/>
        </p:nvSpPr>
        <p:spPr>
          <a:xfrm>
            <a:off x="7378261" y="2764221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4C53FC0-B59F-7874-3116-BBD204AC84FC}"/>
              </a:ext>
            </a:extLst>
          </p:cNvPr>
          <p:cNvCxnSpPr/>
          <p:nvPr/>
        </p:nvCxnSpPr>
        <p:spPr>
          <a:xfrm flipV="1">
            <a:off x="5454869" y="3129455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E3E271A6-5D77-3579-CA03-3906DBFDB080}"/>
              </a:ext>
            </a:extLst>
          </p:cNvPr>
          <p:cNvSpPr txBox="1"/>
          <p:nvPr/>
        </p:nvSpPr>
        <p:spPr>
          <a:xfrm>
            <a:off x="4151586" y="3836284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3BDBA0-E359-5938-0FB3-E30F9AA24665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001407" y="2948152"/>
            <a:ext cx="1376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BF1332-30DB-73E3-0140-6FAFD1EAB2AD}"/>
              </a:ext>
            </a:extLst>
          </p:cNvPr>
          <p:cNvSpPr txBox="1"/>
          <p:nvPr/>
        </p:nvSpPr>
        <p:spPr>
          <a:xfrm>
            <a:off x="6227381" y="2599840"/>
            <a:ext cx="1057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spill to 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45910-F1A6-5C04-D2E2-7272EEC65998}"/>
              </a:ext>
            </a:extLst>
          </p:cNvPr>
          <p:cNvSpPr txBox="1"/>
          <p:nvPr/>
        </p:nvSpPr>
        <p:spPr>
          <a:xfrm>
            <a:off x="830317" y="2070538"/>
            <a:ext cx="270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Managed Memory case: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75FE284-5DAC-E4AF-F4F6-E91487D6B07C}"/>
              </a:ext>
            </a:extLst>
          </p:cNvPr>
          <p:cNvSpPr/>
          <p:nvPr/>
        </p:nvSpPr>
        <p:spPr>
          <a:xfrm>
            <a:off x="2091558" y="5072728"/>
            <a:ext cx="3909848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Bwr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17DDC7B-C6CF-F369-5ECD-C7AF674B8FA8}"/>
              </a:ext>
            </a:extLst>
          </p:cNvPr>
          <p:cNvSpPr/>
          <p:nvPr/>
        </p:nvSpPr>
        <p:spPr>
          <a:xfrm>
            <a:off x="7378260" y="5072728"/>
            <a:ext cx="2722179" cy="3678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3D4FD46-17A1-3BFA-CFA6-91FE6CA357DA}"/>
              </a:ext>
            </a:extLst>
          </p:cNvPr>
          <p:cNvCxnSpPr/>
          <p:nvPr/>
        </p:nvCxnSpPr>
        <p:spPr>
          <a:xfrm flipV="1">
            <a:off x="5454868" y="5437962"/>
            <a:ext cx="0" cy="5990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43ABBA3C-3386-3F2F-2EED-CEB34F7562C0}"/>
              </a:ext>
            </a:extLst>
          </p:cNvPr>
          <p:cNvSpPr txBox="1"/>
          <p:nvPr/>
        </p:nvSpPr>
        <p:spPr>
          <a:xfrm>
            <a:off x="4151585" y="6144791"/>
            <a:ext cx="3286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90% filled </a:t>
            </a:r>
            <a:r>
              <a:rPr lang="en-US" dirty="0">
                <a:sym typeface="Wingdings" pitchFamily="2" charset="2"/>
              </a:rPr>
              <a:t></a:t>
            </a:r>
            <a:r>
              <a:rPr lang="en-US" dirty="0"/>
              <a:t> press brake pedal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06A6723-5D3C-58E3-F38F-62B822082254}"/>
              </a:ext>
            </a:extLst>
          </p:cNvPr>
          <p:cNvSpPr txBox="1"/>
          <p:nvPr/>
        </p:nvSpPr>
        <p:spPr>
          <a:xfrm>
            <a:off x="5564663" y="5437962"/>
            <a:ext cx="19143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spill not possible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8B98B9-6CB6-7690-BC26-31CD29A622FA}"/>
              </a:ext>
            </a:extLst>
          </p:cNvPr>
          <p:cNvSpPr txBox="1"/>
          <p:nvPr/>
        </p:nvSpPr>
        <p:spPr>
          <a:xfrm>
            <a:off x="635876" y="4432745"/>
            <a:ext cx="18258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Host Resident: 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E33FF75-3F46-76D6-88C4-7336F1019265}"/>
              </a:ext>
            </a:extLst>
          </p:cNvPr>
          <p:cNvSpPr txBox="1"/>
          <p:nvPr/>
        </p:nvSpPr>
        <p:spPr>
          <a:xfrm>
            <a:off x="8647504" y="6190957"/>
            <a:ext cx="328699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wikipedia_link_fr</a:t>
            </a:r>
            <a:r>
              <a:rPr lang="en-US" dirty="0">
                <a:solidFill>
                  <a:schemeClr val="accent1"/>
                </a:solidFill>
              </a:rPr>
              <a:t> is facing this situation. How to address it??</a:t>
            </a:r>
          </a:p>
        </p:txBody>
      </p:sp>
    </p:spTree>
    <p:extLst>
      <p:ext uri="{BB962C8B-B14F-4D97-AF65-F5344CB8AC3E}">
        <p14:creationId xmlns:p14="http://schemas.microsoft.com/office/powerpoint/2010/main" val="3743212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C03FD5-EB14-7CC3-5BB1-285AB4037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Quasi Clique Application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FAC095E-BF34-B701-4D03-C8F4840B95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41600" y="1393191"/>
            <a:ext cx="4908800" cy="5004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375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F48B0D-AF69-96DE-08CC-BB0DE9568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Results - MQC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4799DED-BE63-3006-EA39-C74B5E392F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72828120"/>
              </p:ext>
            </p:extLst>
          </p:nvPr>
        </p:nvGraphicFramePr>
        <p:xfrm>
          <a:off x="904602" y="3063421"/>
          <a:ext cx="10378445" cy="3118103"/>
        </p:xfrm>
        <a:graphic>
          <a:graphicData uri="http://schemas.openxmlformats.org/drawingml/2006/table">
            <a:tbl>
              <a:tblPr/>
              <a:tblGrid>
                <a:gridCol w="1132150">
                  <a:extLst>
                    <a:ext uri="{9D8B030D-6E8A-4147-A177-3AD203B41FA5}">
                      <a16:colId xmlns:a16="http://schemas.microsoft.com/office/drawing/2014/main" val="2713897327"/>
                    </a:ext>
                  </a:extLst>
                </a:gridCol>
                <a:gridCol w="903797">
                  <a:extLst>
                    <a:ext uri="{9D8B030D-6E8A-4147-A177-3AD203B41FA5}">
                      <a16:colId xmlns:a16="http://schemas.microsoft.com/office/drawing/2014/main" val="2150304406"/>
                    </a:ext>
                  </a:extLst>
                </a:gridCol>
                <a:gridCol w="915816">
                  <a:extLst>
                    <a:ext uri="{9D8B030D-6E8A-4147-A177-3AD203B41FA5}">
                      <a16:colId xmlns:a16="http://schemas.microsoft.com/office/drawing/2014/main" val="2243225001"/>
                    </a:ext>
                  </a:extLst>
                </a:gridCol>
                <a:gridCol w="515197">
                  <a:extLst>
                    <a:ext uri="{9D8B030D-6E8A-4147-A177-3AD203B41FA5}">
                      <a16:colId xmlns:a16="http://schemas.microsoft.com/office/drawing/2014/main" val="2972052075"/>
                    </a:ext>
                  </a:extLst>
                </a:gridCol>
                <a:gridCol w="573286">
                  <a:extLst>
                    <a:ext uri="{9D8B030D-6E8A-4147-A177-3AD203B41FA5}">
                      <a16:colId xmlns:a16="http://schemas.microsoft.com/office/drawing/2014/main" val="1334432183"/>
                    </a:ext>
                  </a:extLst>
                </a:gridCol>
                <a:gridCol w="829683">
                  <a:extLst>
                    <a:ext uri="{9D8B030D-6E8A-4147-A177-3AD203B41FA5}">
                      <a16:colId xmlns:a16="http://schemas.microsoft.com/office/drawing/2014/main" val="2626238600"/>
                    </a:ext>
                  </a:extLst>
                </a:gridCol>
                <a:gridCol w="1102104">
                  <a:extLst>
                    <a:ext uri="{9D8B030D-6E8A-4147-A177-3AD203B41FA5}">
                      <a16:colId xmlns:a16="http://schemas.microsoft.com/office/drawing/2014/main" val="297224623"/>
                    </a:ext>
                  </a:extLst>
                </a:gridCol>
                <a:gridCol w="1290395">
                  <a:extLst>
                    <a:ext uri="{9D8B030D-6E8A-4147-A177-3AD203B41FA5}">
                      <a16:colId xmlns:a16="http://schemas.microsoft.com/office/drawing/2014/main" val="3163159027"/>
                    </a:ext>
                  </a:extLst>
                </a:gridCol>
                <a:gridCol w="931840">
                  <a:extLst>
                    <a:ext uri="{9D8B030D-6E8A-4147-A177-3AD203B41FA5}">
                      <a16:colId xmlns:a16="http://schemas.microsoft.com/office/drawing/2014/main" val="962728455"/>
                    </a:ext>
                  </a:extLst>
                </a:gridCol>
                <a:gridCol w="853720">
                  <a:extLst>
                    <a:ext uri="{9D8B030D-6E8A-4147-A177-3AD203B41FA5}">
                      <a16:colId xmlns:a16="http://schemas.microsoft.com/office/drawing/2014/main" val="3298218237"/>
                    </a:ext>
                  </a:extLst>
                </a:gridCol>
                <a:gridCol w="1330457">
                  <a:extLst>
                    <a:ext uri="{9D8B030D-6E8A-4147-A177-3AD203B41FA5}">
                      <a16:colId xmlns:a16="http://schemas.microsoft.com/office/drawing/2014/main" val="900833380"/>
                    </a:ext>
                  </a:extLst>
                </a:gridCol>
              </a:tblGrid>
              <a:tr h="36584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V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θ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l-GR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γ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#MQC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Gthinker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DCFastQC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Quick+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cu-QC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1" i="0" u="none" strike="noStrike">
                          <a:solidFill>
                            <a:srgbClr val="FFFFFF"/>
                          </a:solidFill>
                          <a:effectLst/>
                          <a:latin typeface="Aptos Narrow" panose="020B0004020202020204" pitchFamily="34" charset="0"/>
                        </a:rPr>
                        <a:t>#{cu-QC}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6527003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ca-GrQc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26,198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14,490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1,665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0659542"/>
                  </a:ext>
                </a:extLst>
              </a:tr>
              <a:tr h="67352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condmat-dimacs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39,577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175,691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7,222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2.2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432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619954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condmat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108,301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93,468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4,382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reported(4396)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510221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enron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36,692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183,831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9.7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12.8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102.0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3.3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reported(200)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1962238"/>
                  </a:ext>
                </a:extLst>
              </a:tr>
              <a:tr h="519684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facebook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                      4,039 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88,234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0.95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104.2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282.9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352.1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2300" b="0" i="0" u="none" strike="noStrike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1.4</a:t>
                      </a:r>
                      <a:endParaRPr lang="en-US" sz="23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500" b="0" i="0" u="none" strike="noStrike" dirty="0">
                          <a:solidFill>
                            <a:srgbClr val="C00000"/>
                          </a:solidFill>
                          <a:effectLst/>
                          <a:latin typeface="Aptos Narrow" panose="020B0004020202020204" pitchFamily="34" charset="0"/>
                        </a:rPr>
                        <a:t>0, paper reported (2)</a:t>
                      </a:r>
                      <a:endParaRPr lang="en-US" sz="23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12019" marR="12019" marT="12019" marB="0" anchor="b">
                    <a:lnL>
                      <a:noFill/>
                    </a:lnL>
                    <a:lnR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5608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7667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733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E5CE3626-FB0A-692A-F035-A1DF78C217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150E0C-EF31-9E3B-653E-154243818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Buffer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19DFFE26-B75F-43CD-55F5-9E3EA43815AA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CD8A8E56-B852-AB89-A094-0ABE1BBE77BC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level tasks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B306A4D-FDE3-C800-7E1C-84906394F217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DA448AB-F1BC-2284-B2BB-209FB2E9000F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74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5A725-C0FB-AFBB-BD77-C989D1102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35">
            <a:extLst>
              <a:ext uri="{FF2B5EF4-FFF2-40B4-BE49-F238E27FC236}">
                <a16:creationId xmlns:a16="http://schemas.microsoft.com/office/drawing/2014/main" id="{F65E09FD-86C3-B452-444F-53A4F6F765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8602" y="0"/>
            <a:ext cx="660327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52F1B3E-B919-6AAB-EBA8-2232CDA90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Scratch Buffer</a:t>
            </a:r>
          </a:p>
        </p:txBody>
      </p:sp>
      <p:graphicFrame>
        <p:nvGraphicFramePr>
          <p:cNvPr id="31" name="Content Placeholder 3">
            <a:extLst>
              <a:ext uri="{FF2B5EF4-FFF2-40B4-BE49-F238E27FC236}">
                <a16:creationId xmlns:a16="http://schemas.microsoft.com/office/drawing/2014/main" id="{F7BEEAA0-DB71-CB33-8F1C-7F30FD0FB0F1}"/>
              </a:ext>
            </a:extLst>
          </p:cNvPr>
          <p:cNvGraphicFramePr>
            <a:graphicFrameLocks/>
          </p:cNvGraphicFramePr>
          <p:nvPr/>
        </p:nvGraphicFramePr>
        <p:xfrm>
          <a:off x="5219609" y="860756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32" name="TextBox 31">
            <a:extLst>
              <a:ext uri="{FF2B5EF4-FFF2-40B4-BE49-F238E27FC236}">
                <a16:creationId xmlns:a16="http://schemas.microsoft.com/office/drawing/2014/main" id="{DD450443-76AA-47EF-8518-82CDF232C420}"/>
              </a:ext>
            </a:extLst>
          </p:cNvPr>
          <p:cNvSpPr txBox="1"/>
          <p:nvPr/>
        </p:nvSpPr>
        <p:spPr>
          <a:xfrm>
            <a:off x="5993706" y="374835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 level tasks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3DF527D-D515-F294-E1EC-14ED18FFC723}"/>
              </a:ext>
            </a:extLst>
          </p:cNvPr>
          <p:cNvSpPr/>
          <p:nvPr/>
        </p:nvSpPr>
        <p:spPr>
          <a:xfrm>
            <a:off x="6358791" y="1515328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F4BC0C70-8964-A7F5-37A8-04C08D4E0EBC}"/>
              </a:ext>
            </a:extLst>
          </p:cNvPr>
          <p:cNvCxnSpPr>
            <a:cxnSpLocks/>
            <a:stCxn id="31" idx="2"/>
            <a:endCxn id="33" idx="0"/>
          </p:cNvCxnSpPr>
          <p:nvPr/>
        </p:nvCxnSpPr>
        <p:spPr>
          <a:xfrm>
            <a:off x="6809924" y="1299115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59088A7C-78EB-F510-6A5A-607DA4322B1B}"/>
              </a:ext>
            </a:extLst>
          </p:cNvPr>
          <p:cNvSpPr txBox="1"/>
          <p:nvPr/>
        </p:nvSpPr>
        <p:spPr>
          <a:xfrm>
            <a:off x="1709998" y="3289727"/>
            <a:ext cx="1850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per warp scratch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D53A03-19D4-3309-7501-A43EB6713F89}"/>
              </a:ext>
            </a:extLst>
          </p:cNvPr>
          <p:cNvSpPr txBox="1"/>
          <p:nvPr/>
        </p:nvSpPr>
        <p:spPr>
          <a:xfrm>
            <a:off x="1172184" y="3576806"/>
            <a:ext cx="2953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32000 it sums to 6.5GB</a:t>
            </a:r>
          </a:p>
        </p:txBody>
      </p:sp>
    </p:spTree>
    <p:extLst>
      <p:ext uri="{BB962C8B-B14F-4D97-AF65-F5344CB8AC3E}">
        <p14:creationId xmlns:p14="http://schemas.microsoft.com/office/powerpoint/2010/main" val="167228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744D-A139-FB1A-B60B-51B6E6286C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Handlink Big Tasks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923482F-EE93-313A-EB53-C79917AA892F}"/>
              </a:ext>
            </a:extLst>
          </p:cNvPr>
          <p:cNvGraphicFramePr>
            <a:graphicFrameLocks/>
          </p:cNvGraphicFramePr>
          <p:nvPr/>
        </p:nvGraphicFramePr>
        <p:xfrm>
          <a:off x="4092558" y="2098718"/>
          <a:ext cx="3180630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505726368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26824141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A5B80B6-EC4E-F048-0038-CFF6411D550E}"/>
              </a:ext>
            </a:extLst>
          </p:cNvPr>
          <p:cNvSpPr txBox="1"/>
          <p:nvPr/>
        </p:nvSpPr>
        <p:spPr>
          <a:xfrm>
            <a:off x="4866655" y="1612797"/>
            <a:ext cx="17561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root vertices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5991E7-EBD9-411B-061E-6EB77AADD304}"/>
              </a:ext>
            </a:extLst>
          </p:cNvPr>
          <p:cNvSpPr/>
          <p:nvPr/>
        </p:nvSpPr>
        <p:spPr>
          <a:xfrm>
            <a:off x="5231740" y="2753290"/>
            <a:ext cx="908197" cy="558836"/>
          </a:xfrm>
          <a:prstGeom prst="rect">
            <a:avLst/>
          </a:prstGeom>
          <a:ln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2-hop neigh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B12D79D-DB24-5704-F564-5A38DEC648E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5682873" y="2537077"/>
            <a:ext cx="2966" cy="2162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C93F2F9-94CF-FE9B-9197-06D4D1F1CD30}"/>
              </a:ext>
            </a:extLst>
          </p:cNvPr>
          <p:cNvSpPr txBox="1"/>
          <p:nvPr/>
        </p:nvSpPr>
        <p:spPr>
          <a:xfrm>
            <a:off x="1214293" y="3528339"/>
            <a:ext cx="98512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root vertices with big tasks are separated at initialization step, using CPU threads (by OpenMP)</a:t>
            </a:r>
          </a:p>
          <a:p>
            <a:endParaRPr lang="en-US" dirty="0"/>
          </a:p>
        </p:txBody>
      </p:sp>
      <p:graphicFrame>
        <p:nvGraphicFramePr>
          <p:cNvPr id="10" name="Content Placeholder 3">
            <a:extLst>
              <a:ext uri="{FF2B5EF4-FFF2-40B4-BE49-F238E27FC236}">
                <a16:creationId xmlns:a16="http://schemas.microsoft.com/office/drawing/2014/main" id="{BF605D24-416F-9502-BA14-C0F3CB133CFE}"/>
              </a:ext>
            </a:extLst>
          </p:cNvPr>
          <p:cNvGraphicFramePr>
            <a:graphicFrameLocks/>
          </p:cNvGraphicFramePr>
          <p:nvPr/>
        </p:nvGraphicFramePr>
        <p:xfrm>
          <a:off x="2686966" y="4796747"/>
          <a:ext cx="1908378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3925629564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55C8D13-994B-590F-D315-8769F534E8DE}"/>
              </a:ext>
            </a:extLst>
          </p:cNvPr>
          <p:cNvSpPr txBox="1"/>
          <p:nvPr/>
        </p:nvSpPr>
        <p:spPr>
          <a:xfrm>
            <a:off x="2626729" y="4428363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regular root vertices</a:t>
            </a:r>
          </a:p>
        </p:txBody>
      </p:sp>
      <p:graphicFrame>
        <p:nvGraphicFramePr>
          <p:cNvPr id="14" name="Content Placeholder 3">
            <a:extLst>
              <a:ext uri="{FF2B5EF4-FFF2-40B4-BE49-F238E27FC236}">
                <a16:creationId xmlns:a16="http://schemas.microsoft.com/office/drawing/2014/main" id="{C6FCD81F-D4A1-BEE8-5E13-FBED0B789AD8}"/>
              </a:ext>
            </a:extLst>
          </p:cNvPr>
          <p:cNvGraphicFramePr>
            <a:graphicFrameLocks/>
          </p:cNvGraphicFramePr>
          <p:nvPr/>
        </p:nvGraphicFramePr>
        <p:xfrm>
          <a:off x="7885816" y="4809544"/>
          <a:ext cx="1272252" cy="43835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6126">
                  <a:extLst>
                    <a:ext uri="{9D8B030D-6E8A-4147-A177-3AD203B41FA5}">
                      <a16:colId xmlns:a16="http://schemas.microsoft.com/office/drawing/2014/main" val="194980701"/>
                    </a:ext>
                  </a:extLst>
                </a:gridCol>
                <a:gridCol w="636126">
                  <a:extLst>
                    <a:ext uri="{9D8B030D-6E8A-4147-A177-3AD203B41FA5}">
                      <a16:colId xmlns:a16="http://schemas.microsoft.com/office/drawing/2014/main" val="2814616541"/>
                    </a:ext>
                  </a:extLst>
                </a:gridCol>
              </a:tblGrid>
              <a:tr h="438359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7342528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44B4EE0A-6C55-BBED-95D8-E20AFE162E30}"/>
              </a:ext>
            </a:extLst>
          </p:cNvPr>
          <p:cNvSpPr txBox="1"/>
          <p:nvPr/>
        </p:nvSpPr>
        <p:spPr>
          <a:xfrm>
            <a:off x="7596657" y="4427415"/>
            <a:ext cx="2406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big_root</a:t>
            </a:r>
            <a:r>
              <a:rPr lang="en-US" dirty="0"/>
              <a:t> vertices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B344CD-3D80-F184-01EF-D60C64B87CD9}"/>
              </a:ext>
            </a:extLst>
          </p:cNvPr>
          <p:cNvSpPr txBox="1"/>
          <p:nvPr/>
        </p:nvSpPr>
        <p:spPr>
          <a:xfrm>
            <a:off x="7227116" y="5365990"/>
            <a:ext cx="30346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 schedules </a:t>
            </a:r>
            <a:r>
              <a:rPr lang="en-US" dirty="0" err="1"/>
              <a:t>big_root</a:t>
            </a:r>
            <a:r>
              <a:rPr lang="en-US" dirty="0"/>
              <a:t> </a:t>
            </a:r>
          </a:p>
          <a:p>
            <a:r>
              <a:rPr lang="en-US" dirty="0"/>
              <a:t>vertices to CPU threads only </a:t>
            </a:r>
          </a:p>
        </p:txBody>
      </p:sp>
    </p:spTree>
    <p:extLst>
      <p:ext uri="{BB962C8B-B14F-4D97-AF65-F5344CB8AC3E}">
        <p14:creationId xmlns:p14="http://schemas.microsoft.com/office/powerpoint/2010/main" val="7607173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91E18-9DFD-BE05-AAD5-88906D182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CPU Worker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F3316-7270-F1BB-A82C-E34019F8BA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091"/>
          <a:stretch>
            <a:fillRect/>
          </a:stretch>
        </p:blipFill>
        <p:spPr>
          <a:xfrm>
            <a:off x="2349500" y="1955631"/>
            <a:ext cx="7950200" cy="26036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887BFF7-624C-257F-6649-8B778DD7D0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3140"/>
          <a:stretch>
            <a:fillRect/>
          </a:stretch>
        </p:blipFill>
        <p:spPr>
          <a:xfrm>
            <a:off x="7412901" y="5259645"/>
            <a:ext cx="390360" cy="7307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916048-DF75-1452-4265-9D9A582345D9}"/>
              </a:ext>
            </a:extLst>
          </p:cNvPr>
          <p:cNvSpPr txBox="1"/>
          <p:nvPr/>
        </p:nvSpPr>
        <p:spPr>
          <a:xfrm>
            <a:off x="7412901" y="5259645"/>
            <a:ext cx="6260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1" dirty="0"/>
              <a:t>big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90DF368-E8DA-C66C-E90C-77DD0DB2C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1350" y="1663531"/>
            <a:ext cx="2527300" cy="2921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32A7DEC-0ED2-99D7-C858-3C74D3068193}"/>
              </a:ext>
            </a:extLst>
          </p:cNvPr>
          <p:cNvSpPr txBox="1"/>
          <p:nvPr/>
        </p:nvSpPr>
        <p:spPr>
          <a:xfrm>
            <a:off x="5721350" y="1321356"/>
            <a:ext cx="954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CPU </a:t>
            </a:r>
            <a:r>
              <a:rPr lang="en-US" dirty="0">
                <a:sym typeface="Wingdings" pitchFamily="2" charset="2"/>
              </a:rPr>
              <a:t> 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2E7DE85-92A7-A7EA-AE7C-F1B776E35B2C}"/>
              </a:ext>
            </a:extLst>
          </p:cNvPr>
          <p:cNvSpPr txBox="1"/>
          <p:nvPr/>
        </p:nvSpPr>
        <p:spPr>
          <a:xfrm>
            <a:off x="4622800" y="1586299"/>
            <a:ext cx="989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big_root</a:t>
            </a:r>
            <a:endParaRPr lang="en-US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7C7BAF6-FF5F-E302-0365-0CAF2AAD1F7C}"/>
              </a:ext>
            </a:extLst>
          </p:cNvPr>
          <p:cNvCxnSpPr>
            <a:stCxn id="15" idx="2"/>
          </p:cNvCxnSpPr>
          <p:nvPr/>
        </p:nvCxnSpPr>
        <p:spPr>
          <a:xfrm>
            <a:off x="6985000" y="1955631"/>
            <a:ext cx="1263650" cy="1168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88E86F-74E4-1777-90C5-96968350B754}"/>
              </a:ext>
            </a:extLst>
          </p:cNvPr>
          <p:cNvCxnSpPr>
            <a:cxnSpLocks/>
          </p:cNvCxnSpPr>
          <p:nvPr/>
        </p:nvCxnSpPr>
        <p:spPr>
          <a:xfrm>
            <a:off x="7539468" y="3572171"/>
            <a:ext cx="27025" cy="168747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53AEAA8-B890-570B-D908-E2423BC4FBAA}"/>
              </a:ext>
            </a:extLst>
          </p:cNvPr>
          <p:cNvSpPr txBox="1"/>
          <p:nvPr/>
        </p:nvSpPr>
        <p:spPr>
          <a:xfrm>
            <a:off x="6592907" y="4618895"/>
            <a:ext cx="95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still a </a:t>
            </a:r>
          </a:p>
          <a:p>
            <a:r>
              <a:rPr lang="en-US" dirty="0"/>
              <a:t>big task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93D4A19A-2EDE-CB25-E141-9CEF122CCF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28414" b="18252"/>
          <a:stretch>
            <a:fillRect/>
          </a:stretch>
        </p:blipFill>
        <p:spPr>
          <a:xfrm>
            <a:off x="8038907" y="5756778"/>
            <a:ext cx="736405" cy="467190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8B99B4F-A683-F981-B0B5-E57FAF0629D9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632312" y="5990373"/>
            <a:ext cx="406595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89AF7A7-23FB-40B7-63F6-C7FA798F1045}"/>
              </a:ext>
            </a:extLst>
          </p:cNvPr>
          <p:cNvSpPr txBox="1"/>
          <p:nvPr/>
        </p:nvSpPr>
        <p:spPr>
          <a:xfrm>
            <a:off x="8700988" y="5805707"/>
            <a:ext cx="716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big_S</a:t>
            </a:r>
            <a:endParaRPr lang="en-US" i="1" dirty="0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1A66878-DAE4-281F-4E7A-65095BA631A9}"/>
              </a:ext>
            </a:extLst>
          </p:cNvPr>
          <p:cNvCxnSpPr>
            <a:cxnSpLocks/>
            <a:stCxn id="25" idx="1"/>
          </p:cNvCxnSpPr>
          <p:nvPr/>
        </p:nvCxnSpPr>
        <p:spPr>
          <a:xfrm flipV="1">
            <a:off x="8038907" y="3552586"/>
            <a:ext cx="474147" cy="24377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5862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8D451-66A4-3181-8DDD-496D006AA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CPU is much faster than GPU?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397CA-74DB-C096-A33A-4A6EA1EBA1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few vertices are very high degree in the graphs</a:t>
            </a:r>
          </a:p>
          <a:p>
            <a:r>
              <a:rPr lang="en-US" dirty="0"/>
              <a:t>Since a warp processes a vertex, a high degree vertex causes a warp to take a long time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54BE56B-7E87-DFA0-0FE1-28C1ECB32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090" y="3429000"/>
            <a:ext cx="3913909" cy="286016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D33D4D8-8E2F-2C12-BC14-03C68E73F5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9636" y="3429000"/>
            <a:ext cx="3640100" cy="2660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2104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F3868-9696-2B98-D1A3-613A21D0A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hybrid-copy is faster than layered?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1D006-07A2-FB25-AA6D-21914978D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35884"/>
          </a:xfrm>
        </p:spPr>
        <p:txBody>
          <a:bodyPr/>
          <a:lstStyle/>
          <a:p>
            <a:r>
              <a:rPr lang="en-US" dirty="0"/>
              <a:t>In the layered case, a fixed </a:t>
            </a:r>
            <a:r>
              <a:rPr lang="en-US" dirty="0" err="1"/>
              <a:t>η</a:t>
            </a:r>
            <a:r>
              <a:rPr lang="en-US" dirty="0"/>
              <a:t> may underutilize GPU cores, increasing runtime. (currently </a:t>
            </a:r>
            <a:r>
              <a:rPr lang="en-US" dirty="0" err="1"/>
              <a:t>η</a:t>
            </a:r>
            <a:r>
              <a:rPr lang="en-US" dirty="0"/>
              <a:t>=2000)</a:t>
            </a:r>
          </a:p>
          <a:p>
            <a:r>
              <a:rPr lang="en-US" dirty="0"/>
              <a:t>Ping-pong execution processes the entire buffer, resulting in faster runtime.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E308B00-5A5B-3BAC-2EB1-D29D1B3561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5985711"/>
              </p:ext>
            </p:extLst>
          </p:nvPr>
        </p:nvGraphicFramePr>
        <p:xfrm>
          <a:off x="1402772" y="6188075"/>
          <a:ext cx="8077200" cy="304800"/>
        </p:xfrm>
        <a:graphic>
          <a:graphicData uri="http://schemas.openxmlformats.org/drawingml/2006/table">
            <a:tbl>
              <a:tblPr>
                <a:tableStyleId>{3B4B98B0-60AC-42C2-AFA5-B58CD77FA1E5}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44006447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199390304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045103679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9635011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edit-</a:t>
                      </a:r>
                      <a:r>
                        <a:rPr lang="en-US" sz="1700" u="none" strike="noStrike" dirty="0" err="1">
                          <a:effectLst/>
                        </a:rPr>
                        <a:t>nlwiki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>
                          <a:effectLst/>
                        </a:rPr>
                        <a:t>20.5</a:t>
                      </a:r>
                      <a:endParaRPr lang="en-US" sz="1700" b="0" i="0" u="none" strike="noStrike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18.4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700" u="none" strike="noStrike" dirty="0">
                          <a:effectLst/>
                        </a:rPr>
                        <a:t>16.8</a:t>
                      </a:r>
                      <a:endParaRPr lang="en-US" sz="17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3737265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E30A8DC-34D0-5DF0-03C7-008572D49F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802704"/>
              </p:ext>
            </p:extLst>
          </p:nvPr>
        </p:nvGraphicFramePr>
        <p:xfrm>
          <a:off x="1402772" y="5845175"/>
          <a:ext cx="8077200" cy="342900"/>
        </p:xfrm>
        <a:graphic>
          <a:graphicData uri="http://schemas.openxmlformats.org/drawingml/2006/table">
            <a:tbl>
              <a:tblPr>
                <a:tableStyleId>{D113A9D2-9D6B-4929-AA2D-F23B5EE8CBE7}</a:tableStyleId>
              </a:tblPr>
              <a:tblGrid>
                <a:gridCol w="3810000">
                  <a:extLst>
                    <a:ext uri="{9D8B030D-6E8A-4147-A177-3AD203B41FA5}">
                      <a16:colId xmlns:a16="http://schemas.microsoft.com/office/drawing/2014/main" val="960849052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114501400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581511765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2808599619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eta values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1,000 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>
                          <a:effectLst/>
                        </a:rPr>
                        <a:t>              2,000 </a:t>
                      </a:r>
                      <a:endParaRPr lang="en-US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1" u="none" strike="noStrike" dirty="0">
                          <a:effectLst/>
                        </a:rPr>
                        <a:t>              5,000 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0" marR="0" marT="0" marB="0" anchor="b"/>
                </a:tc>
                <a:extLst>
                  <a:ext uri="{0D108BD9-81ED-4DB2-BD59-A6C34878D82A}">
                    <a16:rowId xmlns:a16="http://schemas.microsoft.com/office/drawing/2014/main" val="712991610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8C9E8D5-9850-50E3-F8B6-44CB0BEB3E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055540"/>
              </p:ext>
            </p:extLst>
          </p:nvPr>
        </p:nvGraphicFramePr>
        <p:xfrm>
          <a:off x="1194954" y="3761509"/>
          <a:ext cx="10235046" cy="9663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9205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312986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662235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7953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b="1" u="none" strike="noStrike">
                          <a:effectLst/>
                        </a:rPr>
                        <a:t>gpu-layered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 err="1">
                          <a:effectLst/>
                        </a:rPr>
                        <a:t>gpu</a:t>
                      </a:r>
                      <a:r>
                        <a:rPr lang="en-US" sz="1800" b="1" u="none" strike="noStrike" dirty="0">
                          <a:effectLst/>
                        </a:rPr>
                        <a:t>-hybrid-drop 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accent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800" u="none" strike="noStrike">
                          <a:effectLst/>
                        </a:rPr>
                        <a:t>edit-nlwiki</a:t>
                      </a:r>
                      <a:endParaRPr lang="en-US" sz="1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11.3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20.0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800" u="none" strike="noStrike" dirty="0">
                          <a:effectLst/>
                        </a:rPr>
                        <a:t>12.4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11.0</a:t>
                      </a:r>
                      <a:endParaRPr lang="en-US" sz="1800" b="0" i="0" u="none" strike="noStrike" dirty="0">
                        <a:solidFill>
                          <a:schemeClr val="accent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23B95060-A99D-E2AE-DB18-3CC5868B03BB}"/>
              </a:ext>
            </a:extLst>
          </p:cNvPr>
          <p:cNvSpPr txBox="1"/>
          <p:nvPr/>
        </p:nvSpPr>
        <p:spPr>
          <a:xfrm>
            <a:off x="675409" y="5268191"/>
            <a:ext cx="3767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experiments with other values of eta</a:t>
            </a:r>
          </a:p>
        </p:txBody>
      </p:sp>
    </p:spTree>
    <p:extLst>
      <p:ext uri="{BB962C8B-B14F-4D97-AF65-F5344CB8AC3E}">
        <p14:creationId xmlns:p14="http://schemas.microsoft.com/office/powerpoint/2010/main" val="2863794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6E464-F975-0C7D-197A-2970399E6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hybrid-drop is slower than layered?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A6BDEF-0548-33E3-938B-027E7E2550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caused by an incorrect </a:t>
            </a:r>
            <a:r>
              <a:rPr lang="en-US" dirty="0" err="1"/>
              <a:t>gpuchunk</a:t>
            </a:r>
            <a:r>
              <a:rPr lang="en-US" dirty="0"/>
              <a:t> setting: </a:t>
            </a:r>
          </a:p>
          <a:p>
            <a:pPr marL="457200" lvl="1" indent="0">
              <a:buNone/>
            </a:pPr>
            <a:r>
              <a:rPr lang="en-US" dirty="0"/>
              <a:t>Hybrid-Drop used 100K, while the others used 1M.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79D71B-105A-025B-1FD4-CB5747B99B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124874"/>
              </p:ext>
            </p:extLst>
          </p:nvPr>
        </p:nvGraphicFramePr>
        <p:xfrm>
          <a:off x="509155" y="3761509"/>
          <a:ext cx="10920846" cy="11362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2872">
                  <a:extLst>
                    <a:ext uri="{9D8B030D-6E8A-4147-A177-3AD203B41FA5}">
                      <a16:colId xmlns:a16="http://schemas.microsoft.com/office/drawing/2014/main" val="2457110133"/>
                    </a:ext>
                  </a:extLst>
                </a:gridCol>
                <a:gridCol w="1953491">
                  <a:extLst>
                    <a:ext uri="{9D8B030D-6E8A-4147-A177-3AD203B41FA5}">
                      <a16:colId xmlns:a16="http://schemas.microsoft.com/office/drawing/2014/main" val="3853503667"/>
                    </a:ext>
                  </a:extLst>
                </a:gridCol>
                <a:gridCol w="1527464">
                  <a:extLst>
                    <a:ext uri="{9D8B030D-6E8A-4147-A177-3AD203B41FA5}">
                      <a16:colId xmlns:a16="http://schemas.microsoft.com/office/drawing/2014/main" val="1010362570"/>
                    </a:ext>
                  </a:extLst>
                </a:gridCol>
                <a:gridCol w="2254409">
                  <a:extLst>
                    <a:ext uri="{9D8B030D-6E8A-4147-A177-3AD203B41FA5}">
                      <a16:colId xmlns:a16="http://schemas.microsoft.com/office/drawing/2014/main" val="3721380"/>
                    </a:ext>
                  </a:extLst>
                </a:gridCol>
                <a:gridCol w="2982610">
                  <a:extLst>
                    <a:ext uri="{9D8B030D-6E8A-4147-A177-3AD203B41FA5}">
                      <a16:colId xmlns:a16="http://schemas.microsoft.com/office/drawing/2014/main" val="3894600151"/>
                    </a:ext>
                  </a:extLst>
                </a:gridCol>
              </a:tblGrid>
              <a:tr h="63901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dataset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>
                          <a:effectLst/>
                        </a:rPr>
                        <a:t>G2AIMD (</a:t>
                      </a:r>
                      <a:r>
                        <a:rPr lang="en-US" sz="1800" b="1" u="none" strike="noStrike" dirty="0" err="1">
                          <a:effectLst/>
                        </a:rPr>
                        <a:t>pingpong</a:t>
                      </a:r>
                      <a:r>
                        <a:rPr lang="en-US" sz="1800" b="1" u="none" strike="noStrike" dirty="0">
                          <a:effectLst/>
                        </a:rPr>
                        <a:t>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 err="1">
                          <a:effectLst/>
                        </a:rPr>
                        <a:t>gpu</a:t>
                      </a:r>
                      <a:r>
                        <a:rPr lang="en-US" sz="1800" b="1" u="none" strike="noStrike" dirty="0">
                          <a:effectLst/>
                        </a:rPr>
                        <a:t>-layered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1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800" b="1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 </a:t>
                      </a:r>
                      <a:endParaRPr lang="en-US" sz="18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5454" marR="5454" marT="545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b="1" u="none" strike="noStrike" dirty="0" err="1">
                          <a:solidFill>
                            <a:schemeClr val="tx1"/>
                          </a:solidFill>
                          <a:effectLst/>
                        </a:rPr>
                        <a:t>gpu</a:t>
                      </a:r>
                      <a:r>
                        <a:rPr lang="en-US" sz="16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5187684"/>
                  </a:ext>
                </a:extLst>
              </a:tr>
              <a:tr h="32734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web-wikipedia_link_en13-all</a:t>
                      </a:r>
                      <a:endParaRPr lang="en-US" sz="16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150.7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225.3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700" b="0" u="none" strike="noStrike" dirty="0">
                          <a:solidFill>
                            <a:srgbClr val="C00000"/>
                          </a:solidFill>
                          <a:effectLst/>
                        </a:rPr>
                        <a:t>317.9</a:t>
                      </a:r>
                      <a:endParaRPr lang="en-US" sz="17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147.3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9328542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9230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612FE-A783-B001-47EB-C974AAAD0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hybrid is slower than layered? (SM)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C9936E5-358D-5258-9BD9-A37F7DC9799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13408363"/>
              </p:ext>
            </p:extLst>
          </p:nvPr>
        </p:nvGraphicFramePr>
        <p:xfrm>
          <a:off x="838200" y="2700976"/>
          <a:ext cx="10515600" cy="5264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916250">
                  <a:extLst>
                    <a:ext uri="{9D8B030D-6E8A-4147-A177-3AD203B41FA5}">
                      <a16:colId xmlns:a16="http://schemas.microsoft.com/office/drawing/2014/main" val="1046455315"/>
                    </a:ext>
                  </a:extLst>
                </a:gridCol>
                <a:gridCol w="838332">
                  <a:extLst>
                    <a:ext uri="{9D8B030D-6E8A-4147-A177-3AD203B41FA5}">
                      <a16:colId xmlns:a16="http://schemas.microsoft.com/office/drawing/2014/main" val="1687158871"/>
                    </a:ext>
                  </a:extLst>
                </a:gridCol>
                <a:gridCol w="2201408">
                  <a:extLst>
                    <a:ext uri="{9D8B030D-6E8A-4147-A177-3AD203B41FA5}">
                      <a16:colId xmlns:a16="http://schemas.microsoft.com/office/drawing/2014/main" val="263035580"/>
                    </a:ext>
                  </a:extLst>
                </a:gridCol>
                <a:gridCol w="1227592">
                  <a:extLst>
                    <a:ext uri="{9D8B030D-6E8A-4147-A177-3AD203B41FA5}">
                      <a16:colId xmlns:a16="http://schemas.microsoft.com/office/drawing/2014/main" val="4056306273"/>
                    </a:ext>
                  </a:extLst>
                </a:gridCol>
                <a:gridCol w="1812148">
                  <a:extLst>
                    <a:ext uri="{9D8B030D-6E8A-4147-A177-3AD203B41FA5}">
                      <a16:colId xmlns:a16="http://schemas.microsoft.com/office/drawing/2014/main" val="329124393"/>
                    </a:ext>
                  </a:extLst>
                </a:gridCol>
                <a:gridCol w="1519870">
                  <a:extLst>
                    <a:ext uri="{9D8B030D-6E8A-4147-A177-3AD203B41FA5}">
                      <a16:colId xmlns:a16="http://schemas.microsoft.com/office/drawing/2014/main" val="2603204388"/>
                    </a:ext>
                  </a:extLst>
                </a:gridCol>
              </a:tblGrid>
              <a:tr h="27547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dataset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query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>
                          <a:effectLst/>
                        </a:rPr>
                        <a:t>G2AIMD (pingpong)</a:t>
                      </a:r>
                      <a:endParaRPr lang="en-US" sz="1600" b="1" i="0" u="none" strike="noStrike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effectLst/>
                        </a:rPr>
                        <a:t>-layered</a:t>
                      </a:r>
                      <a:endParaRPr lang="en-US" sz="1600" b="1" i="0" u="none" strike="noStrike" dirty="0">
                        <a:solidFill>
                          <a:srgbClr val="FFFFFF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-hybrid-drop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solidFill>
                            <a:srgbClr val="C00000"/>
                          </a:solidFill>
                          <a:effectLst/>
                        </a:rPr>
                        <a:t>gpu</a:t>
                      </a: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-hybrid-copy</a:t>
                      </a:r>
                      <a:endParaRPr lang="en-US" sz="1600" b="1" i="0" u="none" strike="noStrike" dirty="0">
                        <a:solidFill>
                          <a:srgbClr val="C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1927394708"/>
                  </a:ext>
                </a:extLst>
              </a:tr>
              <a:tr h="24697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600" u="none" strike="noStrike" dirty="0" err="1">
                          <a:effectLst/>
                        </a:rPr>
                        <a:t>zhishi-baidu-internallink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6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effectLst/>
                        </a:rPr>
                        <a:t>42.5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558.7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600" u="none" strike="noStrike" dirty="0">
                          <a:solidFill>
                            <a:srgbClr val="C00000"/>
                          </a:solidFill>
                          <a:effectLst/>
                        </a:rPr>
                        <a:t>507.6</a:t>
                      </a:r>
                      <a:endParaRPr lang="en-US" sz="1600" b="0" i="0" u="none" strike="noStrike" dirty="0">
                        <a:solidFill>
                          <a:srgbClr val="C00000"/>
                        </a:solidFill>
                        <a:effectLst/>
                        <a:latin typeface="Monaco" pitchFamily="2" charset="77"/>
                      </a:endParaRPr>
                    </a:p>
                  </a:txBody>
                  <a:tcPr marL="7124" marR="7124" marT="7124" marB="0" anchor="b"/>
                </a:tc>
                <a:extLst>
                  <a:ext uri="{0D108BD9-81ED-4DB2-BD59-A6C34878D82A}">
                    <a16:rowId xmlns:a16="http://schemas.microsoft.com/office/drawing/2014/main" val="2305100746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BB84B85-9C29-14C3-9295-F96DCFB2D293}"/>
              </a:ext>
            </a:extLst>
          </p:cNvPr>
          <p:cNvSpPr txBox="1"/>
          <p:nvPr/>
        </p:nvSpPr>
        <p:spPr>
          <a:xfrm>
            <a:off x="1091046" y="3910553"/>
            <a:ext cx="77204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 both hybrid modes, overflow tasks spill to the host buffer when device memory is full, causing significant overhead. </a:t>
            </a:r>
          </a:p>
        </p:txBody>
      </p:sp>
    </p:spTree>
    <p:extLst>
      <p:ext uri="{BB962C8B-B14F-4D97-AF65-F5344CB8AC3E}">
        <p14:creationId xmlns:p14="http://schemas.microsoft.com/office/powerpoint/2010/main" val="6985454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24339</TotalTime>
  <Words>516</Words>
  <Application>Microsoft Macintosh PowerPoint</Application>
  <PresentationFormat>Widescreen</PresentationFormat>
  <Paragraphs>174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Aptos</vt:lpstr>
      <vt:lpstr>Aptos Display</vt:lpstr>
      <vt:lpstr>Aptos Narrow</vt:lpstr>
      <vt:lpstr>Arial</vt:lpstr>
      <vt:lpstr>Monaco</vt:lpstr>
      <vt:lpstr>Wingdings</vt:lpstr>
      <vt:lpstr>Office Theme</vt:lpstr>
      <vt:lpstr>Managed Memory Spill Buffer</vt:lpstr>
      <vt:lpstr>Host Resident Buffer</vt:lpstr>
      <vt:lpstr>Host Resident Buffer – Downside </vt:lpstr>
      <vt:lpstr>Quasi Clique Application</vt:lpstr>
      <vt:lpstr>Results - MQC</vt:lpstr>
      <vt:lpstr>Scratch Buffer</vt:lpstr>
      <vt:lpstr>Scratch Buffer</vt:lpstr>
      <vt:lpstr>Handlink Big Tasks</vt:lpstr>
      <vt:lpstr>Update CPU Worker</vt:lpstr>
      <vt:lpstr>Why CPU is much faster than GPU? </vt:lpstr>
      <vt:lpstr>Why hybrid-copy is faster than layered?</vt:lpstr>
      <vt:lpstr>Why hybrid-drop is slower than layered?</vt:lpstr>
      <vt:lpstr>Why hybrid is slower than layered? (SM)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Ahmad, Akhlaque</dc:creator>
  <cp:lastModifiedBy>Ahmad, Akhlaque</cp:lastModifiedBy>
  <cp:revision>7</cp:revision>
  <dcterms:created xsi:type="dcterms:W3CDTF">2026-04-20T02:32:18Z</dcterms:created>
  <dcterms:modified xsi:type="dcterms:W3CDTF">2026-07-16T02:44:40Z</dcterms:modified>
</cp:coreProperties>
</file>