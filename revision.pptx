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9" r:id="rId4"/>
    <p:sldId id="260" r:id="rId5"/>
    <p:sldId id="266" r:id="rId6"/>
    <p:sldId id="267" r:id="rId7"/>
    <p:sldId id="268" r:id="rId8"/>
    <p:sldId id="262" r:id="rId9"/>
    <p:sldId id="263" r:id="rId10"/>
    <p:sldId id="264" r:id="rId11"/>
    <p:sldId id="265" r:id="rId12"/>
    <p:sldId id="271" r:id="rId13"/>
    <p:sldId id="272" r:id="rId14"/>
    <p:sldId id="273" r:id="rId15"/>
    <p:sldId id="284" r:id="rId16"/>
    <p:sldId id="274" r:id="rId17"/>
    <p:sldId id="280" r:id="rId18"/>
    <p:sldId id="285" r:id="rId19"/>
    <p:sldId id="287" r:id="rId20"/>
    <p:sldId id="288" r:id="rId21"/>
    <p:sldId id="289" r:id="rId22"/>
    <p:sldId id="290" r:id="rId23"/>
    <p:sldId id="291" r:id="rId24"/>
    <p:sldId id="275" r:id="rId25"/>
    <p:sldId id="281" r:id="rId26"/>
    <p:sldId id="283" r:id="rId27"/>
    <p:sldId id="258" r:id="rId28"/>
    <p:sldId id="276" r:id="rId29"/>
    <p:sldId id="277" r:id="rId30"/>
    <p:sldId id="292" r:id="rId31"/>
    <p:sldId id="282" r:id="rId32"/>
    <p:sldId id="278" r:id="rId33"/>
    <p:sldId id="279" r:id="rId34"/>
    <p:sldId id="293" r:id="rId35"/>
    <p:sldId id="294" r:id="rId36"/>
    <p:sldId id="299" r:id="rId37"/>
    <p:sldId id="298" r:id="rId38"/>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D113A9D2-9D6B-4929-AA2D-F23B5EE8CBE7}" styleName="Themed Style 2 - Accent 1">
    <a:tblBg>
      <a:fillRef idx="3">
        <a:schemeClr val="accent1"/>
      </a:fillRef>
      <a:effectRef idx="3">
        <a:schemeClr val="accent1"/>
      </a:effectRef>
    </a:tblBg>
    <a:wholeTbl>
      <a:tcTxStyle>
        <a:fontRef idx="minor">
          <a:scrgbClr r="0" g="0" b="0"/>
        </a:fontRef>
        <a:schemeClr val="lt1"/>
      </a:tcTxStyle>
      <a:tcStyle>
        <a:tcBdr>
          <a:left>
            <a:lnRef idx="1">
              <a:schemeClr val="accent1">
                <a:tint val="50000"/>
              </a:schemeClr>
            </a:lnRef>
          </a:left>
          <a:right>
            <a:lnRef idx="1">
              <a:schemeClr val="accent1">
                <a:tint val="50000"/>
              </a:schemeClr>
            </a:lnRef>
          </a:right>
          <a:top>
            <a:lnRef idx="1">
              <a:schemeClr val="accent1">
                <a:tint val="50000"/>
              </a:schemeClr>
            </a:lnRef>
          </a:top>
          <a:bottom>
            <a:lnRef idx="1">
              <a:schemeClr val="accent1">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E3FDE45-AF77-4B5C-9715-49D594BDF05E}" styleName="Light Style 1 - Accent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925"/>
    <p:restoredTop sz="96512"/>
  </p:normalViewPr>
  <p:slideViewPr>
    <p:cSldViewPr snapToGrid="0">
      <p:cViewPr>
        <p:scale>
          <a:sx n="140" d="100"/>
          <a:sy n="140" d="100"/>
        </p:scale>
        <p:origin x="160" y="8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48FCC2-6CD8-C9EF-9FD9-D3693D9448E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EAC65EE2-2ECC-3C5C-E866-91AFD6F2A6D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6D65A4D6-D480-B7AA-462C-03479678F293}"/>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46281B43-B5E3-F9F5-4BF7-15672D6C4E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2CEBFAE-E1AF-CFCE-DD68-F96DB479248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675436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12EFD9-C212-57F7-C85C-17D2C0195C0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696B25D-889A-32AF-FD02-62323B2392A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9DC122E-5C2F-7599-9C0C-C81C37063E60}"/>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CC13A8F1-2B9E-4725-EFFD-6286B3C3C5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F8A8AEA-D89A-C65E-6B73-78CAC1E5A5B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38317105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B1B904F-AEDE-9839-0BE6-BB84006BCEE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C172CCF4-78F7-2967-9BEE-F0029E63F84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EEB11E9-1125-8EFD-A225-B22CE23E9735}"/>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469D144D-8070-C6C6-C791-402CA27E00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59764B6-4E8E-B9BD-C1EA-316DEA9DB75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28683566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F637286-6F42-64A7-D03A-6C399084F26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8FA1AE32-BCEE-B1A0-EE6F-F6F55B145CD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459F491-69FC-7F77-3A37-42F1A76C32C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77AE3E9-5EE1-81DD-58BD-5C991033660C}"/>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97D8C946-B4F6-249B-E976-E04A6ED3DE5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35ECEFFC-D441-9F53-1741-A51888F66A4A}"/>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9476010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CC61A-F181-73CD-E382-60A5878DB281}"/>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09A9D8A-1AA3-7E64-9B9C-76C5AED8FF4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58045CBA-7265-5D6C-9E9A-0E37B41D169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F29C13A-C48A-73F6-D370-4D7D666B2389}"/>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3490D0D-B6E1-74D5-B586-C29B4DC4F7F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80A82CF-7E6F-621E-63BC-9BE6B59A4007}"/>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8" name="Footer Placeholder 7">
            <a:extLst>
              <a:ext uri="{FF2B5EF4-FFF2-40B4-BE49-F238E27FC236}">
                <a16:creationId xmlns:a16="http://schemas.microsoft.com/office/drawing/2014/main" id="{132AF6FC-14F0-F557-8B55-689C7C922D07}"/>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3072CCC6-C83A-CC6A-88D8-89B4197AAE95}"/>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84786967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F026FB-F82C-4ECD-EB69-75E1B92D8DE9}"/>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7756E7C-69BE-9C46-C5B3-CC2291FD270F}"/>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4" name="Footer Placeholder 3">
            <a:extLst>
              <a:ext uri="{FF2B5EF4-FFF2-40B4-BE49-F238E27FC236}">
                <a16:creationId xmlns:a16="http://schemas.microsoft.com/office/drawing/2014/main" id="{898C6168-9855-84F7-8D7A-52ADE7D3657D}"/>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5FFD3A02-888B-5D8B-BD28-D8DE5D6B30C0}"/>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1684567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C168F61-DF89-4755-8555-26EDFDCB7831}"/>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3" name="Footer Placeholder 2">
            <a:extLst>
              <a:ext uri="{FF2B5EF4-FFF2-40B4-BE49-F238E27FC236}">
                <a16:creationId xmlns:a16="http://schemas.microsoft.com/office/drawing/2014/main" id="{EBFA70ED-39AF-DD47-5C8E-45F184ED259D}"/>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0D3031C-7849-FFAB-D7BE-9C2FAE3C8AF2}"/>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27083018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2F478F-B1FA-7BDB-36C3-DDFA14488A9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A6EE8B-229B-997D-A171-01118C99077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F07C8B40-0B36-CBEB-2BB4-1879690CF49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FF7929D-C037-AD47-C5AF-BE76D23FDE3E}"/>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7E95A27F-6260-CD0A-0846-D3952688C62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41465D-9A18-8876-B0A2-94A040FCA3C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68059647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74DD0D-7A26-5E7B-BBEF-E1465807030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0C8715F-8281-44AB-619D-17EC6CC42C78}"/>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461771F-8D88-6066-1062-E7D4F3BF663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BD819B4-46CC-D375-BC23-78F2E9FA854F}"/>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6" name="Footer Placeholder 5">
            <a:extLst>
              <a:ext uri="{FF2B5EF4-FFF2-40B4-BE49-F238E27FC236}">
                <a16:creationId xmlns:a16="http://schemas.microsoft.com/office/drawing/2014/main" id="{1BE625E3-9979-3408-C588-FD39F37D4D0C}"/>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66AC7B0-ACE9-5947-8FDA-879F59A05107}"/>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401535136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DCC66FA-D9E8-3C3F-7980-CA28F9FA4A0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3058B1F-270F-FF14-46CD-8D7AEF1FC0D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E56D945-880A-E7FF-96F4-8EEF81BE9212}"/>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030E45BF-986F-C31E-50E1-DB0216129BB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44A82DD-4FF2-886E-A92B-F01AE9793606}"/>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04107808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94399E1-9F0D-61B4-3F00-B7F43D64CBB5}"/>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F9140E4-11D8-A7C7-0F62-FDABD2CCDA1C}"/>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8262A7-0A29-0070-16A4-999F3B003A34}"/>
              </a:ext>
            </a:extLst>
          </p:cNvPr>
          <p:cNvSpPr>
            <a:spLocks noGrp="1"/>
          </p:cNvSpPr>
          <p:nvPr>
            <p:ph type="dt" sz="half" idx="10"/>
          </p:nvPr>
        </p:nvSpPr>
        <p:spPr/>
        <p:txBody>
          <a:body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3D378B2C-0EC6-8B88-BE71-DC9C3EC6429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064FFF9F-FF47-1654-7F28-2EC6A6256CEB}"/>
              </a:ext>
            </a:extLst>
          </p:cNvPr>
          <p:cNvSpPr>
            <a:spLocks noGrp="1"/>
          </p:cNvSpPr>
          <p:nvPr>
            <p:ph type="sldNum" sz="quarter" idx="12"/>
          </p:nvPr>
        </p:nvSpPr>
        <p:spPr/>
        <p:txBody>
          <a:bodyPr/>
          <a:lstStyle/>
          <a:p>
            <a:fld id="{902FDC34-D7BB-C24E-8041-A2B20FADB551}" type="slidenum">
              <a:rPr lang="en-US" smtClean="0"/>
              <a:t>‹#›</a:t>
            </a:fld>
            <a:endParaRPr lang="en-US"/>
          </a:p>
        </p:txBody>
      </p:sp>
    </p:spTree>
    <p:extLst>
      <p:ext uri="{BB962C8B-B14F-4D97-AF65-F5344CB8AC3E}">
        <p14:creationId xmlns:p14="http://schemas.microsoft.com/office/powerpoint/2010/main" val="11522716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EAA00FA-5594-4369-5228-B9B0CB88416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B93CEC81-0E19-3B5C-992C-7188030D645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74B29A-EA94-D501-3D91-A94AE1366C7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F584DAC-AA37-8C49-B5B6-53E9519E19BB}" type="datetimeFigureOut">
              <a:rPr lang="en-US" smtClean="0"/>
              <a:t>8/14/26</a:t>
            </a:fld>
            <a:endParaRPr lang="en-US"/>
          </a:p>
        </p:txBody>
      </p:sp>
      <p:sp>
        <p:nvSpPr>
          <p:cNvPr id="5" name="Footer Placeholder 4">
            <a:extLst>
              <a:ext uri="{FF2B5EF4-FFF2-40B4-BE49-F238E27FC236}">
                <a16:creationId xmlns:a16="http://schemas.microsoft.com/office/drawing/2014/main" id="{0C2B5945-053E-B5ED-4102-14373FB57B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324FC8C2-BFDA-B1DB-E344-F18838133F3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02FDC34-D7BB-C24E-8041-A2B20FADB551}" type="slidenum">
              <a:rPr lang="en-US" smtClean="0"/>
              <a:t>‹#›</a:t>
            </a:fld>
            <a:endParaRPr lang="en-US"/>
          </a:p>
        </p:txBody>
      </p:sp>
    </p:spTree>
    <p:extLst>
      <p:ext uri="{BB962C8B-B14F-4D97-AF65-F5344CB8AC3E}">
        <p14:creationId xmlns:p14="http://schemas.microsoft.com/office/powerpoint/2010/main" val="222937845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34.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39583BC5-4C6B-8910-76B7-242970843B06}"/>
              </a:ext>
            </a:extLst>
          </p:cNvPr>
          <p:cNvSpPr>
            <a:spLocks noGrp="1"/>
          </p:cNvSpPr>
          <p:nvPr>
            <p:ph type="title"/>
          </p:nvPr>
        </p:nvSpPr>
        <p:spPr/>
        <p:txBody>
          <a:bodyPr/>
          <a:lstStyle/>
          <a:p>
            <a:r>
              <a:rPr lang="en-US"/>
              <a:t>Managed Memory Spill Buffer</a:t>
            </a:r>
            <a:endParaRPr lang="en-US" dirty="0"/>
          </a:p>
        </p:txBody>
      </p:sp>
      <p:pic>
        <p:nvPicPr>
          <p:cNvPr id="7" name="Content Placeholder 6">
            <a:extLst>
              <a:ext uri="{FF2B5EF4-FFF2-40B4-BE49-F238E27FC236}">
                <a16:creationId xmlns:a16="http://schemas.microsoft.com/office/drawing/2014/main" id="{032683D2-412B-E49D-3E90-10F604088AA7}"/>
              </a:ext>
            </a:extLst>
          </p:cNvPr>
          <p:cNvPicPr>
            <a:picLocks noGrp="1" noChangeAspect="1"/>
          </p:cNvPicPr>
          <p:nvPr>
            <p:ph idx="1"/>
          </p:nvPr>
        </p:nvPicPr>
        <p:blipFill>
          <a:blip r:embed="rId2"/>
          <a:stretch>
            <a:fillRect/>
          </a:stretch>
        </p:blipFill>
        <p:spPr>
          <a:xfrm>
            <a:off x="2279650" y="1690688"/>
            <a:ext cx="7632700" cy="2628900"/>
          </a:xfrm>
          <a:prstGeom prst="rect">
            <a:avLst/>
          </a:prstGeom>
        </p:spPr>
      </p:pic>
      <p:sp>
        <p:nvSpPr>
          <p:cNvPr id="8" name="TextBox 7">
            <a:extLst>
              <a:ext uri="{FF2B5EF4-FFF2-40B4-BE49-F238E27FC236}">
                <a16:creationId xmlns:a16="http://schemas.microsoft.com/office/drawing/2014/main" id="{9C0E8320-6BF3-0868-0178-705E89D0131E}"/>
              </a:ext>
            </a:extLst>
          </p:cNvPr>
          <p:cNvSpPr txBox="1"/>
          <p:nvPr/>
        </p:nvSpPr>
        <p:spPr>
          <a:xfrm>
            <a:off x="2627586" y="4845269"/>
            <a:ext cx="5184946" cy="1754326"/>
          </a:xfrm>
          <a:prstGeom prst="rect">
            <a:avLst/>
          </a:prstGeom>
          <a:noFill/>
        </p:spPr>
        <p:txBody>
          <a:bodyPr wrap="none" rtlCol="0">
            <a:spAutoFit/>
          </a:bodyPr>
          <a:lstStyle/>
          <a:p>
            <a:r>
              <a:rPr lang="en-US"/>
              <a:t>Too slow to read/write to managed memory buffer. </a:t>
            </a:r>
            <a:endParaRPr lang="en-US" dirty="0"/>
          </a:p>
          <a:p>
            <a:r>
              <a:rPr lang="en-US" b="1" dirty="0"/>
              <a:t>Example:</a:t>
            </a:r>
          </a:p>
          <a:p>
            <a:endParaRPr lang="en-US" b="1" dirty="0"/>
          </a:p>
          <a:p>
            <a:r>
              <a:rPr lang="en-US" b="1" dirty="0" err="1"/>
              <a:t>wikipedia_link_ru</a:t>
            </a:r>
            <a:endParaRPr lang="en-US" b="1" dirty="0"/>
          </a:p>
          <a:p>
            <a:r>
              <a:rPr lang="en-US"/>
              <a:t>total run time: 105.2 sec </a:t>
            </a:r>
            <a:endParaRPr lang="en-US" dirty="0"/>
          </a:p>
          <a:p>
            <a:r>
              <a:rPr lang="en-US"/>
              <a:t>host buffer read</a:t>
            </a:r>
            <a:r>
              <a:rPr lang="en-US" dirty="0"/>
              <a:t>/</a:t>
            </a:r>
            <a:r>
              <a:rPr lang="en-US"/>
              <a:t>write: 20.3 sec</a:t>
            </a:r>
            <a:endParaRPr lang="en-US" dirty="0"/>
          </a:p>
        </p:txBody>
      </p:sp>
    </p:spTree>
    <p:extLst>
      <p:ext uri="{BB962C8B-B14F-4D97-AF65-F5344CB8AC3E}">
        <p14:creationId xmlns:p14="http://schemas.microsoft.com/office/powerpoint/2010/main" val="202235700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4C8055-AC4B-5124-0509-8DA608A7DA3E}"/>
              </a:ext>
            </a:extLst>
          </p:cNvPr>
          <p:cNvSpPr>
            <a:spLocks noGrp="1"/>
          </p:cNvSpPr>
          <p:nvPr>
            <p:ph type="title"/>
          </p:nvPr>
        </p:nvSpPr>
        <p:spPr/>
        <p:txBody>
          <a:bodyPr/>
          <a:lstStyle/>
          <a:p>
            <a:r>
              <a:rPr lang="en-US"/>
              <a:t>Host Resident Buffer</a:t>
            </a:r>
            <a:endParaRPr lang="en-US" dirty="0"/>
          </a:p>
        </p:txBody>
      </p:sp>
      <p:sp>
        <p:nvSpPr>
          <p:cNvPr id="3" name="Content Placeholder 2">
            <a:extLst>
              <a:ext uri="{FF2B5EF4-FFF2-40B4-BE49-F238E27FC236}">
                <a16:creationId xmlns:a16="http://schemas.microsoft.com/office/drawing/2014/main" id="{D1F3F9EF-384A-6025-F4AC-E25DAFB4FCA0}"/>
              </a:ext>
            </a:extLst>
          </p:cNvPr>
          <p:cNvSpPr>
            <a:spLocks noGrp="1"/>
          </p:cNvSpPr>
          <p:nvPr>
            <p:ph idx="1"/>
          </p:nvPr>
        </p:nvSpPr>
        <p:spPr>
          <a:xfrm>
            <a:off x="838200" y="1825625"/>
            <a:ext cx="10515600" cy="1853734"/>
          </a:xfrm>
        </p:spPr>
        <p:txBody>
          <a:bodyPr/>
          <a:lstStyle/>
          <a:p>
            <a:r>
              <a:rPr lang="en-US"/>
              <a:t>Create with </a:t>
            </a:r>
            <a:r>
              <a:rPr lang="en-US" b="1"/>
              <a:t>new</a:t>
            </a:r>
            <a:r>
              <a:rPr lang="en-US"/>
              <a:t> </a:t>
            </a:r>
            <a:endParaRPr lang="en-US" dirty="0"/>
          </a:p>
          <a:p>
            <a:r>
              <a:rPr lang="en-US"/>
              <a:t>After returning from kernel, copy data to/from host buffer</a:t>
            </a:r>
            <a:endParaRPr lang="en-US" dirty="0"/>
          </a:p>
          <a:p>
            <a:r>
              <a:rPr lang="en-US"/>
              <a:t>Bulk copy data instead of copying each subgraph</a:t>
            </a:r>
            <a:endParaRPr lang="en-US" dirty="0"/>
          </a:p>
          <a:p>
            <a:pPr marL="0" indent="0">
              <a:buNone/>
            </a:pPr>
            <a:endParaRPr lang="en-US" dirty="0"/>
          </a:p>
        </p:txBody>
      </p:sp>
      <p:sp>
        <p:nvSpPr>
          <p:cNvPr id="5" name="TextBox 4">
            <a:extLst>
              <a:ext uri="{FF2B5EF4-FFF2-40B4-BE49-F238E27FC236}">
                <a16:creationId xmlns:a16="http://schemas.microsoft.com/office/drawing/2014/main" id="{91B173A4-D879-8F03-F25D-E7815C89E0E5}"/>
              </a:ext>
            </a:extLst>
          </p:cNvPr>
          <p:cNvSpPr txBox="1"/>
          <p:nvPr/>
        </p:nvSpPr>
        <p:spPr>
          <a:xfrm>
            <a:off x="1135117" y="4942490"/>
            <a:ext cx="6096000" cy="923330"/>
          </a:xfrm>
          <a:prstGeom prst="rect">
            <a:avLst/>
          </a:prstGeom>
          <a:noFill/>
        </p:spPr>
        <p:txBody>
          <a:bodyPr wrap="square">
            <a:spAutoFit/>
          </a:bodyPr>
          <a:lstStyle/>
          <a:p>
            <a:r>
              <a:rPr lang="en-US" b="1" dirty="0" err="1"/>
              <a:t>wikipedia_link_ru</a:t>
            </a:r>
            <a:endParaRPr lang="en-US" b="1" dirty="0"/>
          </a:p>
          <a:p>
            <a:r>
              <a:rPr lang="en-US"/>
              <a:t>total run time: 76.6 sec </a:t>
            </a:r>
            <a:endParaRPr lang="en-US" dirty="0"/>
          </a:p>
          <a:p>
            <a:r>
              <a:rPr lang="en-US"/>
              <a:t>host buffer read</a:t>
            </a:r>
            <a:r>
              <a:rPr lang="en-US" dirty="0"/>
              <a:t>/</a:t>
            </a:r>
            <a:r>
              <a:rPr lang="en-US"/>
              <a:t>write: 1.3 sec</a:t>
            </a:r>
            <a:endParaRPr lang="en-US" dirty="0"/>
          </a:p>
        </p:txBody>
      </p:sp>
      <p:sp>
        <p:nvSpPr>
          <p:cNvPr id="7" name="Rectangle 6">
            <a:extLst>
              <a:ext uri="{FF2B5EF4-FFF2-40B4-BE49-F238E27FC236}">
                <a16:creationId xmlns:a16="http://schemas.microsoft.com/office/drawing/2014/main" id="{ADEFBDFB-41DF-7F29-62B9-ECD1A2DD775A}"/>
              </a:ext>
            </a:extLst>
          </p:cNvPr>
          <p:cNvSpPr/>
          <p:nvPr/>
        </p:nvSpPr>
        <p:spPr>
          <a:xfrm>
            <a:off x="6369270" y="4001294"/>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8" name="Rectangle 7">
            <a:extLst>
              <a:ext uri="{FF2B5EF4-FFF2-40B4-BE49-F238E27FC236}">
                <a16:creationId xmlns:a16="http://schemas.microsoft.com/office/drawing/2014/main" id="{4CCA4AD0-905A-73B5-2396-1B60E26A33B2}"/>
              </a:ext>
            </a:extLst>
          </p:cNvPr>
          <p:cNvSpPr/>
          <p:nvPr/>
        </p:nvSpPr>
        <p:spPr>
          <a:xfrm>
            <a:off x="6369269" y="4691091"/>
            <a:ext cx="5281447"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9" name="Rectangle 8">
            <a:extLst>
              <a:ext uri="{FF2B5EF4-FFF2-40B4-BE49-F238E27FC236}">
                <a16:creationId xmlns:a16="http://schemas.microsoft.com/office/drawing/2014/main" id="{B997D780-A2CF-ADE2-2254-21FE67E594F0}"/>
              </a:ext>
            </a:extLst>
          </p:cNvPr>
          <p:cNvSpPr/>
          <p:nvPr/>
        </p:nvSpPr>
        <p:spPr>
          <a:xfrm>
            <a:off x="6453353"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4DF4DC7D-F514-61BA-B92D-3CAC78907D58}"/>
              </a:ext>
            </a:extLst>
          </p:cNvPr>
          <p:cNvSpPr/>
          <p:nvPr/>
        </p:nvSpPr>
        <p:spPr>
          <a:xfrm>
            <a:off x="6716112"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8366C9C8-6328-FFE2-28BC-DDA56EF2F51E}"/>
              </a:ext>
            </a:extLst>
          </p:cNvPr>
          <p:cNvSpPr/>
          <p:nvPr/>
        </p:nvSpPr>
        <p:spPr>
          <a:xfrm>
            <a:off x="6978871"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97CB73C-AF4D-75B5-9FF0-C8A040C2A12F}"/>
              </a:ext>
            </a:extLst>
          </p:cNvPr>
          <p:cNvSpPr/>
          <p:nvPr/>
        </p:nvSpPr>
        <p:spPr>
          <a:xfrm>
            <a:off x="7241630"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DDC9702-9889-7364-6CE6-71121028C96E}"/>
              </a:ext>
            </a:extLst>
          </p:cNvPr>
          <p:cNvSpPr/>
          <p:nvPr/>
        </p:nvSpPr>
        <p:spPr>
          <a:xfrm>
            <a:off x="7504389"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9045F749-FD06-0D3D-7909-D2347A5FE9F5}"/>
              </a:ext>
            </a:extLst>
          </p:cNvPr>
          <p:cNvSpPr/>
          <p:nvPr/>
        </p:nvSpPr>
        <p:spPr>
          <a:xfrm>
            <a:off x="7767148" y="4051803"/>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2ABB24A6-520A-8390-DD38-29421AA7B233}"/>
              </a:ext>
            </a:extLst>
          </p:cNvPr>
          <p:cNvSpPr/>
          <p:nvPr/>
        </p:nvSpPr>
        <p:spPr>
          <a:xfrm>
            <a:off x="7252141"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F4A72DB4-0476-BAE8-979B-CA1FA6C5B484}"/>
              </a:ext>
            </a:extLst>
          </p:cNvPr>
          <p:cNvSpPr/>
          <p:nvPr/>
        </p:nvSpPr>
        <p:spPr>
          <a:xfrm>
            <a:off x="7514900"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5E183DA3-803D-4514-6E30-05674FA14CED}"/>
              </a:ext>
            </a:extLst>
          </p:cNvPr>
          <p:cNvSpPr/>
          <p:nvPr/>
        </p:nvSpPr>
        <p:spPr>
          <a:xfrm>
            <a:off x="7777659"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A77F7D2-A995-61AE-E9F2-6048D1D7A137}"/>
              </a:ext>
            </a:extLst>
          </p:cNvPr>
          <p:cNvSpPr/>
          <p:nvPr/>
        </p:nvSpPr>
        <p:spPr>
          <a:xfrm>
            <a:off x="8040418"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A890374B-097C-5122-CBAD-2915914995C4}"/>
              </a:ext>
            </a:extLst>
          </p:cNvPr>
          <p:cNvSpPr/>
          <p:nvPr/>
        </p:nvSpPr>
        <p:spPr>
          <a:xfrm>
            <a:off x="8303177"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87CEC49-1F7E-1E80-E876-1E69912CAB70}"/>
              </a:ext>
            </a:extLst>
          </p:cNvPr>
          <p:cNvSpPr/>
          <p:nvPr/>
        </p:nvSpPr>
        <p:spPr>
          <a:xfrm>
            <a:off x="8565936" y="4748964"/>
            <a:ext cx="178676" cy="266844"/>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7D979762-27FC-9B1F-8300-846E2E53A02D}"/>
              </a:ext>
            </a:extLst>
          </p:cNvPr>
          <p:cNvSpPr txBox="1"/>
          <p:nvPr/>
        </p:nvSpPr>
        <p:spPr>
          <a:xfrm>
            <a:off x="6096000" y="3666756"/>
            <a:ext cx="798786" cy="369332"/>
          </a:xfrm>
          <a:prstGeom prst="rect">
            <a:avLst/>
          </a:prstGeom>
          <a:noFill/>
        </p:spPr>
        <p:txBody>
          <a:bodyPr wrap="square">
            <a:spAutoFit/>
          </a:bodyPr>
          <a:lstStyle/>
          <a:p>
            <a:pPr algn="ctr"/>
            <a:r>
              <a:rPr lang="en-US" dirty="0" err="1"/>
              <a:t>Brd</a:t>
            </a:r>
            <a:endParaRPr lang="en-US" dirty="0"/>
          </a:p>
        </p:txBody>
      </p:sp>
      <p:sp>
        <p:nvSpPr>
          <p:cNvPr id="23" name="TextBox 22">
            <a:extLst>
              <a:ext uri="{FF2B5EF4-FFF2-40B4-BE49-F238E27FC236}">
                <a16:creationId xmlns:a16="http://schemas.microsoft.com/office/drawing/2014/main" id="{05758331-BB25-1684-0F06-17283CFB3658}"/>
              </a:ext>
            </a:extLst>
          </p:cNvPr>
          <p:cNvSpPr txBox="1"/>
          <p:nvPr/>
        </p:nvSpPr>
        <p:spPr>
          <a:xfrm>
            <a:off x="6001409" y="4379632"/>
            <a:ext cx="798786" cy="369332"/>
          </a:xfrm>
          <a:prstGeom prst="rect">
            <a:avLst/>
          </a:prstGeom>
          <a:noFill/>
        </p:spPr>
        <p:txBody>
          <a:bodyPr wrap="square">
            <a:spAutoFit/>
          </a:bodyPr>
          <a:lstStyle/>
          <a:p>
            <a:pPr algn="ctr"/>
            <a:r>
              <a:rPr lang="en-US" dirty="0"/>
              <a:t>H</a:t>
            </a:r>
          </a:p>
        </p:txBody>
      </p:sp>
      <p:sp>
        <p:nvSpPr>
          <p:cNvPr id="24" name="Rectangle 23">
            <a:extLst>
              <a:ext uri="{FF2B5EF4-FFF2-40B4-BE49-F238E27FC236}">
                <a16:creationId xmlns:a16="http://schemas.microsoft.com/office/drawing/2014/main" id="{FCFCB574-DD58-2725-E233-047340E09CB3}"/>
              </a:ext>
            </a:extLst>
          </p:cNvPr>
          <p:cNvSpPr/>
          <p:nvPr/>
        </p:nvSpPr>
        <p:spPr>
          <a:xfrm>
            <a:off x="6458611"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5" name="Rectangle 24">
            <a:extLst>
              <a:ext uri="{FF2B5EF4-FFF2-40B4-BE49-F238E27FC236}">
                <a16:creationId xmlns:a16="http://schemas.microsoft.com/office/drawing/2014/main" id="{5FB0DF84-B1EE-F287-C1A8-3E3058C29298}"/>
              </a:ext>
            </a:extLst>
          </p:cNvPr>
          <p:cNvSpPr/>
          <p:nvPr/>
        </p:nvSpPr>
        <p:spPr>
          <a:xfrm>
            <a:off x="6721370"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
        <p:nvSpPr>
          <p:cNvPr id="26" name="Rectangle 25">
            <a:extLst>
              <a:ext uri="{FF2B5EF4-FFF2-40B4-BE49-F238E27FC236}">
                <a16:creationId xmlns:a16="http://schemas.microsoft.com/office/drawing/2014/main" id="{0590E2C1-92CB-2B2B-4BB2-1ADC3CEC5873}"/>
              </a:ext>
            </a:extLst>
          </p:cNvPr>
          <p:cNvSpPr/>
          <p:nvPr/>
        </p:nvSpPr>
        <p:spPr>
          <a:xfrm>
            <a:off x="6984129" y="4756913"/>
            <a:ext cx="178676" cy="266844"/>
          </a:xfrm>
          <a:prstGeom prst="rect">
            <a:avLst/>
          </a:prstGeom>
        </p:spPr>
        <p:style>
          <a:lnRef idx="1">
            <a:schemeClr val="dk1"/>
          </a:lnRef>
          <a:fillRef idx="2">
            <a:schemeClr val="dk1"/>
          </a:fillRef>
          <a:effectRef idx="1">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43420661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03FD5-EB14-7CC3-5BB1-285AB4037A82}"/>
              </a:ext>
            </a:extLst>
          </p:cNvPr>
          <p:cNvSpPr>
            <a:spLocks noGrp="1"/>
          </p:cNvSpPr>
          <p:nvPr>
            <p:ph type="title"/>
          </p:nvPr>
        </p:nvSpPr>
        <p:spPr/>
        <p:txBody>
          <a:bodyPr/>
          <a:lstStyle/>
          <a:p>
            <a:r>
              <a:rPr lang="en-US"/>
              <a:t>Quasi Clique Application</a:t>
            </a:r>
            <a:endParaRPr lang="en-US" dirty="0"/>
          </a:p>
        </p:txBody>
      </p:sp>
      <p:pic>
        <p:nvPicPr>
          <p:cNvPr id="5" name="Content Placeholder 4">
            <a:extLst>
              <a:ext uri="{FF2B5EF4-FFF2-40B4-BE49-F238E27FC236}">
                <a16:creationId xmlns:a16="http://schemas.microsoft.com/office/drawing/2014/main" id="{DFAC095E-BF34-B701-4D03-C8F4840B959B}"/>
              </a:ext>
            </a:extLst>
          </p:cNvPr>
          <p:cNvPicPr>
            <a:picLocks noGrp="1" noChangeAspect="1"/>
          </p:cNvPicPr>
          <p:nvPr>
            <p:ph idx="1"/>
          </p:nvPr>
        </p:nvPicPr>
        <p:blipFill>
          <a:blip r:embed="rId2"/>
          <a:stretch>
            <a:fillRect/>
          </a:stretch>
        </p:blipFill>
        <p:spPr>
          <a:xfrm>
            <a:off x="3641600" y="1393191"/>
            <a:ext cx="4908800" cy="5004489"/>
          </a:xfrm>
          <a:prstGeom prst="rect">
            <a:avLst/>
          </a:prstGeom>
        </p:spPr>
      </p:pic>
    </p:spTree>
    <p:extLst>
      <p:ext uri="{BB962C8B-B14F-4D97-AF65-F5344CB8AC3E}">
        <p14:creationId xmlns:p14="http://schemas.microsoft.com/office/powerpoint/2010/main" val="396137503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6" name="Rectangle 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 name="Rectangle 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9F48B0D-AF69-96DE-08CC-BB0DE9568724}"/>
              </a:ext>
            </a:extLst>
          </p:cNvPr>
          <p:cNvSpPr>
            <a:spLocks noGrp="1"/>
          </p:cNvSpPr>
          <p:nvPr>
            <p:ph type="title"/>
          </p:nvPr>
        </p:nvSpPr>
        <p:spPr>
          <a:xfrm>
            <a:off x="1043631" y="809898"/>
            <a:ext cx="10173010" cy="1554480"/>
          </a:xfrm>
        </p:spPr>
        <p:txBody>
          <a:bodyPr anchor="ctr">
            <a:normAutofit/>
          </a:bodyPr>
          <a:lstStyle/>
          <a:p>
            <a:r>
              <a:rPr lang="en-US" sz="4800"/>
              <a:t>Results - MQC</a:t>
            </a:r>
            <a:endParaRPr lang="en-US" sz="4800" dirty="0"/>
          </a:p>
        </p:txBody>
      </p:sp>
      <p:cxnSp>
        <p:nvCxnSpPr>
          <p:cNvPr id="32" name="Straight Connector 3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aphicFrame>
        <p:nvGraphicFramePr>
          <p:cNvPr id="7" name="Content Placeholder 6">
            <a:extLst>
              <a:ext uri="{FF2B5EF4-FFF2-40B4-BE49-F238E27FC236}">
                <a16:creationId xmlns:a16="http://schemas.microsoft.com/office/drawing/2014/main" id="{24799DED-BE63-3006-EA39-C74B5E392FA1}"/>
              </a:ext>
            </a:extLst>
          </p:cNvPr>
          <p:cNvGraphicFramePr>
            <a:graphicFrameLocks noGrp="1"/>
          </p:cNvGraphicFramePr>
          <p:nvPr>
            <p:ph idx="1"/>
            <p:extLst>
              <p:ext uri="{D42A27DB-BD31-4B8C-83A1-F6EECF244321}">
                <p14:modId xmlns:p14="http://schemas.microsoft.com/office/powerpoint/2010/main" val="2172828120"/>
              </p:ext>
            </p:extLst>
          </p:nvPr>
        </p:nvGraphicFramePr>
        <p:xfrm>
          <a:off x="904602" y="3063421"/>
          <a:ext cx="10378445" cy="3118103"/>
        </p:xfrm>
        <a:graphic>
          <a:graphicData uri="http://schemas.openxmlformats.org/drawingml/2006/table">
            <a:tbl>
              <a:tblPr/>
              <a:tblGrid>
                <a:gridCol w="1132150">
                  <a:extLst>
                    <a:ext uri="{9D8B030D-6E8A-4147-A177-3AD203B41FA5}">
                      <a16:colId xmlns:a16="http://schemas.microsoft.com/office/drawing/2014/main" val="2713897327"/>
                    </a:ext>
                  </a:extLst>
                </a:gridCol>
                <a:gridCol w="903797">
                  <a:extLst>
                    <a:ext uri="{9D8B030D-6E8A-4147-A177-3AD203B41FA5}">
                      <a16:colId xmlns:a16="http://schemas.microsoft.com/office/drawing/2014/main" val="2150304406"/>
                    </a:ext>
                  </a:extLst>
                </a:gridCol>
                <a:gridCol w="915816">
                  <a:extLst>
                    <a:ext uri="{9D8B030D-6E8A-4147-A177-3AD203B41FA5}">
                      <a16:colId xmlns:a16="http://schemas.microsoft.com/office/drawing/2014/main" val="2243225001"/>
                    </a:ext>
                  </a:extLst>
                </a:gridCol>
                <a:gridCol w="515197">
                  <a:extLst>
                    <a:ext uri="{9D8B030D-6E8A-4147-A177-3AD203B41FA5}">
                      <a16:colId xmlns:a16="http://schemas.microsoft.com/office/drawing/2014/main" val="2972052075"/>
                    </a:ext>
                  </a:extLst>
                </a:gridCol>
                <a:gridCol w="573286">
                  <a:extLst>
                    <a:ext uri="{9D8B030D-6E8A-4147-A177-3AD203B41FA5}">
                      <a16:colId xmlns:a16="http://schemas.microsoft.com/office/drawing/2014/main" val="1334432183"/>
                    </a:ext>
                  </a:extLst>
                </a:gridCol>
                <a:gridCol w="829683">
                  <a:extLst>
                    <a:ext uri="{9D8B030D-6E8A-4147-A177-3AD203B41FA5}">
                      <a16:colId xmlns:a16="http://schemas.microsoft.com/office/drawing/2014/main" val="2626238600"/>
                    </a:ext>
                  </a:extLst>
                </a:gridCol>
                <a:gridCol w="1102104">
                  <a:extLst>
                    <a:ext uri="{9D8B030D-6E8A-4147-A177-3AD203B41FA5}">
                      <a16:colId xmlns:a16="http://schemas.microsoft.com/office/drawing/2014/main" val="297224623"/>
                    </a:ext>
                  </a:extLst>
                </a:gridCol>
                <a:gridCol w="1290395">
                  <a:extLst>
                    <a:ext uri="{9D8B030D-6E8A-4147-A177-3AD203B41FA5}">
                      <a16:colId xmlns:a16="http://schemas.microsoft.com/office/drawing/2014/main" val="3163159027"/>
                    </a:ext>
                  </a:extLst>
                </a:gridCol>
                <a:gridCol w="931840">
                  <a:extLst>
                    <a:ext uri="{9D8B030D-6E8A-4147-A177-3AD203B41FA5}">
                      <a16:colId xmlns:a16="http://schemas.microsoft.com/office/drawing/2014/main" val="962728455"/>
                    </a:ext>
                  </a:extLst>
                </a:gridCol>
                <a:gridCol w="853720">
                  <a:extLst>
                    <a:ext uri="{9D8B030D-6E8A-4147-A177-3AD203B41FA5}">
                      <a16:colId xmlns:a16="http://schemas.microsoft.com/office/drawing/2014/main" val="3298218237"/>
                    </a:ext>
                  </a:extLst>
                </a:gridCol>
                <a:gridCol w="1330457">
                  <a:extLst>
                    <a:ext uri="{9D8B030D-6E8A-4147-A177-3AD203B41FA5}">
                      <a16:colId xmlns:a16="http://schemas.microsoft.com/office/drawing/2014/main" val="900833380"/>
                    </a:ext>
                  </a:extLst>
                </a:gridCol>
              </a:tblGrid>
              <a:tr h="365846">
                <a:tc>
                  <a:txBody>
                    <a:bodyPr/>
                    <a:lstStyle/>
                    <a:p>
                      <a:pPr algn="l" fontAlgn="b">
                        <a:buNone/>
                      </a:pPr>
                      <a:r>
                        <a:rPr lang="en-US" sz="2000" b="1" i="0" u="none" strike="noStrike" dirty="0">
                          <a:solidFill>
                            <a:srgbClr val="FFFFFF"/>
                          </a:solidFill>
                          <a:effectLst/>
                          <a:latin typeface="Aptos Narrow" panose="020B0004020202020204" pitchFamily="34" charset="0"/>
                        </a:rPr>
                        <a:t>dataset</a:t>
                      </a:r>
                      <a:endParaRPr lang="en-US" sz="2300" b="0" i="0" u="none" strike="noStrike" dirty="0">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V</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E</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θ</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l-GR" sz="2000" b="1" i="0" u="none" strike="noStrike">
                          <a:solidFill>
                            <a:srgbClr val="FFFFFF"/>
                          </a:solidFill>
                          <a:effectLst/>
                          <a:latin typeface="Aptos Narrow" panose="020B0004020202020204" pitchFamily="34" charset="0"/>
                        </a:rPr>
                        <a:t>γ</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#MQC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Gthinker</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DCFastQC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Quick+</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a:solidFill>
                            <a:srgbClr val="FFFFFF"/>
                          </a:solidFill>
                          <a:effectLst/>
                          <a:latin typeface="Aptos Narrow" panose="020B0004020202020204" pitchFamily="34" charset="0"/>
                        </a:rPr>
                        <a:t>cu-QC</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tc>
                  <a:txBody>
                    <a:bodyPr/>
                    <a:lstStyle/>
                    <a:p>
                      <a:pPr algn="l" fontAlgn="b">
                        <a:buNone/>
                      </a:pPr>
                      <a:r>
                        <a:rPr lang="en-US" sz="2000" b="1" i="0" u="none" strike="noStrike" dirty="0">
                          <a:solidFill>
                            <a:srgbClr val="FFFFFF"/>
                          </a:solidFill>
                          <a:effectLst/>
                          <a:latin typeface="Aptos Narrow" panose="020B0004020202020204" pitchFamily="34" charset="0"/>
                        </a:rPr>
                        <a:t>#{</a:t>
                      </a:r>
                      <a:r>
                        <a:rPr lang="en-US" sz="2000" b="1" i="0" u="none" strike="noStrike">
                          <a:solidFill>
                            <a:srgbClr val="FFFFFF"/>
                          </a:solidFill>
                          <a:effectLst/>
                          <a:latin typeface="Aptos Narrow" panose="020B0004020202020204" pitchFamily="34" charset="0"/>
                        </a:rPr>
                        <a:t>cu-QC} </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solidFill>
                      <a:srgbClr val="156082"/>
                    </a:solidFill>
                  </a:tcPr>
                </a:tc>
                <a:extLst>
                  <a:ext uri="{0D108BD9-81ED-4DB2-BD59-A6C34878D82A}">
                    <a16:rowId xmlns:a16="http://schemas.microsoft.com/office/drawing/2014/main" val="3276527003"/>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ca-GrQc</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26,198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14,490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1,665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19</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2360659542"/>
                  </a:ext>
                </a:extLst>
              </a:tr>
              <a:tr h="673521">
                <a:tc>
                  <a:txBody>
                    <a:bodyPr/>
                    <a:lstStyle/>
                    <a:p>
                      <a:pPr algn="l" fontAlgn="b">
                        <a:buNone/>
                      </a:pPr>
                      <a:r>
                        <a:rPr lang="en-US" sz="2000" b="0" i="0" u="none" strike="noStrike">
                          <a:solidFill>
                            <a:srgbClr val="000000"/>
                          </a:solidFill>
                          <a:effectLst/>
                          <a:latin typeface="Aptos Narrow" panose="020B0004020202020204" pitchFamily="34" charset="0"/>
                        </a:rPr>
                        <a:t>condmat-dimacs</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39,577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175,691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7,222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2.2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500" b="0" i="0" u="none" strike="noStrike">
                          <a:solidFill>
                            <a:srgbClr val="C00000"/>
                          </a:solidFill>
                          <a:effectLst/>
                          <a:latin typeface="Aptos Narrow" panose="020B0004020202020204" pitchFamily="34" charset="0"/>
                        </a:rPr>
                        <a:t>432</a:t>
                      </a:r>
                      <a:endParaRPr lang="en-US" sz="2300" b="0" i="0" u="none" strike="noStrike">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824619954"/>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condmat</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108,301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93,468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4,382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0.1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(4396)</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85510221"/>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enron</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36,692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183,831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200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9.7</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12.8</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102.0</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3.3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a:t>
                      </a:r>
                      <a:r>
                        <a:rPr lang="en-US" sz="1500" b="0" i="0" u="none" strike="noStrike" dirty="0">
                          <a:solidFill>
                            <a:srgbClr val="C00000"/>
                          </a:solidFill>
                          <a:effectLst/>
                          <a:latin typeface="Aptos Narrow" panose="020B0004020202020204" pitchFamily="34" charset="0"/>
                        </a:rPr>
                        <a:t>(200)</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141962238"/>
                  </a:ext>
                </a:extLst>
              </a:tr>
              <a:tr h="519684">
                <a:tc>
                  <a:txBody>
                    <a:bodyPr/>
                    <a:lstStyle/>
                    <a:p>
                      <a:pPr algn="l" fontAlgn="b">
                        <a:buNone/>
                      </a:pPr>
                      <a:r>
                        <a:rPr lang="en-US" sz="2000" b="0" i="0" u="none" strike="noStrike">
                          <a:solidFill>
                            <a:srgbClr val="000000"/>
                          </a:solidFill>
                          <a:effectLst/>
                          <a:latin typeface="Aptos Narrow" panose="020B0004020202020204" pitchFamily="34" charset="0"/>
                        </a:rPr>
                        <a:t>facebook</a:t>
                      </a:r>
                      <a:endParaRPr lang="en-US" sz="2300" b="0" i="0" u="none" strike="noStrike">
                        <a:effectLst/>
                        <a:latin typeface="Arial" panose="020B0604020202020204" pitchFamily="34" charset="0"/>
                      </a:endParaRPr>
                    </a:p>
                  </a:txBody>
                  <a:tcPr marL="12019" marR="12019" marT="12019" marB="0" anchor="b">
                    <a:lnL w="6350" cap="flat" cmpd="sng" algn="ctr">
                      <a:solidFill>
                        <a:srgbClr val="156082"/>
                      </a:solidFill>
                      <a:prstDash val="solid"/>
                      <a:round/>
                      <a:headEnd type="none" w="med" len="med"/>
                      <a:tailEnd type="none" w="med" len="med"/>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000000"/>
                          </a:solidFill>
                          <a:effectLst/>
                          <a:latin typeface="Aptos Narrow" panose="020B0004020202020204" pitchFamily="34" charset="0"/>
                        </a:rPr>
                        <a:t>                      4,039 </a:t>
                      </a:r>
                      <a:endParaRPr lang="en-US" sz="2300" b="0" i="0" u="none" strike="noStrike" dirty="0">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88,234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103</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0.95</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r" fontAlgn="b">
                        <a:buNone/>
                      </a:pPr>
                      <a:r>
                        <a:rPr lang="en-US" sz="1800" b="0" i="0" u="none" strike="noStrike">
                          <a:solidFill>
                            <a:srgbClr val="000000"/>
                          </a:solidFill>
                          <a:effectLst/>
                          <a:latin typeface="Aptos Narrow" panose="020B0004020202020204" pitchFamily="34" charset="0"/>
                        </a:rPr>
                        <a:t>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104.2</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282.9</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000000"/>
                          </a:solidFill>
                          <a:effectLst/>
                          <a:latin typeface="Aptos Narrow" panose="020B0004020202020204" pitchFamily="34" charset="0"/>
                        </a:rPr>
                        <a:t>352.1</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ctr" fontAlgn="b">
                        <a:buNone/>
                      </a:pPr>
                      <a:r>
                        <a:rPr lang="en-US" sz="2300" b="0" i="0" u="none" strike="noStrike">
                          <a:solidFill>
                            <a:srgbClr val="C00000"/>
                          </a:solidFill>
                          <a:effectLst/>
                          <a:latin typeface="Aptos Narrow" panose="020B0004020202020204" pitchFamily="34" charset="0"/>
                        </a:rPr>
                        <a:t>1.4</a:t>
                      </a:r>
                      <a:endParaRPr lang="en-US" sz="2300" b="0" i="0" u="none" strike="noStrike">
                        <a:effectLst/>
                        <a:latin typeface="Arial" panose="020B0604020202020204" pitchFamily="34" charset="0"/>
                      </a:endParaRPr>
                    </a:p>
                  </a:txBody>
                  <a:tcPr marL="12019" marR="12019" marT="12019" marB="0" anchor="b">
                    <a:lnL>
                      <a:noFill/>
                    </a:lnL>
                    <a:lnR>
                      <a:noFill/>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tc>
                  <a:txBody>
                    <a:bodyPr/>
                    <a:lstStyle/>
                    <a:p>
                      <a:pPr algn="l" fontAlgn="b">
                        <a:buNone/>
                      </a:pPr>
                      <a:r>
                        <a:rPr lang="en-US" sz="1500" b="0" i="0" u="none" strike="noStrike">
                          <a:solidFill>
                            <a:srgbClr val="C00000"/>
                          </a:solidFill>
                          <a:effectLst/>
                          <a:latin typeface="Aptos Narrow" panose="020B0004020202020204" pitchFamily="34" charset="0"/>
                        </a:rPr>
                        <a:t>0, paper reported (</a:t>
                      </a:r>
                      <a:r>
                        <a:rPr lang="en-US" sz="1500" b="0" i="0" u="none" strike="noStrike" dirty="0">
                          <a:solidFill>
                            <a:srgbClr val="C00000"/>
                          </a:solidFill>
                          <a:effectLst/>
                          <a:latin typeface="Aptos Narrow" panose="020B0004020202020204" pitchFamily="34" charset="0"/>
                        </a:rPr>
                        <a:t>2)</a:t>
                      </a:r>
                      <a:endParaRPr lang="en-US" sz="2300" b="0" i="0" u="none" strike="noStrike" dirty="0">
                        <a:effectLst/>
                        <a:latin typeface="Arial" panose="020B0604020202020204" pitchFamily="34" charset="0"/>
                      </a:endParaRPr>
                    </a:p>
                  </a:txBody>
                  <a:tcPr marL="12019" marR="12019" marT="12019" marB="0" anchor="b">
                    <a:lnL>
                      <a:noFill/>
                    </a:lnL>
                    <a:lnR w="6350" cap="flat" cmpd="sng" algn="ctr">
                      <a:solidFill>
                        <a:srgbClr val="156082"/>
                      </a:solidFill>
                      <a:prstDash val="solid"/>
                      <a:round/>
                      <a:headEnd type="none" w="med" len="med"/>
                      <a:tailEnd type="none" w="med" len="med"/>
                    </a:lnR>
                    <a:lnT w="6350" cap="flat" cmpd="sng" algn="ctr">
                      <a:solidFill>
                        <a:srgbClr val="156082"/>
                      </a:solidFill>
                      <a:prstDash val="solid"/>
                      <a:round/>
                      <a:headEnd type="none" w="med" len="med"/>
                      <a:tailEnd type="none" w="med" len="med"/>
                    </a:lnT>
                    <a:lnB w="6350" cap="flat" cmpd="sng" algn="ctr">
                      <a:solidFill>
                        <a:srgbClr val="156082"/>
                      </a:solidFill>
                      <a:prstDash val="solid"/>
                      <a:round/>
                      <a:headEnd type="none" w="med" len="med"/>
                      <a:tailEnd type="none" w="med" len="med"/>
                    </a:lnB>
                    <a:noFill/>
                  </a:tcPr>
                </a:tc>
                <a:extLst>
                  <a:ext uri="{0D108BD9-81ED-4DB2-BD59-A6C34878D82A}">
                    <a16:rowId xmlns:a16="http://schemas.microsoft.com/office/drawing/2014/main" val="346766786"/>
                  </a:ext>
                </a:extLst>
              </a:tr>
            </a:tbl>
          </a:graphicData>
        </a:graphic>
      </p:graphicFrame>
    </p:spTree>
    <p:extLst>
      <p:ext uri="{BB962C8B-B14F-4D97-AF65-F5344CB8AC3E}">
        <p14:creationId xmlns:p14="http://schemas.microsoft.com/office/powerpoint/2010/main" val="265733883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6" name="Picture 35">
            <a:extLst>
              <a:ext uri="{FF2B5EF4-FFF2-40B4-BE49-F238E27FC236}">
                <a16:creationId xmlns:a16="http://schemas.microsoft.com/office/drawing/2014/main" id="{E5CE3626-FB0A-692A-F035-A1DF78C2178A}"/>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34150E0C-EF31-9E3B-653E-154243818C07}"/>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19DFFE26-B75F-43CD-55F5-9E3EA43815AA}"/>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CD8A8E56-B852-AB89-A094-0ABE1BBE77BC}"/>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2B306A4D-FDE3-C800-7E1C-84906394F217}"/>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ADA448AB-F1BC-2284-B2BB-209FB2E9000F}"/>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7977428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A5A725-C0FB-AFBB-BD77-C989D1102897}"/>
            </a:ext>
          </a:extLst>
        </p:cNvPr>
        <p:cNvGrpSpPr/>
        <p:nvPr/>
      </p:nvGrpSpPr>
      <p:grpSpPr>
        <a:xfrm>
          <a:off x="0" y="0"/>
          <a:ext cx="0" cy="0"/>
          <a:chOff x="0" y="0"/>
          <a:chExt cx="0" cy="0"/>
        </a:xfrm>
      </p:grpSpPr>
      <p:pic>
        <p:nvPicPr>
          <p:cNvPr id="36" name="Picture 35">
            <a:extLst>
              <a:ext uri="{FF2B5EF4-FFF2-40B4-BE49-F238E27FC236}">
                <a16:creationId xmlns:a16="http://schemas.microsoft.com/office/drawing/2014/main" id="{F65E09FD-86C3-B452-444F-53A4F6F7658F}"/>
              </a:ext>
            </a:extLst>
          </p:cNvPr>
          <p:cNvPicPr>
            <a:picLocks noChangeAspect="1"/>
          </p:cNvPicPr>
          <p:nvPr/>
        </p:nvPicPr>
        <p:blipFill>
          <a:blip r:embed="rId2"/>
          <a:stretch>
            <a:fillRect/>
          </a:stretch>
        </p:blipFill>
        <p:spPr>
          <a:xfrm>
            <a:off x="5098602" y="0"/>
            <a:ext cx="6603274" cy="6858000"/>
          </a:xfrm>
          <a:prstGeom prst="rect">
            <a:avLst/>
          </a:prstGeom>
        </p:spPr>
      </p:pic>
      <p:sp>
        <p:nvSpPr>
          <p:cNvPr id="2" name="Title 1">
            <a:extLst>
              <a:ext uri="{FF2B5EF4-FFF2-40B4-BE49-F238E27FC236}">
                <a16:creationId xmlns:a16="http://schemas.microsoft.com/office/drawing/2014/main" id="{252F1B3E-B919-6AAB-EBA8-2232CDA90401}"/>
              </a:ext>
            </a:extLst>
          </p:cNvPr>
          <p:cNvSpPr>
            <a:spLocks noGrp="1"/>
          </p:cNvSpPr>
          <p:nvPr>
            <p:ph type="title"/>
          </p:nvPr>
        </p:nvSpPr>
        <p:spPr/>
        <p:txBody>
          <a:bodyPr/>
          <a:lstStyle/>
          <a:p>
            <a:r>
              <a:rPr lang="en-US"/>
              <a:t>Scratch Buffer</a:t>
            </a:r>
            <a:endParaRPr lang="en-US" dirty="0"/>
          </a:p>
        </p:txBody>
      </p:sp>
      <p:graphicFrame>
        <p:nvGraphicFramePr>
          <p:cNvPr id="31" name="Content Placeholder 3">
            <a:extLst>
              <a:ext uri="{FF2B5EF4-FFF2-40B4-BE49-F238E27FC236}">
                <a16:creationId xmlns:a16="http://schemas.microsoft.com/office/drawing/2014/main" id="{F7BEEAA0-DB71-CB33-8F1C-7F30FD0FB0F1}"/>
              </a:ext>
            </a:extLst>
          </p:cNvPr>
          <p:cNvGraphicFramePr>
            <a:graphicFrameLocks/>
          </p:cNvGraphicFramePr>
          <p:nvPr/>
        </p:nvGraphicFramePr>
        <p:xfrm>
          <a:off x="5219609" y="860756"/>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32" name="TextBox 31">
            <a:extLst>
              <a:ext uri="{FF2B5EF4-FFF2-40B4-BE49-F238E27FC236}">
                <a16:creationId xmlns:a16="http://schemas.microsoft.com/office/drawing/2014/main" id="{DD450443-76AA-47EF-8518-82CDF232C420}"/>
              </a:ext>
            </a:extLst>
          </p:cNvPr>
          <p:cNvSpPr txBox="1"/>
          <p:nvPr/>
        </p:nvSpPr>
        <p:spPr>
          <a:xfrm>
            <a:off x="5993706" y="374835"/>
            <a:ext cx="1756127" cy="369332"/>
          </a:xfrm>
          <a:prstGeom prst="rect">
            <a:avLst/>
          </a:prstGeom>
          <a:noFill/>
        </p:spPr>
        <p:txBody>
          <a:bodyPr wrap="square" rtlCol="0">
            <a:spAutoFit/>
          </a:bodyPr>
          <a:lstStyle/>
          <a:p>
            <a:r>
              <a:rPr lang="en-US"/>
              <a:t>top level tasks</a:t>
            </a:r>
            <a:endParaRPr lang="en-US" dirty="0"/>
          </a:p>
        </p:txBody>
      </p:sp>
      <p:sp>
        <p:nvSpPr>
          <p:cNvPr id="33" name="Rectangle 32">
            <a:extLst>
              <a:ext uri="{FF2B5EF4-FFF2-40B4-BE49-F238E27FC236}">
                <a16:creationId xmlns:a16="http://schemas.microsoft.com/office/drawing/2014/main" id="{F3DF527D-D515-F294-E1EC-14ED18FFC723}"/>
              </a:ext>
            </a:extLst>
          </p:cNvPr>
          <p:cNvSpPr/>
          <p:nvPr/>
        </p:nvSpPr>
        <p:spPr>
          <a:xfrm>
            <a:off x="6358791" y="1515328"/>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34" name="Straight Connector 33">
            <a:extLst>
              <a:ext uri="{FF2B5EF4-FFF2-40B4-BE49-F238E27FC236}">
                <a16:creationId xmlns:a16="http://schemas.microsoft.com/office/drawing/2014/main" id="{F4BC0C70-8964-A7F5-37A8-04C08D4E0EBC}"/>
              </a:ext>
            </a:extLst>
          </p:cNvPr>
          <p:cNvCxnSpPr>
            <a:cxnSpLocks/>
            <a:stCxn id="31" idx="2"/>
            <a:endCxn id="33" idx="0"/>
          </p:cNvCxnSpPr>
          <p:nvPr/>
        </p:nvCxnSpPr>
        <p:spPr>
          <a:xfrm>
            <a:off x="6809924" y="1299115"/>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4" name="TextBox 3">
            <a:extLst>
              <a:ext uri="{FF2B5EF4-FFF2-40B4-BE49-F238E27FC236}">
                <a16:creationId xmlns:a16="http://schemas.microsoft.com/office/drawing/2014/main" id="{59088A7C-78EB-F510-6A5A-607DA4322B1B}"/>
              </a:ext>
            </a:extLst>
          </p:cNvPr>
          <p:cNvSpPr txBox="1"/>
          <p:nvPr/>
        </p:nvSpPr>
        <p:spPr>
          <a:xfrm>
            <a:off x="1709998" y="3289727"/>
            <a:ext cx="1850571" cy="369332"/>
          </a:xfrm>
          <a:prstGeom prst="rect">
            <a:avLst/>
          </a:prstGeom>
          <a:noFill/>
        </p:spPr>
        <p:txBody>
          <a:bodyPr wrap="square" rtlCol="0">
            <a:spAutoFit/>
          </a:bodyPr>
          <a:lstStyle/>
          <a:p>
            <a:r>
              <a:rPr lang="en-US"/>
              <a:t>per warp scratch</a:t>
            </a:r>
            <a:endParaRPr lang="en-US" dirty="0"/>
          </a:p>
        </p:txBody>
      </p:sp>
      <p:sp>
        <p:nvSpPr>
          <p:cNvPr id="5" name="TextBox 4">
            <a:extLst>
              <a:ext uri="{FF2B5EF4-FFF2-40B4-BE49-F238E27FC236}">
                <a16:creationId xmlns:a16="http://schemas.microsoft.com/office/drawing/2014/main" id="{58D53A03-19D4-3309-7501-A43EB6713F89}"/>
              </a:ext>
            </a:extLst>
          </p:cNvPr>
          <p:cNvSpPr txBox="1"/>
          <p:nvPr/>
        </p:nvSpPr>
        <p:spPr>
          <a:xfrm>
            <a:off x="1172184" y="3576806"/>
            <a:ext cx="2953501" cy="369332"/>
          </a:xfrm>
          <a:prstGeom prst="rect">
            <a:avLst/>
          </a:prstGeom>
          <a:noFill/>
        </p:spPr>
        <p:txBody>
          <a:bodyPr wrap="none" rtlCol="0">
            <a:spAutoFit/>
          </a:bodyPr>
          <a:lstStyle/>
          <a:p>
            <a:r>
              <a:rPr lang="en-US" dirty="0"/>
              <a:t>with 32000 it sums to 6.5GB</a:t>
            </a:r>
          </a:p>
        </p:txBody>
      </p:sp>
    </p:spTree>
    <p:extLst>
      <p:ext uri="{BB962C8B-B14F-4D97-AF65-F5344CB8AC3E}">
        <p14:creationId xmlns:p14="http://schemas.microsoft.com/office/powerpoint/2010/main" val="1672288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7B744D-A139-FB1A-B60B-51B6E6286C0D}"/>
              </a:ext>
            </a:extLst>
          </p:cNvPr>
          <p:cNvSpPr>
            <a:spLocks noGrp="1"/>
          </p:cNvSpPr>
          <p:nvPr>
            <p:ph type="title"/>
          </p:nvPr>
        </p:nvSpPr>
        <p:spPr/>
        <p:txBody>
          <a:bodyPr/>
          <a:lstStyle/>
          <a:p>
            <a:r>
              <a:rPr lang="en-US"/>
              <a:t>Handlink Big Tasks</a:t>
            </a:r>
            <a:endParaRPr lang="en-US" dirty="0"/>
          </a:p>
        </p:txBody>
      </p:sp>
      <p:graphicFrame>
        <p:nvGraphicFramePr>
          <p:cNvPr id="4" name="Content Placeholder 3">
            <a:extLst>
              <a:ext uri="{FF2B5EF4-FFF2-40B4-BE49-F238E27FC236}">
                <a16:creationId xmlns:a16="http://schemas.microsoft.com/office/drawing/2014/main" id="{F923482F-EE93-313A-EB53-C79917AA892F}"/>
              </a:ext>
            </a:extLst>
          </p:cNvPr>
          <p:cNvGraphicFramePr>
            <a:graphicFrameLocks/>
          </p:cNvGraphicFramePr>
          <p:nvPr/>
        </p:nvGraphicFramePr>
        <p:xfrm>
          <a:off x="4092558" y="2098718"/>
          <a:ext cx="3180630"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gridCol w="636126">
                  <a:extLst>
                    <a:ext uri="{9D8B030D-6E8A-4147-A177-3AD203B41FA5}">
                      <a16:colId xmlns:a16="http://schemas.microsoft.com/office/drawing/2014/main" val="505726368"/>
                    </a:ext>
                  </a:extLst>
                </a:gridCol>
                <a:gridCol w="636126">
                  <a:extLst>
                    <a:ext uri="{9D8B030D-6E8A-4147-A177-3AD203B41FA5}">
                      <a16:colId xmlns:a16="http://schemas.microsoft.com/office/drawing/2014/main" val="326824141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r>
                        <a:rPr lang="en-US" dirty="0"/>
                        <a:t>v</a:t>
                      </a:r>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5" name="TextBox 4">
            <a:extLst>
              <a:ext uri="{FF2B5EF4-FFF2-40B4-BE49-F238E27FC236}">
                <a16:creationId xmlns:a16="http://schemas.microsoft.com/office/drawing/2014/main" id="{DA5B80B6-EC4E-F048-0038-CFF6411D550E}"/>
              </a:ext>
            </a:extLst>
          </p:cNvPr>
          <p:cNvSpPr txBox="1"/>
          <p:nvPr/>
        </p:nvSpPr>
        <p:spPr>
          <a:xfrm>
            <a:off x="4866655" y="1612797"/>
            <a:ext cx="1756127" cy="369332"/>
          </a:xfrm>
          <a:prstGeom prst="rect">
            <a:avLst/>
          </a:prstGeom>
          <a:noFill/>
        </p:spPr>
        <p:txBody>
          <a:bodyPr wrap="square" rtlCol="0">
            <a:spAutoFit/>
          </a:bodyPr>
          <a:lstStyle/>
          <a:p>
            <a:r>
              <a:rPr lang="en-US"/>
              <a:t>root vertices</a:t>
            </a:r>
            <a:endParaRPr lang="en-US" dirty="0"/>
          </a:p>
        </p:txBody>
      </p:sp>
      <p:sp>
        <p:nvSpPr>
          <p:cNvPr id="6" name="Rectangle 5">
            <a:extLst>
              <a:ext uri="{FF2B5EF4-FFF2-40B4-BE49-F238E27FC236}">
                <a16:creationId xmlns:a16="http://schemas.microsoft.com/office/drawing/2014/main" id="{E25991E7-EBD9-411B-061E-6EB77AADD304}"/>
              </a:ext>
            </a:extLst>
          </p:cNvPr>
          <p:cNvSpPr/>
          <p:nvPr/>
        </p:nvSpPr>
        <p:spPr>
          <a:xfrm>
            <a:off x="5231740" y="2753290"/>
            <a:ext cx="908197" cy="558836"/>
          </a:xfrm>
          <a:prstGeom prst="rect">
            <a:avLst/>
          </a:prstGeom>
          <a:ln>
            <a:prstDash val="dash"/>
          </a:ln>
        </p:spPr>
        <p:style>
          <a:lnRef idx="2">
            <a:schemeClr val="dk1"/>
          </a:lnRef>
          <a:fillRef idx="1">
            <a:schemeClr val="lt1"/>
          </a:fillRef>
          <a:effectRef idx="0">
            <a:schemeClr val="dk1"/>
          </a:effectRef>
          <a:fontRef idx="minor">
            <a:schemeClr val="dk1"/>
          </a:fontRef>
        </p:style>
        <p:txBody>
          <a:bodyPr rtlCol="0" anchor="ctr"/>
          <a:lstStyle/>
          <a:p>
            <a:pPr algn="ctr"/>
            <a:r>
              <a:rPr lang="en-US"/>
              <a:t>2-hop neigh</a:t>
            </a:r>
            <a:endParaRPr lang="en-US" dirty="0"/>
          </a:p>
        </p:txBody>
      </p:sp>
      <p:cxnSp>
        <p:nvCxnSpPr>
          <p:cNvPr id="7" name="Straight Connector 6">
            <a:extLst>
              <a:ext uri="{FF2B5EF4-FFF2-40B4-BE49-F238E27FC236}">
                <a16:creationId xmlns:a16="http://schemas.microsoft.com/office/drawing/2014/main" id="{4B12D79D-DB24-5704-F564-5A38DEC648E9}"/>
              </a:ext>
            </a:extLst>
          </p:cNvPr>
          <p:cNvCxnSpPr>
            <a:cxnSpLocks/>
            <a:stCxn id="4" idx="2"/>
            <a:endCxn id="6" idx="0"/>
          </p:cNvCxnSpPr>
          <p:nvPr/>
        </p:nvCxnSpPr>
        <p:spPr>
          <a:xfrm>
            <a:off x="5682873" y="2537077"/>
            <a:ext cx="2966" cy="216213"/>
          </a:xfrm>
          <a:prstGeom prst="line">
            <a:avLst/>
          </a:prstGeom>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0C93F2F9-94CF-FE9B-9197-06D4D1F1CD30}"/>
              </a:ext>
            </a:extLst>
          </p:cNvPr>
          <p:cNvSpPr txBox="1"/>
          <p:nvPr/>
        </p:nvSpPr>
        <p:spPr>
          <a:xfrm>
            <a:off x="1214293" y="3528339"/>
            <a:ext cx="9851287" cy="646331"/>
          </a:xfrm>
          <a:prstGeom prst="rect">
            <a:avLst/>
          </a:prstGeom>
          <a:noFill/>
        </p:spPr>
        <p:txBody>
          <a:bodyPr wrap="none" rtlCol="0">
            <a:spAutoFit/>
          </a:bodyPr>
          <a:lstStyle/>
          <a:p>
            <a:r>
              <a:rPr lang="en-US"/>
              <a:t>root vertices with big tasks are separated at initialization step, using CPU threads (by OpenMP</a:t>
            </a:r>
            <a:r>
              <a:rPr lang="en-US" dirty="0"/>
              <a:t>)</a:t>
            </a:r>
          </a:p>
          <a:p>
            <a:endParaRPr lang="en-US" dirty="0"/>
          </a:p>
        </p:txBody>
      </p:sp>
      <p:graphicFrame>
        <p:nvGraphicFramePr>
          <p:cNvPr id="10" name="Content Placeholder 3">
            <a:extLst>
              <a:ext uri="{FF2B5EF4-FFF2-40B4-BE49-F238E27FC236}">
                <a16:creationId xmlns:a16="http://schemas.microsoft.com/office/drawing/2014/main" id="{BF605D24-416F-9502-BA14-C0F3CB133CFE}"/>
              </a:ext>
            </a:extLst>
          </p:cNvPr>
          <p:cNvGraphicFramePr>
            <a:graphicFrameLocks/>
          </p:cNvGraphicFramePr>
          <p:nvPr/>
        </p:nvGraphicFramePr>
        <p:xfrm>
          <a:off x="2686966" y="4796747"/>
          <a:ext cx="1908378"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gridCol w="636126">
                  <a:extLst>
                    <a:ext uri="{9D8B030D-6E8A-4147-A177-3AD203B41FA5}">
                      <a16:colId xmlns:a16="http://schemas.microsoft.com/office/drawing/2014/main" val="3925629564"/>
                    </a:ext>
                  </a:extLst>
                </a:gridCol>
              </a:tblGrid>
              <a:tr h="438359">
                <a:tc>
                  <a:txBody>
                    <a:bodyPr/>
                    <a:lstStyle/>
                    <a:p>
                      <a:pPr algn="ctr"/>
                      <a:endParaRPr lang="en-US" dirty="0"/>
                    </a:p>
                  </a:txBody>
                  <a:tcPr/>
                </a:tc>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1" name="TextBox 10">
            <a:extLst>
              <a:ext uri="{FF2B5EF4-FFF2-40B4-BE49-F238E27FC236}">
                <a16:creationId xmlns:a16="http://schemas.microsoft.com/office/drawing/2014/main" id="{955C8D13-994B-590F-D315-8769F534E8DE}"/>
              </a:ext>
            </a:extLst>
          </p:cNvPr>
          <p:cNvSpPr txBox="1"/>
          <p:nvPr/>
        </p:nvSpPr>
        <p:spPr>
          <a:xfrm>
            <a:off x="2626729" y="4428363"/>
            <a:ext cx="2406533" cy="369332"/>
          </a:xfrm>
          <a:prstGeom prst="rect">
            <a:avLst/>
          </a:prstGeom>
          <a:noFill/>
        </p:spPr>
        <p:txBody>
          <a:bodyPr wrap="square" rtlCol="0">
            <a:spAutoFit/>
          </a:bodyPr>
          <a:lstStyle/>
          <a:p>
            <a:r>
              <a:rPr lang="en-US"/>
              <a:t>regular root vertices</a:t>
            </a:r>
            <a:endParaRPr lang="en-US" dirty="0"/>
          </a:p>
        </p:txBody>
      </p:sp>
      <p:graphicFrame>
        <p:nvGraphicFramePr>
          <p:cNvPr id="14" name="Content Placeholder 3">
            <a:extLst>
              <a:ext uri="{FF2B5EF4-FFF2-40B4-BE49-F238E27FC236}">
                <a16:creationId xmlns:a16="http://schemas.microsoft.com/office/drawing/2014/main" id="{C6FCD81F-D4A1-BEE8-5E13-FBED0B789AD8}"/>
              </a:ext>
            </a:extLst>
          </p:cNvPr>
          <p:cNvGraphicFramePr>
            <a:graphicFrameLocks/>
          </p:cNvGraphicFramePr>
          <p:nvPr/>
        </p:nvGraphicFramePr>
        <p:xfrm>
          <a:off x="7885816" y="4809544"/>
          <a:ext cx="1272252" cy="438359"/>
        </p:xfrm>
        <a:graphic>
          <a:graphicData uri="http://schemas.openxmlformats.org/drawingml/2006/table">
            <a:tbl>
              <a:tblPr firstRow="1" bandRow="1">
                <a:tableStyleId>{5940675A-B579-460E-94D1-54222C63F5DA}</a:tableStyleId>
              </a:tblPr>
              <a:tblGrid>
                <a:gridCol w="636126">
                  <a:extLst>
                    <a:ext uri="{9D8B030D-6E8A-4147-A177-3AD203B41FA5}">
                      <a16:colId xmlns:a16="http://schemas.microsoft.com/office/drawing/2014/main" val="194980701"/>
                    </a:ext>
                  </a:extLst>
                </a:gridCol>
                <a:gridCol w="636126">
                  <a:extLst>
                    <a:ext uri="{9D8B030D-6E8A-4147-A177-3AD203B41FA5}">
                      <a16:colId xmlns:a16="http://schemas.microsoft.com/office/drawing/2014/main" val="2814616541"/>
                    </a:ext>
                  </a:extLst>
                </a:gridCol>
              </a:tblGrid>
              <a:tr h="438359">
                <a:tc>
                  <a:txBody>
                    <a:bodyPr/>
                    <a:lstStyle/>
                    <a:p>
                      <a:pPr algn="ctr"/>
                      <a:endParaRPr lang="en-US" dirty="0"/>
                    </a:p>
                  </a:txBody>
                  <a:tcPr/>
                </a:tc>
                <a:tc>
                  <a:txBody>
                    <a:bodyPr/>
                    <a:lstStyle/>
                    <a:p>
                      <a:pPr algn="ctr"/>
                      <a:endParaRPr lang="en-US" dirty="0"/>
                    </a:p>
                  </a:txBody>
                  <a:tcPr/>
                </a:tc>
                <a:extLst>
                  <a:ext uri="{0D108BD9-81ED-4DB2-BD59-A6C34878D82A}">
                    <a16:rowId xmlns:a16="http://schemas.microsoft.com/office/drawing/2014/main" val="2287342528"/>
                  </a:ext>
                </a:extLst>
              </a:tr>
            </a:tbl>
          </a:graphicData>
        </a:graphic>
      </p:graphicFrame>
      <p:sp>
        <p:nvSpPr>
          <p:cNvPr id="15" name="TextBox 14">
            <a:extLst>
              <a:ext uri="{FF2B5EF4-FFF2-40B4-BE49-F238E27FC236}">
                <a16:creationId xmlns:a16="http://schemas.microsoft.com/office/drawing/2014/main" id="{44B4EE0A-6C55-BBED-95D8-E20AFE162E30}"/>
              </a:ext>
            </a:extLst>
          </p:cNvPr>
          <p:cNvSpPr txBox="1"/>
          <p:nvPr/>
        </p:nvSpPr>
        <p:spPr>
          <a:xfrm>
            <a:off x="7596657" y="4427415"/>
            <a:ext cx="2406533" cy="369332"/>
          </a:xfrm>
          <a:prstGeom prst="rect">
            <a:avLst/>
          </a:prstGeom>
          <a:noFill/>
        </p:spPr>
        <p:txBody>
          <a:bodyPr wrap="square" rtlCol="0">
            <a:spAutoFit/>
          </a:bodyPr>
          <a:lstStyle/>
          <a:p>
            <a:r>
              <a:rPr lang="en-US" dirty="0" err="1"/>
              <a:t>big</a:t>
            </a:r>
            <a:r>
              <a:rPr lang="en-US" err="1"/>
              <a:t>_</a:t>
            </a:r>
            <a:r>
              <a:rPr lang="en-US"/>
              <a:t>root vertices</a:t>
            </a:r>
            <a:endParaRPr lang="en-US" dirty="0"/>
          </a:p>
        </p:txBody>
      </p:sp>
      <p:sp>
        <p:nvSpPr>
          <p:cNvPr id="19" name="TextBox 18">
            <a:extLst>
              <a:ext uri="{FF2B5EF4-FFF2-40B4-BE49-F238E27FC236}">
                <a16:creationId xmlns:a16="http://schemas.microsoft.com/office/drawing/2014/main" id="{04B344CD-3D80-F184-01EF-D60C64B87CD9}"/>
              </a:ext>
            </a:extLst>
          </p:cNvPr>
          <p:cNvSpPr txBox="1"/>
          <p:nvPr/>
        </p:nvSpPr>
        <p:spPr>
          <a:xfrm>
            <a:off x="7227116" y="5365990"/>
            <a:ext cx="3034677" cy="646331"/>
          </a:xfrm>
          <a:prstGeom prst="rect">
            <a:avLst/>
          </a:prstGeom>
          <a:noFill/>
        </p:spPr>
        <p:txBody>
          <a:bodyPr wrap="none" rtlCol="0">
            <a:spAutoFit/>
          </a:bodyPr>
          <a:lstStyle/>
          <a:p>
            <a:r>
              <a:rPr lang="en-US"/>
              <a:t>master schedules big</a:t>
            </a:r>
            <a:r>
              <a:rPr lang="en-US" err="1"/>
              <a:t>_</a:t>
            </a:r>
            <a:r>
              <a:rPr lang="en-US"/>
              <a:t>root </a:t>
            </a:r>
            <a:endParaRPr lang="en-US" dirty="0"/>
          </a:p>
          <a:p>
            <a:r>
              <a:rPr lang="en-US"/>
              <a:t>vertices to CPU threads only </a:t>
            </a:r>
            <a:endParaRPr lang="en-US" dirty="0"/>
          </a:p>
        </p:txBody>
      </p:sp>
    </p:spTree>
    <p:extLst>
      <p:ext uri="{BB962C8B-B14F-4D97-AF65-F5344CB8AC3E}">
        <p14:creationId xmlns:p14="http://schemas.microsoft.com/office/powerpoint/2010/main" val="7607173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28D451-66A4-3181-8DDD-496D006AA74A}"/>
              </a:ext>
            </a:extLst>
          </p:cNvPr>
          <p:cNvSpPr>
            <a:spLocks noGrp="1"/>
          </p:cNvSpPr>
          <p:nvPr>
            <p:ph type="title"/>
          </p:nvPr>
        </p:nvSpPr>
        <p:spPr/>
        <p:txBody>
          <a:bodyPr/>
          <a:lstStyle/>
          <a:p>
            <a:r>
              <a:rPr lang="en-US"/>
              <a:t>Why CPU is much faster than GPU? </a:t>
            </a:r>
            <a:endParaRPr lang="en-US" dirty="0"/>
          </a:p>
        </p:txBody>
      </p:sp>
      <p:sp>
        <p:nvSpPr>
          <p:cNvPr id="3" name="Content Placeholder 2">
            <a:extLst>
              <a:ext uri="{FF2B5EF4-FFF2-40B4-BE49-F238E27FC236}">
                <a16:creationId xmlns:a16="http://schemas.microsoft.com/office/drawing/2014/main" id="{4C8397CA-74DB-C096-A33A-4A6EA1EBA1FE}"/>
              </a:ext>
            </a:extLst>
          </p:cNvPr>
          <p:cNvSpPr>
            <a:spLocks noGrp="1"/>
          </p:cNvSpPr>
          <p:nvPr>
            <p:ph idx="1"/>
          </p:nvPr>
        </p:nvSpPr>
        <p:spPr/>
        <p:txBody>
          <a:bodyPr/>
          <a:lstStyle/>
          <a:p>
            <a:r>
              <a:rPr lang="en-US"/>
              <a:t>A few vertices are very high degree in the graphs</a:t>
            </a:r>
            <a:endParaRPr lang="en-US" dirty="0"/>
          </a:p>
          <a:p>
            <a:r>
              <a:rPr lang="en-US"/>
              <a:t>Since a warp processes a vertex, a high degree vertex causes a warp to take a long time</a:t>
            </a:r>
            <a:endParaRPr lang="en-US" dirty="0"/>
          </a:p>
        </p:txBody>
      </p:sp>
      <p:pic>
        <p:nvPicPr>
          <p:cNvPr id="4" name="Picture 3">
            <a:extLst>
              <a:ext uri="{FF2B5EF4-FFF2-40B4-BE49-F238E27FC236}">
                <a16:creationId xmlns:a16="http://schemas.microsoft.com/office/drawing/2014/main" id="{254BE56B-7E87-DFA0-0FE1-28C1ECB32A12}"/>
              </a:ext>
            </a:extLst>
          </p:cNvPr>
          <p:cNvPicPr>
            <a:picLocks noChangeAspect="1"/>
          </p:cNvPicPr>
          <p:nvPr/>
        </p:nvPicPr>
        <p:blipFill>
          <a:blip r:embed="rId2"/>
          <a:stretch>
            <a:fillRect/>
          </a:stretch>
        </p:blipFill>
        <p:spPr>
          <a:xfrm>
            <a:off x="2182090" y="3429000"/>
            <a:ext cx="3913909" cy="2860164"/>
          </a:xfrm>
          <a:prstGeom prst="rect">
            <a:avLst/>
          </a:prstGeom>
        </p:spPr>
      </p:pic>
      <p:pic>
        <p:nvPicPr>
          <p:cNvPr id="5" name="Picture 4">
            <a:extLst>
              <a:ext uri="{FF2B5EF4-FFF2-40B4-BE49-F238E27FC236}">
                <a16:creationId xmlns:a16="http://schemas.microsoft.com/office/drawing/2014/main" id="{DD33D4D8-8E2F-2C12-BC14-03C68E73F507}"/>
              </a:ext>
            </a:extLst>
          </p:cNvPr>
          <p:cNvPicPr>
            <a:picLocks noChangeAspect="1"/>
          </p:cNvPicPr>
          <p:nvPr/>
        </p:nvPicPr>
        <p:blipFill>
          <a:blip r:embed="rId3"/>
          <a:stretch>
            <a:fillRect/>
          </a:stretch>
        </p:blipFill>
        <p:spPr>
          <a:xfrm>
            <a:off x="6719636" y="3429000"/>
            <a:ext cx="3640100" cy="2660073"/>
          </a:xfrm>
          <a:prstGeom prst="rect">
            <a:avLst/>
          </a:prstGeom>
        </p:spPr>
      </p:pic>
    </p:spTree>
    <p:extLst>
      <p:ext uri="{BB962C8B-B14F-4D97-AF65-F5344CB8AC3E}">
        <p14:creationId xmlns:p14="http://schemas.microsoft.com/office/powerpoint/2010/main" val="8312104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F3868-9696-2B98-D1A3-613A21D0ADB3}"/>
              </a:ext>
            </a:extLst>
          </p:cNvPr>
          <p:cNvSpPr>
            <a:spLocks noGrp="1"/>
          </p:cNvSpPr>
          <p:nvPr>
            <p:ph type="title"/>
          </p:nvPr>
        </p:nvSpPr>
        <p:spPr/>
        <p:txBody>
          <a:bodyPr/>
          <a:lstStyle/>
          <a:p>
            <a:r>
              <a:rPr lang="en-US"/>
              <a:t>Why hybrid-copy is faster than layered</a:t>
            </a:r>
            <a:r>
              <a:rPr lang="en-US" dirty="0"/>
              <a:t>?</a:t>
            </a:r>
          </a:p>
        </p:txBody>
      </p:sp>
      <p:sp>
        <p:nvSpPr>
          <p:cNvPr id="3" name="Content Placeholder 2">
            <a:extLst>
              <a:ext uri="{FF2B5EF4-FFF2-40B4-BE49-F238E27FC236}">
                <a16:creationId xmlns:a16="http://schemas.microsoft.com/office/drawing/2014/main" id="{6E11D006-07A2-FB25-AA6D-21914978DBDD}"/>
              </a:ext>
            </a:extLst>
          </p:cNvPr>
          <p:cNvSpPr>
            <a:spLocks noGrp="1"/>
          </p:cNvSpPr>
          <p:nvPr>
            <p:ph idx="1"/>
          </p:nvPr>
        </p:nvSpPr>
        <p:spPr>
          <a:xfrm>
            <a:off x="838200" y="1825625"/>
            <a:ext cx="10515600" cy="1935884"/>
          </a:xfrm>
        </p:spPr>
        <p:txBody>
          <a:bodyPr/>
          <a:lstStyle/>
          <a:p>
            <a:r>
              <a:rPr lang="en-US"/>
              <a:t>In the layered case, a fixed η may underutilize GPU cores, increasing runtime. (currently η</a:t>
            </a:r>
            <a:r>
              <a:rPr lang="en-US" dirty="0"/>
              <a:t>=2000)</a:t>
            </a:r>
          </a:p>
          <a:p>
            <a:r>
              <a:rPr lang="en-US"/>
              <a:t>Ping-pong execution processes the entire buffer, resulting in faster runtime</a:t>
            </a:r>
            <a:r>
              <a:rPr lang="en-US" dirty="0"/>
              <a:t>.</a:t>
            </a:r>
          </a:p>
        </p:txBody>
      </p:sp>
      <p:graphicFrame>
        <p:nvGraphicFramePr>
          <p:cNvPr id="6" name="Table 5">
            <a:extLst>
              <a:ext uri="{FF2B5EF4-FFF2-40B4-BE49-F238E27FC236}">
                <a16:creationId xmlns:a16="http://schemas.microsoft.com/office/drawing/2014/main" id="{BE308B00-5A5B-3BAC-2EB1-D29D1B3561BF}"/>
              </a:ext>
            </a:extLst>
          </p:cNvPr>
          <p:cNvGraphicFramePr>
            <a:graphicFrameLocks noGrp="1"/>
          </p:cNvGraphicFramePr>
          <p:nvPr>
            <p:extLst>
              <p:ext uri="{D42A27DB-BD31-4B8C-83A1-F6EECF244321}">
                <p14:modId xmlns:p14="http://schemas.microsoft.com/office/powerpoint/2010/main" val="4085985711"/>
              </p:ext>
            </p:extLst>
          </p:nvPr>
        </p:nvGraphicFramePr>
        <p:xfrm>
          <a:off x="1402772" y="6188075"/>
          <a:ext cx="8077200" cy="304800"/>
        </p:xfrm>
        <a:graphic>
          <a:graphicData uri="http://schemas.openxmlformats.org/drawingml/2006/table">
            <a:tbl>
              <a:tblPr>
                <a:tableStyleId>{3B4B98B0-60AC-42C2-AFA5-B58CD77FA1E5}</a:tableStyleId>
              </a:tblPr>
              <a:tblGrid>
                <a:gridCol w="3810000">
                  <a:extLst>
                    <a:ext uri="{9D8B030D-6E8A-4147-A177-3AD203B41FA5}">
                      <a16:colId xmlns:a16="http://schemas.microsoft.com/office/drawing/2014/main" val="440064474"/>
                    </a:ext>
                  </a:extLst>
                </a:gridCol>
                <a:gridCol w="1422400">
                  <a:extLst>
                    <a:ext uri="{9D8B030D-6E8A-4147-A177-3AD203B41FA5}">
                      <a16:colId xmlns:a16="http://schemas.microsoft.com/office/drawing/2014/main" val="1993903042"/>
                    </a:ext>
                  </a:extLst>
                </a:gridCol>
                <a:gridCol w="1422400">
                  <a:extLst>
                    <a:ext uri="{9D8B030D-6E8A-4147-A177-3AD203B41FA5}">
                      <a16:colId xmlns:a16="http://schemas.microsoft.com/office/drawing/2014/main" val="2045103679"/>
                    </a:ext>
                  </a:extLst>
                </a:gridCol>
                <a:gridCol w="1422400">
                  <a:extLst>
                    <a:ext uri="{9D8B030D-6E8A-4147-A177-3AD203B41FA5}">
                      <a16:colId xmlns:a16="http://schemas.microsoft.com/office/drawing/2014/main" val="9635011"/>
                    </a:ext>
                  </a:extLst>
                </a:gridCol>
              </a:tblGrid>
              <a:tr h="304800">
                <a:tc>
                  <a:txBody>
                    <a:bodyPr/>
                    <a:lstStyle/>
                    <a:p>
                      <a:pPr algn="l" fontAlgn="b">
                        <a:buNone/>
                      </a:pPr>
                      <a:r>
                        <a:rPr lang="en-US" sz="1700" u="none" strike="noStrike" dirty="0">
                          <a:effectLst/>
                        </a:rPr>
                        <a:t>edit-</a:t>
                      </a:r>
                      <a:r>
                        <a:rPr lang="en-US" sz="1700" u="none" strike="noStrike" dirty="0" err="1">
                          <a:effectLst/>
                        </a:rPr>
                        <a:t>nlwiki</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a:effectLst/>
                        </a:rPr>
                        <a:t>20.5</a:t>
                      </a:r>
                      <a:endParaRPr lang="en-US" sz="1700" b="0" i="0" u="none" strike="noStrike">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18.4</a:t>
                      </a:r>
                      <a:endParaRPr lang="en-US" sz="1700" b="0" i="0" u="none" strike="noStrike" dirty="0">
                        <a:solidFill>
                          <a:srgbClr val="000000"/>
                        </a:solidFill>
                        <a:effectLst/>
                        <a:latin typeface="Monaco" pitchFamily="2" charset="77"/>
                      </a:endParaRPr>
                    </a:p>
                  </a:txBody>
                  <a:tcPr marL="0" marR="0" marT="0" marB="0" anchor="b"/>
                </a:tc>
                <a:tc>
                  <a:txBody>
                    <a:bodyPr/>
                    <a:lstStyle/>
                    <a:p>
                      <a:pPr algn="r" fontAlgn="b">
                        <a:buNone/>
                      </a:pPr>
                      <a:r>
                        <a:rPr lang="en-US" sz="1700" u="none" strike="noStrike" dirty="0">
                          <a:effectLst/>
                        </a:rPr>
                        <a:t>16.8</a:t>
                      </a:r>
                      <a:endParaRPr lang="en-US" sz="17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737372659"/>
                  </a:ext>
                </a:extLst>
              </a:tr>
            </a:tbl>
          </a:graphicData>
        </a:graphic>
      </p:graphicFrame>
      <p:graphicFrame>
        <p:nvGraphicFramePr>
          <p:cNvPr id="7" name="Table 6">
            <a:extLst>
              <a:ext uri="{FF2B5EF4-FFF2-40B4-BE49-F238E27FC236}">
                <a16:creationId xmlns:a16="http://schemas.microsoft.com/office/drawing/2014/main" id="{EE30A8DC-34D0-5DF0-03C7-008572D49F28}"/>
              </a:ext>
            </a:extLst>
          </p:cNvPr>
          <p:cNvGraphicFramePr>
            <a:graphicFrameLocks noGrp="1"/>
          </p:cNvGraphicFramePr>
          <p:nvPr>
            <p:extLst>
              <p:ext uri="{D42A27DB-BD31-4B8C-83A1-F6EECF244321}">
                <p14:modId xmlns:p14="http://schemas.microsoft.com/office/powerpoint/2010/main" val="2436802704"/>
              </p:ext>
            </p:extLst>
          </p:nvPr>
        </p:nvGraphicFramePr>
        <p:xfrm>
          <a:off x="1402772" y="5845175"/>
          <a:ext cx="8077200" cy="342900"/>
        </p:xfrm>
        <a:graphic>
          <a:graphicData uri="http://schemas.openxmlformats.org/drawingml/2006/table">
            <a:tbl>
              <a:tblPr>
                <a:tableStyleId>{D113A9D2-9D6B-4929-AA2D-F23B5EE8CBE7}</a:tableStyleId>
              </a:tblPr>
              <a:tblGrid>
                <a:gridCol w="3810000">
                  <a:extLst>
                    <a:ext uri="{9D8B030D-6E8A-4147-A177-3AD203B41FA5}">
                      <a16:colId xmlns:a16="http://schemas.microsoft.com/office/drawing/2014/main" val="960849052"/>
                    </a:ext>
                  </a:extLst>
                </a:gridCol>
                <a:gridCol w="1422400">
                  <a:extLst>
                    <a:ext uri="{9D8B030D-6E8A-4147-A177-3AD203B41FA5}">
                      <a16:colId xmlns:a16="http://schemas.microsoft.com/office/drawing/2014/main" val="2114501400"/>
                    </a:ext>
                  </a:extLst>
                </a:gridCol>
                <a:gridCol w="1422400">
                  <a:extLst>
                    <a:ext uri="{9D8B030D-6E8A-4147-A177-3AD203B41FA5}">
                      <a16:colId xmlns:a16="http://schemas.microsoft.com/office/drawing/2014/main" val="2581511765"/>
                    </a:ext>
                  </a:extLst>
                </a:gridCol>
                <a:gridCol w="1422400">
                  <a:extLst>
                    <a:ext uri="{9D8B030D-6E8A-4147-A177-3AD203B41FA5}">
                      <a16:colId xmlns:a16="http://schemas.microsoft.com/office/drawing/2014/main" val="2808599619"/>
                    </a:ext>
                  </a:extLst>
                </a:gridCol>
              </a:tblGrid>
              <a:tr h="342900">
                <a:tc>
                  <a:txBody>
                    <a:bodyPr/>
                    <a:lstStyle/>
                    <a:p>
                      <a:pPr algn="l" fontAlgn="b">
                        <a:buNone/>
                      </a:pPr>
                      <a:r>
                        <a:rPr lang="en-US" sz="1600" b="1" u="none" strike="noStrike">
                          <a:solidFill>
                            <a:srgbClr val="000000"/>
                          </a:solidFill>
                          <a:effectLst/>
                        </a:rPr>
                        <a:t>eta values</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1,000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2,000 </a:t>
                      </a:r>
                      <a:endParaRPr lang="en-US" sz="1600" b="1" i="0" u="none" strike="noStrike" dirty="0">
                        <a:solidFill>
                          <a:srgbClr val="000000"/>
                        </a:solidFill>
                        <a:effectLst/>
                        <a:latin typeface="Aptos Narrow" panose="020B0004020202020204" pitchFamily="34" charset="0"/>
                      </a:endParaRPr>
                    </a:p>
                  </a:txBody>
                  <a:tcPr marL="0" marR="0" marT="0" marB="0" anchor="b"/>
                </a:tc>
                <a:tc>
                  <a:txBody>
                    <a:bodyPr/>
                    <a:lstStyle/>
                    <a:p>
                      <a:pPr algn="l" fontAlgn="b">
                        <a:buNone/>
                      </a:pPr>
                      <a:r>
                        <a:rPr lang="en-US" sz="1600" b="1" u="none" strike="noStrike">
                          <a:effectLst/>
                        </a:rPr>
                        <a:t>              5,000 </a:t>
                      </a:r>
                      <a:endParaRPr lang="en-US" sz="1600" b="1"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712991610"/>
                  </a:ext>
                </a:extLst>
              </a:tr>
            </a:tbl>
          </a:graphicData>
        </a:graphic>
      </p:graphicFrame>
      <p:graphicFrame>
        <p:nvGraphicFramePr>
          <p:cNvPr id="8" name="Table 7">
            <a:extLst>
              <a:ext uri="{FF2B5EF4-FFF2-40B4-BE49-F238E27FC236}">
                <a16:creationId xmlns:a16="http://schemas.microsoft.com/office/drawing/2014/main" id="{38C9E8D5-9850-50E3-F8B6-44CB0BEB3EA4}"/>
              </a:ext>
            </a:extLst>
          </p:cNvPr>
          <p:cNvGraphicFramePr>
            <a:graphicFrameLocks noGrp="1"/>
          </p:cNvGraphicFramePr>
          <p:nvPr>
            <p:extLst>
              <p:ext uri="{D42A27DB-BD31-4B8C-83A1-F6EECF244321}">
                <p14:modId xmlns:p14="http://schemas.microsoft.com/office/powerpoint/2010/main" val="3408055540"/>
              </p:ext>
            </p:extLst>
          </p:nvPr>
        </p:nvGraphicFramePr>
        <p:xfrm>
          <a:off x="1194954" y="3761509"/>
          <a:ext cx="10235046" cy="966355"/>
        </p:xfrm>
        <a:graphic>
          <a:graphicData uri="http://schemas.openxmlformats.org/drawingml/2006/table">
            <a:tbl>
              <a:tblPr>
                <a:tableStyleId>{5C22544A-7EE6-4342-B048-85BDC9FD1C3A}</a:tableStyleId>
              </a:tblPr>
              <a:tblGrid>
                <a:gridCol w="1669205">
                  <a:extLst>
                    <a:ext uri="{9D8B030D-6E8A-4147-A177-3AD203B41FA5}">
                      <a16:colId xmlns:a16="http://schemas.microsoft.com/office/drawing/2014/main" val="2457110133"/>
                    </a:ext>
                  </a:extLst>
                </a:gridCol>
                <a:gridCol w="1312986">
                  <a:extLst>
                    <a:ext uri="{9D8B030D-6E8A-4147-A177-3AD203B41FA5}">
                      <a16:colId xmlns:a16="http://schemas.microsoft.com/office/drawing/2014/main" val="3853503667"/>
                    </a:ext>
                  </a:extLst>
                </a:gridCol>
                <a:gridCol w="1662235">
                  <a:extLst>
                    <a:ext uri="{9D8B030D-6E8A-4147-A177-3AD203B41FA5}">
                      <a16:colId xmlns:a16="http://schemas.microsoft.com/office/drawing/2014/main" val="1010362570"/>
                    </a:ext>
                  </a:extLst>
                </a:gridCol>
                <a:gridCol w="2795310">
                  <a:extLst>
                    <a:ext uri="{9D8B030D-6E8A-4147-A177-3AD203B41FA5}">
                      <a16:colId xmlns:a16="http://schemas.microsoft.com/office/drawing/2014/main" val="3721380"/>
                    </a:ext>
                  </a:extLst>
                </a:gridCol>
                <a:gridCol w="2795310">
                  <a:extLst>
                    <a:ext uri="{9D8B030D-6E8A-4147-A177-3AD203B41FA5}">
                      <a16:colId xmlns:a16="http://schemas.microsoft.com/office/drawing/2014/main" val="3894600151"/>
                    </a:ext>
                  </a:extLst>
                </a:gridCol>
              </a:tblGrid>
              <a:tr h="639010">
                <a:tc>
                  <a:txBody>
                    <a:bodyPr/>
                    <a:lstStyle/>
                    <a:p>
                      <a:pPr algn="l"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l" fontAlgn="b">
                        <a:buNone/>
                      </a:pPr>
                      <a:r>
                        <a:rPr lang="en-US" sz="1800" b="1" u="none" strike="noStrike">
                          <a:effectLst/>
                        </a:rPr>
                        <a:t>gpu-layered</a:t>
                      </a:r>
                      <a:endParaRPr lang="en-US" sz="1800" b="1" i="0" u="none" strike="noStrike">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gpu-hybrid-drop </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accent1"/>
                          </a:solidFill>
                          <a:effectLst/>
                        </a:rPr>
                        <a:t>gpu</a:t>
                      </a:r>
                      <a:r>
                        <a:rPr lang="en-US" sz="1600" b="1" u="none" strike="noStrike" dirty="0">
                          <a:solidFill>
                            <a:schemeClr val="accent1"/>
                          </a:solidFill>
                          <a:effectLst/>
                        </a:rPr>
                        <a:t>-hybrid-copy</a:t>
                      </a:r>
                      <a:endParaRPr lang="en-US" sz="1600" b="1"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800" u="none" strike="noStrike">
                          <a:effectLst/>
                        </a:rPr>
                        <a:t>edit-nlwiki</a:t>
                      </a:r>
                      <a:endParaRPr lang="en-US" sz="1800" b="0" i="0" u="none" strike="noStrike">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11.3</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ctr" fontAlgn="b">
                        <a:buNone/>
                      </a:pPr>
                      <a:r>
                        <a:rPr lang="en-US" sz="1800" u="none" strike="noStrike" dirty="0">
                          <a:effectLst/>
                        </a:rPr>
                        <a:t>20.0</a:t>
                      </a:r>
                      <a:endParaRPr lang="en-US" sz="1800" b="0" i="0" u="none" strike="noStrike" dirty="0">
                        <a:solidFill>
                          <a:srgbClr val="000000"/>
                        </a:solidFill>
                        <a:effectLst/>
                        <a:latin typeface="Aptos Narrow" panose="020B0004020202020204" pitchFamily="34" charset="0"/>
                      </a:endParaRPr>
                    </a:p>
                  </a:txBody>
                  <a:tcPr marL="5454" marR="5454" marT="5454" marB="0" anchor="b"/>
                </a:tc>
                <a:tc>
                  <a:txBody>
                    <a:bodyPr/>
                    <a:lstStyle/>
                    <a:p>
                      <a:pPr algn="r" fontAlgn="b">
                        <a:buNone/>
                      </a:pPr>
                      <a:r>
                        <a:rPr lang="en-US" sz="1800" u="none" strike="noStrike" dirty="0">
                          <a:effectLst/>
                        </a:rPr>
                        <a:t>12.4</a:t>
                      </a:r>
                      <a:endParaRPr lang="en-US" sz="1800" b="0" i="0" u="none" strike="noStrike" dirty="0">
                        <a:solidFill>
                          <a:srgbClr val="000000"/>
                        </a:solidFill>
                        <a:effectLst/>
                        <a:latin typeface="Monaco" pitchFamily="2" charset="77"/>
                      </a:endParaRPr>
                    </a:p>
                  </a:txBody>
                  <a:tcPr marL="5454" marR="5454" marT="5454" marB="0" anchor="b"/>
                </a:tc>
                <a:tc>
                  <a:txBody>
                    <a:bodyPr/>
                    <a:lstStyle/>
                    <a:p>
                      <a:pPr algn="ctr" fontAlgn="b">
                        <a:buNone/>
                      </a:pPr>
                      <a:r>
                        <a:rPr lang="en-US" sz="1800" b="0" u="none" strike="noStrike" dirty="0">
                          <a:solidFill>
                            <a:schemeClr val="accent1"/>
                          </a:solidFill>
                          <a:effectLst/>
                        </a:rPr>
                        <a:t>11.0</a:t>
                      </a:r>
                      <a:endParaRPr lang="en-US" sz="1800" b="0" i="0" u="none" strike="noStrike" dirty="0">
                        <a:solidFill>
                          <a:schemeClr val="accent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
        <p:nvSpPr>
          <p:cNvPr id="9" name="TextBox 8">
            <a:extLst>
              <a:ext uri="{FF2B5EF4-FFF2-40B4-BE49-F238E27FC236}">
                <a16:creationId xmlns:a16="http://schemas.microsoft.com/office/drawing/2014/main" id="{23B95060-A99D-E2AE-DB18-3CC5868B03BB}"/>
              </a:ext>
            </a:extLst>
          </p:cNvPr>
          <p:cNvSpPr txBox="1"/>
          <p:nvPr/>
        </p:nvSpPr>
        <p:spPr>
          <a:xfrm>
            <a:off x="675409" y="5268191"/>
            <a:ext cx="3767763" cy="369332"/>
          </a:xfrm>
          <a:prstGeom prst="rect">
            <a:avLst/>
          </a:prstGeom>
          <a:noFill/>
        </p:spPr>
        <p:txBody>
          <a:bodyPr wrap="none" rtlCol="0">
            <a:spAutoFit/>
          </a:bodyPr>
          <a:lstStyle/>
          <a:p>
            <a:r>
              <a:rPr lang="en-US"/>
              <a:t>experiments with other values of eta</a:t>
            </a:r>
            <a:endParaRPr lang="en-US" dirty="0"/>
          </a:p>
        </p:txBody>
      </p:sp>
    </p:spTree>
    <p:extLst>
      <p:ext uri="{BB962C8B-B14F-4D97-AF65-F5344CB8AC3E}">
        <p14:creationId xmlns:p14="http://schemas.microsoft.com/office/powerpoint/2010/main" val="286379499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6E464-F975-0C7D-197A-2970399E6190}"/>
              </a:ext>
            </a:extLst>
          </p:cNvPr>
          <p:cNvSpPr>
            <a:spLocks noGrp="1"/>
          </p:cNvSpPr>
          <p:nvPr>
            <p:ph type="title"/>
          </p:nvPr>
        </p:nvSpPr>
        <p:spPr/>
        <p:txBody>
          <a:bodyPr/>
          <a:lstStyle/>
          <a:p>
            <a:r>
              <a:rPr lang="en-US"/>
              <a:t>Why hybrid-drop is slower than layered</a:t>
            </a:r>
            <a:r>
              <a:rPr lang="en-US" dirty="0"/>
              <a:t>?</a:t>
            </a:r>
          </a:p>
        </p:txBody>
      </p:sp>
      <p:sp>
        <p:nvSpPr>
          <p:cNvPr id="3" name="Content Placeholder 2">
            <a:extLst>
              <a:ext uri="{FF2B5EF4-FFF2-40B4-BE49-F238E27FC236}">
                <a16:creationId xmlns:a16="http://schemas.microsoft.com/office/drawing/2014/main" id="{E9A6BDEF-0548-33E3-938B-027E7E255047}"/>
              </a:ext>
            </a:extLst>
          </p:cNvPr>
          <p:cNvSpPr>
            <a:spLocks noGrp="1"/>
          </p:cNvSpPr>
          <p:nvPr>
            <p:ph idx="1"/>
          </p:nvPr>
        </p:nvSpPr>
        <p:spPr/>
        <p:txBody>
          <a:bodyPr/>
          <a:lstStyle/>
          <a:p>
            <a:r>
              <a:rPr lang="en-US"/>
              <a:t>It was caused by an incorrect gpuchunk setting: </a:t>
            </a:r>
            <a:endParaRPr lang="en-US" dirty="0"/>
          </a:p>
          <a:p>
            <a:pPr marL="457200" lvl="1" indent="0">
              <a:buNone/>
            </a:pPr>
            <a:r>
              <a:rPr lang="en-US"/>
              <a:t>Hybrid-Drop used 100K, while the others used 1M</a:t>
            </a:r>
            <a:r>
              <a:rPr lang="en-US" dirty="0"/>
              <a:t>.</a:t>
            </a:r>
          </a:p>
        </p:txBody>
      </p:sp>
      <p:graphicFrame>
        <p:nvGraphicFramePr>
          <p:cNvPr id="6" name="Table 5">
            <a:extLst>
              <a:ext uri="{FF2B5EF4-FFF2-40B4-BE49-F238E27FC236}">
                <a16:creationId xmlns:a16="http://schemas.microsoft.com/office/drawing/2014/main" id="{3C79D71B-105A-025B-1FD4-CB5747B99BA5}"/>
              </a:ext>
            </a:extLst>
          </p:cNvPr>
          <p:cNvGraphicFramePr>
            <a:graphicFrameLocks noGrp="1"/>
          </p:cNvGraphicFramePr>
          <p:nvPr>
            <p:extLst>
              <p:ext uri="{D42A27DB-BD31-4B8C-83A1-F6EECF244321}">
                <p14:modId xmlns:p14="http://schemas.microsoft.com/office/powerpoint/2010/main" val="2218124874"/>
              </p:ext>
            </p:extLst>
          </p:nvPr>
        </p:nvGraphicFramePr>
        <p:xfrm>
          <a:off x="509155" y="3761509"/>
          <a:ext cx="10920846" cy="1136215"/>
        </p:xfrm>
        <a:graphic>
          <a:graphicData uri="http://schemas.openxmlformats.org/drawingml/2006/table">
            <a:tbl>
              <a:tblPr>
                <a:tableStyleId>{5C22544A-7EE6-4342-B048-85BDC9FD1C3A}</a:tableStyleId>
              </a:tblPr>
              <a:tblGrid>
                <a:gridCol w="2202872">
                  <a:extLst>
                    <a:ext uri="{9D8B030D-6E8A-4147-A177-3AD203B41FA5}">
                      <a16:colId xmlns:a16="http://schemas.microsoft.com/office/drawing/2014/main" val="2457110133"/>
                    </a:ext>
                  </a:extLst>
                </a:gridCol>
                <a:gridCol w="1953491">
                  <a:extLst>
                    <a:ext uri="{9D8B030D-6E8A-4147-A177-3AD203B41FA5}">
                      <a16:colId xmlns:a16="http://schemas.microsoft.com/office/drawing/2014/main" val="3853503667"/>
                    </a:ext>
                  </a:extLst>
                </a:gridCol>
                <a:gridCol w="1527464">
                  <a:extLst>
                    <a:ext uri="{9D8B030D-6E8A-4147-A177-3AD203B41FA5}">
                      <a16:colId xmlns:a16="http://schemas.microsoft.com/office/drawing/2014/main" val="1010362570"/>
                    </a:ext>
                  </a:extLst>
                </a:gridCol>
                <a:gridCol w="2254409">
                  <a:extLst>
                    <a:ext uri="{9D8B030D-6E8A-4147-A177-3AD203B41FA5}">
                      <a16:colId xmlns:a16="http://schemas.microsoft.com/office/drawing/2014/main" val="3721380"/>
                    </a:ext>
                  </a:extLst>
                </a:gridCol>
                <a:gridCol w="2982610">
                  <a:extLst>
                    <a:ext uri="{9D8B030D-6E8A-4147-A177-3AD203B41FA5}">
                      <a16:colId xmlns:a16="http://schemas.microsoft.com/office/drawing/2014/main" val="3894600151"/>
                    </a:ext>
                  </a:extLst>
                </a:gridCol>
              </a:tblGrid>
              <a:tr h="639010">
                <a:tc>
                  <a:txBody>
                    <a:bodyPr/>
                    <a:lstStyle/>
                    <a:p>
                      <a:pPr algn="ctr" fontAlgn="b">
                        <a:buNone/>
                      </a:pPr>
                      <a:r>
                        <a:rPr lang="en-US" sz="1800" b="1" u="none" strike="noStrike" dirty="0">
                          <a:effectLst/>
                        </a:rPr>
                        <a:t>dataset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effectLst/>
                        </a:rPr>
                        <a:t>G2AIMD (</a:t>
                      </a:r>
                      <a:r>
                        <a:rPr lang="en-US" sz="1800" b="1" u="none" strike="noStrike" dirty="0" err="1">
                          <a:effectLst/>
                        </a:rPr>
                        <a:t>pingpong</a:t>
                      </a:r>
                      <a:r>
                        <a:rPr lang="en-US" sz="1800" b="1" u="none" strike="noStrike" dirty="0">
                          <a:effectLst/>
                        </a:rPr>
                        <a:t>)</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dirty="0" err="1">
                          <a:effectLst/>
                        </a:rPr>
                        <a:t>gpu</a:t>
                      </a:r>
                      <a:r>
                        <a:rPr lang="en-US" sz="1800" b="1" u="none" strike="noStrike" dirty="0">
                          <a:effectLst/>
                        </a:rPr>
                        <a:t>-layered</a:t>
                      </a:r>
                      <a:endParaRPr lang="en-US" sz="1800" b="1" i="0" u="none" strike="noStrike" dirty="0">
                        <a:solidFill>
                          <a:srgbClr val="FFFFFF"/>
                        </a:solidFill>
                        <a:effectLst/>
                        <a:latin typeface="Aptos Narrow" panose="020B0004020202020204" pitchFamily="34" charset="0"/>
                      </a:endParaRPr>
                    </a:p>
                  </a:txBody>
                  <a:tcPr marL="5454" marR="5454" marT="5454" marB="0" anchor="b"/>
                </a:tc>
                <a:tc>
                  <a:txBody>
                    <a:bodyPr/>
                    <a:lstStyle/>
                    <a:p>
                      <a:pPr algn="ctr" fontAlgn="b">
                        <a:buNone/>
                      </a:pPr>
                      <a:r>
                        <a:rPr lang="en-US" sz="1800" b="1" u="none" strike="noStrike">
                          <a:solidFill>
                            <a:srgbClr val="C00000"/>
                          </a:solidFill>
                          <a:effectLst/>
                        </a:rPr>
                        <a:t>gpu-hybrid-drop </a:t>
                      </a:r>
                      <a:endParaRPr lang="en-US" sz="1800" b="1" i="0" u="none" strike="noStrike" dirty="0">
                        <a:solidFill>
                          <a:srgbClr val="C00000"/>
                        </a:solidFill>
                        <a:effectLst/>
                        <a:latin typeface="Aptos Narrow" panose="020B0004020202020204" pitchFamily="34" charset="0"/>
                      </a:endParaRPr>
                    </a:p>
                  </a:txBody>
                  <a:tcPr marL="5454" marR="5454" marT="5454" marB="0" anchor="b"/>
                </a:tc>
                <a:tc>
                  <a:txBody>
                    <a:bodyPr/>
                    <a:lstStyle/>
                    <a:p>
                      <a:pPr algn="ctr" fontAlgn="b">
                        <a:buNone/>
                      </a:pPr>
                      <a:r>
                        <a:rPr lang="en-US" sz="1600" b="1" u="none" strike="noStrike" dirty="0" err="1">
                          <a:solidFill>
                            <a:schemeClr val="tx1"/>
                          </a:solidFill>
                          <a:effectLst/>
                        </a:rPr>
                        <a:t>gpu</a:t>
                      </a:r>
                      <a:r>
                        <a:rPr lang="en-US" sz="1600" b="1"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2035187684"/>
                  </a:ext>
                </a:extLst>
              </a:tr>
              <a:tr h="327345">
                <a:tc>
                  <a:txBody>
                    <a:bodyPr/>
                    <a:lstStyle/>
                    <a:p>
                      <a:pPr algn="l" fontAlgn="b">
                        <a:buNone/>
                      </a:pPr>
                      <a:r>
                        <a:rPr lang="en-US" sz="1600" b="0" u="none" strike="noStrike" dirty="0">
                          <a:solidFill>
                            <a:schemeClr val="tx1"/>
                          </a:solidFill>
                          <a:effectLst/>
                        </a:rPr>
                        <a:t>web-wikipedia_link_en13-all</a:t>
                      </a:r>
                      <a:endParaRPr lang="en-US" sz="16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150.7</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800" b="0" u="none" strike="noStrike" dirty="0">
                          <a:solidFill>
                            <a:schemeClr val="tx1"/>
                          </a:solidFill>
                          <a:effectLst/>
                        </a:rPr>
                        <a:t>225.3</a:t>
                      </a:r>
                      <a:endParaRPr lang="en-US" sz="1800" b="0" i="0" u="none" strike="noStrike" dirty="0">
                        <a:solidFill>
                          <a:schemeClr val="tx1"/>
                        </a:solidFill>
                        <a:effectLst/>
                        <a:latin typeface="Aptos Narrow" panose="020B0004020202020204" pitchFamily="34" charset="0"/>
                      </a:endParaRPr>
                    </a:p>
                  </a:txBody>
                  <a:tcPr marL="9525" marR="9525" marT="9525" marB="0" anchor="b"/>
                </a:tc>
                <a:tc>
                  <a:txBody>
                    <a:bodyPr/>
                    <a:lstStyle/>
                    <a:p>
                      <a:pPr algn="ctr" fontAlgn="b">
                        <a:buNone/>
                      </a:pPr>
                      <a:r>
                        <a:rPr lang="en-US" sz="1700" b="0" u="none" strike="noStrike" dirty="0">
                          <a:solidFill>
                            <a:srgbClr val="C00000"/>
                          </a:solidFill>
                          <a:effectLst/>
                        </a:rPr>
                        <a:t>317.9</a:t>
                      </a:r>
                      <a:endParaRPr lang="en-US" sz="1700" b="0" i="0" u="none" strike="noStrike" dirty="0">
                        <a:solidFill>
                          <a:srgbClr val="C00000"/>
                        </a:solidFill>
                        <a:effectLst/>
                        <a:latin typeface="Monaco" pitchFamily="2" charset="77"/>
                      </a:endParaRPr>
                    </a:p>
                  </a:txBody>
                  <a:tcPr marL="9525" marR="9525" marT="9525" marB="0" anchor="b"/>
                </a:tc>
                <a:tc>
                  <a:txBody>
                    <a:bodyPr/>
                    <a:lstStyle/>
                    <a:p>
                      <a:pPr algn="ctr" fontAlgn="b">
                        <a:buNone/>
                      </a:pPr>
                      <a:r>
                        <a:rPr lang="en-US" sz="1800" b="0" u="none" strike="noStrike" dirty="0">
                          <a:solidFill>
                            <a:schemeClr val="tx1"/>
                          </a:solidFill>
                          <a:effectLst/>
                        </a:rPr>
                        <a:t>147.3</a:t>
                      </a:r>
                      <a:endParaRPr lang="en-US" sz="1800" b="0" i="0" u="none" strike="noStrike" dirty="0">
                        <a:solidFill>
                          <a:schemeClr val="tx1"/>
                        </a:solidFill>
                        <a:effectLst/>
                        <a:latin typeface="Aptos Narrow" panose="020B0004020202020204" pitchFamily="34" charset="0"/>
                      </a:endParaRPr>
                    </a:p>
                  </a:txBody>
                  <a:tcPr marL="9525" marR="9525" marT="9525" marB="0" anchor="b"/>
                </a:tc>
                <a:extLst>
                  <a:ext uri="{0D108BD9-81ED-4DB2-BD59-A6C34878D82A}">
                    <a16:rowId xmlns:a16="http://schemas.microsoft.com/office/drawing/2014/main" val="932854261"/>
                  </a:ext>
                </a:extLst>
              </a:tr>
            </a:tbl>
          </a:graphicData>
        </a:graphic>
      </p:graphicFrame>
    </p:spTree>
    <p:extLst>
      <p:ext uri="{BB962C8B-B14F-4D97-AF65-F5344CB8AC3E}">
        <p14:creationId xmlns:p14="http://schemas.microsoft.com/office/powerpoint/2010/main" val="30389230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F612FE-A783-B001-47EB-C974AAAD00C7}"/>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EC9936E5-358D-5258-9BD9-A37F7DC97992}"/>
              </a:ext>
            </a:extLst>
          </p:cNvPr>
          <p:cNvGraphicFramePr>
            <a:graphicFrameLocks noGrp="1"/>
          </p:cNvGraphicFramePr>
          <p:nvPr>
            <p:ph idx="1"/>
            <p:extLst>
              <p:ext uri="{D42A27DB-BD31-4B8C-83A1-F6EECF244321}">
                <p14:modId xmlns:p14="http://schemas.microsoft.com/office/powerpoint/2010/main" val="2868310211"/>
              </p:ext>
            </p:extLst>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graphicFrame>
        <p:nvGraphicFramePr>
          <p:cNvPr id="6" name="Table 5">
            <a:extLst>
              <a:ext uri="{FF2B5EF4-FFF2-40B4-BE49-F238E27FC236}">
                <a16:creationId xmlns:a16="http://schemas.microsoft.com/office/drawing/2014/main" id="{57FCEF90-6001-61FD-248D-4F9005122A57}"/>
              </a:ext>
            </a:extLst>
          </p:cNvPr>
          <p:cNvGraphicFramePr>
            <a:graphicFrameLocks noGrp="1"/>
          </p:cNvGraphicFramePr>
          <p:nvPr>
            <p:extLst>
              <p:ext uri="{D42A27DB-BD31-4B8C-83A1-F6EECF244321}">
                <p14:modId xmlns:p14="http://schemas.microsoft.com/office/powerpoint/2010/main" val="844391383"/>
              </p:ext>
            </p:extLst>
          </p:nvPr>
        </p:nvGraphicFramePr>
        <p:xfrm>
          <a:off x="568038" y="3291201"/>
          <a:ext cx="5527965" cy="1752600"/>
        </p:xfrm>
        <a:graphic>
          <a:graphicData uri="http://schemas.openxmlformats.org/drawingml/2006/table">
            <a:tbl>
              <a:tblPr>
                <a:tableStyleId>{5C22544A-7EE6-4342-B048-85BDC9FD1C3A}</a:tableStyleId>
              </a:tblPr>
              <a:tblGrid>
                <a:gridCol w="1842655">
                  <a:extLst>
                    <a:ext uri="{9D8B030D-6E8A-4147-A177-3AD203B41FA5}">
                      <a16:colId xmlns:a16="http://schemas.microsoft.com/office/drawing/2014/main" val="4023161429"/>
                    </a:ext>
                  </a:extLst>
                </a:gridCol>
                <a:gridCol w="1842655">
                  <a:extLst>
                    <a:ext uri="{9D8B030D-6E8A-4147-A177-3AD203B41FA5}">
                      <a16:colId xmlns:a16="http://schemas.microsoft.com/office/drawing/2014/main" val="1027886083"/>
                    </a:ext>
                  </a:extLst>
                </a:gridCol>
                <a:gridCol w="1842655">
                  <a:extLst>
                    <a:ext uri="{9D8B030D-6E8A-4147-A177-3AD203B41FA5}">
                      <a16:colId xmlns:a16="http://schemas.microsoft.com/office/drawing/2014/main" val="2854186224"/>
                    </a:ext>
                  </a:extLst>
                </a:gridCol>
              </a:tblGrid>
              <a:tr h="292100">
                <a:tc>
                  <a:txBody>
                    <a:bodyPr/>
                    <a:lstStyle/>
                    <a:p>
                      <a:pPr algn="ctr"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-hybrid-drop</a:t>
                      </a:r>
                      <a:endParaRPr lang="en-US" sz="1600" b="1" i="0" u="none" strike="noStrike" dirty="0">
                        <a:solidFill>
                          <a:schemeClr val="tx1"/>
                        </a:solidFill>
                        <a:effectLst/>
                        <a:latin typeface="Aptos Narrow" panose="020B0004020202020204" pitchFamily="34" charset="0"/>
                      </a:endParaRPr>
                    </a:p>
                  </a:txBody>
                  <a:tcPr marL="7124" marR="7124" marT="7124" marB="0" anchor="b"/>
                </a:tc>
                <a:tc>
                  <a:txBody>
                    <a:bodyPr/>
                    <a:lstStyle/>
                    <a:p>
                      <a:pPr algn="ctr" fontAlgn="b">
                        <a:buNone/>
                      </a:pPr>
                      <a:r>
                        <a:rPr lang="en-US" sz="1600" u="none" strike="noStrike" dirty="0" err="1">
                          <a:solidFill>
                            <a:schemeClr val="tx1"/>
                          </a:solidFill>
                          <a:effectLst/>
                        </a:rPr>
                        <a:t>gpu</a:t>
                      </a:r>
                      <a:r>
                        <a:rPr lang="en-US" sz="1600" u="none" strike="noStrike" dirty="0">
                          <a:solidFill>
                            <a:schemeClr val="tx1"/>
                          </a:solidFill>
                          <a:effectLst/>
                        </a:rPr>
                        <a:t>-hybrid-copy</a:t>
                      </a:r>
                      <a:endParaRPr lang="en-US" sz="1600" b="1" i="0" u="none" strike="noStrike" dirty="0">
                        <a:solidFill>
                          <a:schemeClr val="tx1"/>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964431789"/>
                  </a:ext>
                </a:extLst>
              </a:tr>
              <a:tr h="292100">
                <a:tc>
                  <a:txBody>
                    <a:bodyPr/>
                    <a:lstStyle/>
                    <a:p>
                      <a:pPr algn="ctr" fontAlgn="b">
                        <a:buNone/>
                      </a:pPr>
                      <a:r>
                        <a:rPr lang="en-US" sz="1600" u="none" strike="noStrike" dirty="0">
                          <a:effectLst/>
                        </a:rPr>
                        <a:t>331.9</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281.0</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183.09</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579266394"/>
                  </a:ext>
                </a:extLst>
              </a:tr>
              <a:tr h="292100">
                <a:tc>
                  <a:txBody>
                    <a:bodyPr/>
                    <a:lstStyle/>
                    <a:p>
                      <a:pPr algn="ctr" fontAlgn="b">
                        <a:buNone/>
                      </a:pPr>
                      <a:r>
                        <a:rPr lang="en-US" sz="1600" u="none" strike="noStrike" dirty="0">
                          <a:effectLst/>
                        </a:rPr>
                        <a:t>234.4</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175.6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479.54</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310646299"/>
                  </a:ext>
                </a:extLst>
              </a:tr>
              <a:tr h="292100">
                <a:tc>
                  <a:txBody>
                    <a:bodyPr/>
                    <a:lstStyle/>
                    <a:p>
                      <a:pPr algn="ctr" fontAlgn="b">
                        <a:buNone/>
                      </a:pPr>
                      <a:r>
                        <a:rPr lang="en-US" sz="1600" u="none" strike="noStrike" dirty="0">
                          <a:effectLst/>
                        </a:rPr>
                        <a:t>149.7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429.7</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180.02</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83417123"/>
                  </a:ext>
                </a:extLst>
              </a:tr>
              <a:tr h="292100">
                <a:tc>
                  <a:txBody>
                    <a:bodyPr/>
                    <a:lstStyle/>
                    <a:p>
                      <a:pPr algn="ctr" fontAlgn="b">
                        <a:buNone/>
                      </a:pPr>
                      <a:r>
                        <a:rPr lang="en-US" sz="1600" b="1" u="none" strike="noStrike" dirty="0">
                          <a:effectLst/>
                        </a:rPr>
                        <a:t>42.4*</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177.5</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182.85</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814087310"/>
                  </a:ext>
                </a:extLst>
              </a:tr>
              <a:tr h="292100">
                <a:tc>
                  <a:txBody>
                    <a:bodyPr/>
                    <a:lstStyle/>
                    <a:p>
                      <a:pPr algn="ctr" fontAlgn="b">
                        <a:buNone/>
                      </a:pPr>
                      <a:r>
                        <a:rPr lang="en-US" sz="1600" u="none" strike="noStrike" dirty="0">
                          <a:effectLst/>
                        </a:rPr>
                        <a:t>191.6</a:t>
                      </a:r>
                      <a:endParaRPr lang="en-US" sz="1600" b="0"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b="1" u="none" strike="noStrike" dirty="0">
                          <a:effectLst/>
                        </a:rPr>
                        <a:t>41.6*</a:t>
                      </a:r>
                      <a:endParaRPr lang="en-US" sz="1600" b="1" i="0" u="none" strike="noStrike" dirty="0">
                        <a:solidFill>
                          <a:srgbClr val="000000"/>
                        </a:solidFill>
                        <a:effectLst/>
                        <a:latin typeface="Monaco" pitchFamily="2" charset="77"/>
                      </a:endParaRPr>
                    </a:p>
                  </a:txBody>
                  <a:tcPr marL="0" marR="0" marT="0" marB="0" anchor="b"/>
                </a:tc>
                <a:tc>
                  <a:txBody>
                    <a:bodyPr/>
                    <a:lstStyle/>
                    <a:p>
                      <a:pPr algn="ctr" fontAlgn="b">
                        <a:buNone/>
                      </a:pPr>
                      <a:r>
                        <a:rPr lang="en-US" sz="1600" u="none" strike="noStrike" dirty="0">
                          <a:effectLst/>
                        </a:rPr>
                        <a:t>476.47</a:t>
                      </a:r>
                      <a:endParaRPr lang="en-US" sz="1600" b="0" i="0" u="none" strike="noStrike" dirty="0">
                        <a:solidFill>
                          <a:srgbClr val="000000"/>
                        </a:solidFill>
                        <a:effectLst/>
                        <a:latin typeface="Monaco" pitchFamily="2" charset="77"/>
                      </a:endParaRPr>
                    </a:p>
                  </a:txBody>
                  <a:tcPr marL="0" marR="0" marT="0" marB="0" anchor="b"/>
                </a:tc>
                <a:extLst>
                  <a:ext uri="{0D108BD9-81ED-4DB2-BD59-A6C34878D82A}">
                    <a16:rowId xmlns:a16="http://schemas.microsoft.com/office/drawing/2014/main" val="1467335156"/>
                  </a:ext>
                </a:extLst>
              </a:tr>
            </a:tbl>
          </a:graphicData>
        </a:graphic>
      </p:graphicFrame>
      <p:sp>
        <p:nvSpPr>
          <p:cNvPr id="7" name="TextBox 6">
            <a:extLst>
              <a:ext uri="{FF2B5EF4-FFF2-40B4-BE49-F238E27FC236}">
                <a16:creationId xmlns:a16="http://schemas.microsoft.com/office/drawing/2014/main" id="{5C3F4191-D22A-D3C5-EF9F-30E752B27629}"/>
              </a:ext>
            </a:extLst>
          </p:cNvPr>
          <p:cNvSpPr txBox="1"/>
          <p:nvPr/>
        </p:nvSpPr>
        <p:spPr>
          <a:xfrm>
            <a:off x="2469574" y="2921869"/>
            <a:ext cx="1507400" cy="369332"/>
          </a:xfrm>
          <a:prstGeom prst="rect">
            <a:avLst/>
          </a:prstGeom>
          <a:noFill/>
        </p:spPr>
        <p:txBody>
          <a:bodyPr wrap="none" rtlCol="0">
            <a:spAutoFit/>
          </a:bodyPr>
          <a:lstStyle/>
          <a:p>
            <a:r>
              <a:rPr lang="en-US" b="1" dirty="0"/>
              <a:t>5 executions</a:t>
            </a:r>
          </a:p>
        </p:txBody>
      </p:sp>
      <p:sp>
        <p:nvSpPr>
          <p:cNvPr id="9" name="TextBox 8">
            <a:extLst>
              <a:ext uri="{FF2B5EF4-FFF2-40B4-BE49-F238E27FC236}">
                <a16:creationId xmlns:a16="http://schemas.microsoft.com/office/drawing/2014/main" id="{F953B5A9-DF3D-53CF-A3B9-B621C35D24CF}"/>
              </a:ext>
            </a:extLst>
          </p:cNvPr>
          <p:cNvSpPr txBox="1"/>
          <p:nvPr/>
        </p:nvSpPr>
        <p:spPr>
          <a:xfrm>
            <a:off x="1714500" y="5538355"/>
            <a:ext cx="2818977" cy="369332"/>
          </a:xfrm>
          <a:prstGeom prst="rect">
            <a:avLst/>
          </a:prstGeom>
          <a:noFill/>
        </p:spPr>
        <p:txBody>
          <a:bodyPr wrap="none" rtlCol="0">
            <a:spAutoFit/>
          </a:bodyPr>
          <a:lstStyle/>
          <a:p>
            <a:r>
              <a:rPr lang="en-US" b="1" dirty="0"/>
              <a:t>* Did not overflow to host</a:t>
            </a:r>
          </a:p>
        </p:txBody>
      </p:sp>
      <p:sp>
        <p:nvSpPr>
          <p:cNvPr id="11" name="TextBox 10">
            <a:extLst>
              <a:ext uri="{FF2B5EF4-FFF2-40B4-BE49-F238E27FC236}">
                <a16:creationId xmlns:a16="http://schemas.microsoft.com/office/drawing/2014/main" id="{410B255E-E163-B8EB-5D6D-DD441EED9F78}"/>
              </a:ext>
            </a:extLst>
          </p:cNvPr>
          <p:cNvSpPr txBox="1"/>
          <p:nvPr/>
        </p:nvSpPr>
        <p:spPr>
          <a:xfrm>
            <a:off x="7031182" y="3705836"/>
            <a:ext cx="4502727" cy="1754326"/>
          </a:xfrm>
          <a:prstGeom prst="rect">
            <a:avLst/>
          </a:prstGeom>
          <a:noFill/>
        </p:spPr>
        <p:txBody>
          <a:bodyPr wrap="square">
            <a:spAutoFit/>
          </a:bodyPr>
          <a:lstStyle/>
          <a:p>
            <a:r>
              <a:rPr lang="en-US" b="1" dirty="0" err="1"/>
              <a:t>gpu</a:t>
            </a:r>
            <a:r>
              <a:rPr lang="en-US" b="1" dirty="0"/>
              <a:t>-hybrid-copy summary:</a:t>
            </a:r>
            <a:endParaRPr lang="en-US" b="1" dirty="0">
              <a:latin typeface="Aptos Narrow" panose="020B0004020202020204" pitchFamily="34" charset="0"/>
            </a:endParaRPr>
          </a:p>
          <a:p>
            <a:endParaRPr lang="en-US" dirty="0"/>
          </a:p>
          <a:p>
            <a:r>
              <a:rPr lang="en-US" dirty="0"/>
              <a:t>Total time (s): 181.56</a:t>
            </a:r>
          </a:p>
          <a:p>
            <a:r>
              <a:rPr lang="en-US" dirty="0"/>
              <a:t>at switch </a:t>
            </a:r>
            <a:r>
              <a:rPr lang="en-US" dirty="0" err="1"/>
              <a:t>dump_to_host</a:t>
            </a:r>
            <a:r>
              <a:rPr lang="en-US" dirty="0"/>
              <a:t> time (s): 3.44</a:t>
            </a:r>
          </a:p>
          <a:p>
            <a:r>
              <a:rPr lang="en-US" dirty="0"/>
              <a:t>other </a:t>
            </a:r>
            <a:r>
              <a:rPr lang="en-US" dirty="0" err="1"/>
              <a:t>dump_to_host</a:t>
            </a:r>
            <a:r>
              <a:rPr lang="en-US" dirty="0"/>
              <a:t> time (s): 24.86</a:t>
            </a:r>
          </a:p>
          <a:p>
            <a:r>
              <a:rPr lang="en-US" dirty="0" err="1"/>
              <a:t>load_from_host</a:t>
            </a:r>
            <a:r>
              <a:rPr lang="en-US" dirty="0"/>
              <a:t> time (s): 31.78</a:t>
            </a:r>
          </a:p>
        </p:txBody>
      </p:sp>
    </p:spTree>
    <p:extLst>
      <p:ext uri="{BB962C8B-B14F-4D97-AF65-F5344CB8AC3E}">
        <p14:creationId xmlns:p14="http://schemas.microsoft.com/office/powerpoint/2010/main" val="69854543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95BEF8-7CFE-8D4A-07BD-F542601BA21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7DE7B21-17B3-0962-472F-BE6388D2E106}"/>
              </a:ext>
            </a:extLst>
          </p:cNvPr>
          <p:cNvSpPr>
            <a:spLocks noGrp="1"/>
          </p:cNvSpPr>
          <p:nvPr>
            <p:ph type="title"/>
          </p:nvPr>
        </p:nvSpPr>
        <p:spPr/>
        <p:txBody>
          <a:bodyPr/>
          <a:lstStyle/>
          <a:p>
            <a:r>
              <a:rPr lang="en-US"/>
              <a:t>Why hybrid is slower than layered? (</a:t>
            </a:r>
            <a:r>
              <a:rPr lang="en-US" dirty="0"/>
              <a:t>SM)</a:t>
            </a:r>
          </a:p>
        </p:txBody>
      </p:sp>
      <p:graphicFrame>
        <p:nvGraphicFramePr>
          <p:cNvPr id="4" name="Content Placeholder 3">
            <a:extLst>
              <a:ext uri="{FF2B5EF4-FFF2-40B4-BE49-F238E27FC236}">
                <a16:creationId xmlns:a16="http://schemas.microsoft.com/office/drawing/2014/main" id="{FF9DD2AD-416D-F32C-3937-4B189D3C7952}"/>
              </a:ext>
            </a:extLst>
          </p:cNvPr>
          <p:cNvGraphicFramePr>
            <a:graphicFrameLocks noGrp="1"/>
          </p:cNvGraphicFramePr>
          <p:nvPr>
            <p:ph idx="1"/>
          </p:nvPr>
        </p:nvGraphicFramePr>
        <p:xfrm>
          <a:off x="838200" y="1900876"/>
          <a:ext cx="10515600" cy="526440"/>
        </p:xfrm>
        <a:graphic>
          <a:graphicData uri="http://schemas.openxmlformats.org/drawingml/2006/table">
            <a:tbl>
              <a:tblPr>
                <a:tableStyleId>{073A0DAA-6AF3-43AB-8588-CEC1D06C72B9}</a:tableStyleId>
              </a:tblPr>
              <a:tblGrid>
                <a:gridCol w="2916250">
                  <a:extLst>
                    <a:ext uri="{9D8B030D-6E8A-4147-A177-3AD203B41FA5}">
                      <a16:colId xmlns:a16="http://schemas.microsoft.com/office/drawing/2014/main" val="1046455315"/>
                    </a:ext>
                  </a:extLst>
                </a:gridCol>
                <a:gridCol w="838332">
                  <a:extLst>
                    <a:ext uri="{9D8B030D-6E8A-4147-A177-3AD203B41FA5}">
                      <a16:colId xmlns:a16="http://schemas.microsoft.com/office/drawing/2014/main" val="1687158871"/>
                    </a:ext>
                  </a:extLst>
                </a:gridCol>
                <a:gridCol w="2201408">
                  <a:extLst>
                    <a:ext uri="{9D8B030D-6E8A-4147-A177-3AD203B41FA5}">
                      <a16:colId xmlns:a16="http://schemas.microsoft.com/office/drawing/2014/main" val="263035580"/>
                    </a:ext>
                  </a:extLst>
                </a:gridCol>
                <a:gridCol w="1227592">
                  <a:extLst>
                    <a:ext uri="{9D8B030D-6E8A-4147-A177-3AD203B41FA5}">
                      <a16:colId xmlns:a16="http://schemas.microsoft.com/office/drawing/2014/main" val="4056306273"/>
                    </a:ext>
                  </a:extLst>
                </a:gridCol>
                <a:gridCol w="1812148">
                  <a:extLst>
                    <a:ext uri="{9D8B030D-6E8A-4147-A177-3AD203B41FA5}">
                      <a16:colId xmlns:a16="http://schemas.microsoft.com/office/drawing/2014/main" val="329124393"/>
                    </a:ext>
                  </a:extLst>
                </a:gridCol>
                <a:gridCol w="1519870">
                  <a:extLst>
                    <a:ext uri="{9D8B030D-6E8A-4147-A177-3AD203B41FA5}">
                      <a16:colId xmlns:a16="http://schemas.microsoft.com/office/drawing/2014/main" val="2603204388"/>
                    </a:ext>
                  </a:extLst>
                </a:gridCol>
              </a:tblGrid>
              <a:tr h="275476">
                <a:tc>
                  <a:txBody>
                    <a:bodyPr/>
                    <a:lstStyle/>
                    <a:p>
                      <a:pPr algn="l" fontAlgn="b">
                        <a:buNone/>
                      </a:pPr>
                      <a:r>
                        <a:rPr lang="en-US" sz="1600" u="none" strike="noStrike" dirty="0">
                          <a:effectLst/>
                        </a:rPr>
                        <a:t>dataset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a:effectLst/>
                        </a:rPr>
                        <a:t>query</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a:effectLst/>
                        </a:rPr>
                        <a:t>G2AIMD (</a:t>
                      </a:r>
                      <a:r>
                        <a:rPr lang="en-US" sz="1600" u="none" strike="noStrike" dirty="0" err="1">
                          <a:effectLst/>
                        </a:rPr>
                        <a:t>pingpong</a:t>
                      </a:r>
                      <a:r>
                        <a:rPr lang="en-US" sz="1600" u="none" strike="noStrike" dirty="0">
                          <a:effectLst/>
                        </a:rPr>
                        <a:t>)</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effectLst/>
                        </a:rPr>
                        <a:t>gpu</a:t>
                      </a:r>
                      <a:r>
                        <a:rPr lang="en-US" sz="1600" u="none" strike="noStrike" dirty="0">
                          <a:effectLst/>
                        </a:rPr>
                        <a:t>-layered</a:t>
                      </a:r>
                      <a:endParaRPr lang="en-US" sz="1600" b="1" i="0" u="none" strike="noStrike" dirty="0">
                        <a:solidFill>
                          <a:srgbClr val="FFFFFF"/>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-hybrid-drop</a:t>
                      </a:r>
                      <a:endParaRPr lang="en-US" sz="1600" b="1" i="0" u="none" strike="noStrike" dirty="0">
                        <a:solidFill>
                          <a:srgbClr val="C00000"/>
                        </a:solidFill>
                        <a:effectLst/>
                        <a:latin typeface="Aptos Narrow" panose="020B0004020202020204" pitchFamily="34" charset="0"/>
                      </a:endParaRPr>
                    </a:p>
                  </a:txBody>
                  <a:tcPr marL="7124" marR="7124" marT="7124" marB="0" anchor="b"/>
                </a:tc>
                <a:tc>
                  <a:txBody>
                    <a:bodyPr/>
                    <a:lstStyle/>
                    <a:p>
                      <a:pPr algn="l" fontAlgn="b">
                        <a:buNone/>
                      </a:pPr>
                      <a:r>
                        <a:rPr lang="en-US" sz="1600" u="none" strike="noStrike" dirty="0" err="1">
                          <a:solidFill>
                            <a:srgbClr val="C00000"/>
                          </a:solidFill>
                          <a:effectLst/>
                        </a:rPr>
                        <a:t>gpu</a:t>
                      </a:r>
                      <a:r>
                        <a:rPr lang="en-US" sz="1600" u="none" strike="noStrike" dirty="0">
                          <a:solidFill>
                            <a:srgbClr val="C00000"/>
                          </a:solidFill>
                          <a:effectLst/>
                        </a:rPr>
                        <a:t>-hybrid-copy</a:t>
                      </a:r>
                      <a:endParaRPr lang="en-US" sz="1600" b="1" i="0" u="none" strike="noStrike" dirty="0">
                        <a:solidFill>
                          <a:srgbClr val="C00000"/>
                        </a:solidFill>
                        <a:effectLst/>
                        <a:latin typeface="Aptos Narrow" panose="020B0004020202020204" pitchFamily="34" charset="0"/>
                      </a:endParaRPr>
                    </a:p>
                  </a:txBody>
                  <a:tcPr marL="7124" marR="7124" marT="7124" marB="0" anchor="b"/>
                </a:tc>
                <a:extLst>
                  <a:ext uri="{0D108BD9-81ED-4DB2-BD59-A6C34878D82A}">
                    <a16:rowId xmlns:a16="http://schemas.microsoft.com/office/drawing/2014/main" val="1927394708"/>
                  </a:ext>
                </a:extLst>
              </a:tr>
              <a:tr h="246979">
                <a:tc>
                  <a:txBody>
                    <a:bodyPr/>
                    <a:lstStyle/>
                    <a:p>
                      <a:pPr algn="l" fontAlgn="b">
                        <a:buNone/>
                      </a:pPr>
                      <a:r>
                        <a:rPr lang="en-US" sz="1600" u="none" strike="noStrike" dirty="0" err="1">
                          <a:effectLst/>
                        </a:rPr>
                        <a:t>zhishi-baidu-internallink</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6</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42.4</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effectLst/>
                        </a:rPr>
                        <a:t>42.5</a:t>
                      </a:r>
                      <a:endParaRPr lang="en-US" sz="1600" b="0" i="0" u="none" strike="noStrike" dirty="0">
                        <a:solidFill>
                          <a:srgbClr val="0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558.7</a:t>
                      </a:r>
                      <a:endParaRPr lang="en-US" sz="1600" b="0" i="0" u="none" strike="noStrike" dirty="0">
                        <a:solidFill>
                          <a:srgbClr val="C00000"/>
                        </a:solidFill>
                        <a:effectLst/>
                        <a:latin typeface="Monaco" pitchFamily="2" charset="77"/>
                      </a:endParaRPr>
                    </a:p>
                  </a:txBody>
                  <a:tcPr marL="7124" marR="7124" marT="7124" marB="0" anchor="b"/>
                </a:tc>
                <a:tc>
                  <a:txBody>
                    <a:bodyPr/>
                    <a:lstStyle/>
                    <a:p>
                      <a:pPr algn="ctr" fontAlgn="b">
                        <a:buNone/>
                      </a:pPr>
                      <a:r>
                        <a:rPr lang="en-US" sz="1600" u="none" strike="noStrike" dirty="0">
                          <a:solidFill>
                            <a:srgbClr val="C00000"/>
                          </a:solidFill>
                          <a:effectLst/>
                        </a:rPr>
                        <a:t>507.6</a:t>
                      </a:r>
                      <a:endParaRPr lang="en-US" sz="1600" b="0" i="0" u="none" strike="noStrike" dirty="0">
                        <a:solidFill>
                          <a:srgbClr val="C00000"/>
                        </a:solidFill>
                        <a:effectLst/>
                        <a:latin typeface="Monaco" pitchFamily="2" charset="77"/>
                      </a:endParaRPr>
                    </a:p>
                  </a:txBody>
                  <a:tcPr marL="7124" marR="7124" marT="7124" marB="0" anchor="b"/>
                </a:tc>
                <a:extLst>
                  <a:ext uri="{0D108BD9-81ED-4DB2-BD59-A6C34878D82A}">
                    <a16:rowId xmlns:a16="http://schemas.microsoft.com/office/drawing/2014/main" val="2305100746"/>
                  </a:ext>
                </a:extLst>
              </a:tr>
            </a:tbl>
          </a:graphicData>
        </a:graphic>
      </p:graphicFrame>
      <p:sp>
        <p:nvSpPr>
          <p:cNvPr id="3" name="Rectangle 2">
            <a:extLst>
              <a:ext uri="{FF2B5EF4-FFF2-40B4-BE49-F238E27FC236}">
                <a16:creationId xmlns:a16="http://schemas.microsoft.com/office/drawing/2014/main" id="{B963D685-554F-5083-27AA-BCFDFC43A3D4}"/>
              </a:ext>
            </a:extLst>
          </p:cNvPr>
          <p:cNvSpPr/>
          <p:nvPr/>
        </p:nvSpPr>
        <p:spPr>
          <a:xfrm>
            <a:off x="1239537" y="3546333"/>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AB724227-A814-D618-0507-C5D96FD2B3E3}"/>
              </a:ext>
            </a:extLst>
          </p:cNvPr>
          <p:cNvSpPr/>
          <p:nvPr/>
        </p:nvSpPr>
        <p:spPr>
          <a:xfrm>
            <a:off x="1769474" y="3637480"/>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8" name="Rectangle 7">
            <a:extLst>
              <a:ext uri="{FF2B5EF4-FFF2-40B4-BE49-F238E27FC236}">
                <a16:creationId xmlns:a16="http://schemas.microsoft.com/office/drawing/2014/main" id="{3B58A93F-2524-B9DA-454F-89C0186D36C4}"/>
              </a:ext>
            </a:extLst>
          </p:cNvPr>
          <p:cNvSpPr/>
          <p:nvPr/>
        </p:nvSpPr>
        <p:spPr>
          <a:xfrm>
            <a:off x="3733357" y="3643128"/>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TextBox 8">
            <a:extLst>
              <a:ext uri="{FF2B5EF4-FFF2-40B4-BE49-F238E27FC236}">
                <a16:creationId xmlns:a16="http://schemas.microsoft.com/office/drawing/2014/main" id="{4EFA0C88-9263-A67B-F9E0-5D8BE0D21B02}"/>
              </a:ext>
            </a:extLst>
          </p:cNvPr>
          <p:cNvSpPr txBox="1"/>
          <p:nvPr/>
        </p:nvSpPr>
        <p:spPr>
          <a:xfrm>
            <a:off x="250467" y="3166356"/>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10" name="Rectangle 9">
            <a:extLst>
              <a:ext uri="{FF2B5EF4-FFF2-40B4-BE49-F238E27FC236}">
                <a16:creationId xmlns:a16="http://schemas.microsoft.com/office/drawing/2014/main" id="{0BB8EB49-67E0-4193-A247-07DBFD2B6542}"/>
              </a:ext>
            </a:extLst>
          </p:cNvPr>
          <p:cNvSpPr/>
          <p:nvPr/>
        </p:nvSpPr>
        <p:spPr>
          <a:xfrm>
            <a:off x="1239537" y="456879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3" name="TextBox 12">
            <a:extLst>
              <a:ext uri="{FF2B5EF4-FFF2-40B4-BE49-F238E27FC236}">
                <a16:creationId xmlns:a16="http://schemas.microsoft.com/office/drawing/2014/main" id="{DBEEAC42-33B4-0AD8-26C2-89339F812096}"/>
              </a:ext>
            </a:extLst>
          </p:cNvPr>
          <p:cNvSpPr txBox="1"/>
          <p:nvPr/>
        </p:nvSpPr>
        <p:spPr>
          <a:xfrm>
            <a:off x="184658" y="4360808"/>
            <a:ext cx="996491" cy="369332"/>
          </a:xfrm>
          <a:prstGeom prst="rect">
            <a:avLst/>
          </a:prstGeom>
          <a:noFill/>
        </p:spPr>
        <p:txBody>
          <a:bodyPr wrap="none" rtlCol="0">
            <a:spAutoFit/>
          </a:bodyPr>
          <a:lstStyle/>
          <a:p>
            <a:r>
              <a:rPr lang="en-US" dirty="0"/>
              <a:t>level i+1</a:t>
            </a:r>
          </a:p>
        </p:txBody>
      </p:sp>
      <p:cxnSp>
        <p:nvCxnSpPr>
          <p:cNvPr id="15" name="Straight Connector 14">
            <a:extLst>
              <a:ext uri="{FF2B5EF4-FFF2-40B4-BE49-F238E27FC236}">
                <a16:creationId xmlns:a16="http://schemas.microsoft.com/office/drawing/2014/main" id="{4472F976-D9C5-900C-295F-A8A09B99C333}"/>
              </a:ext>
            </a:extLst>
          </p:cNvPr>
          <p:cNvCxnSpPr>
            <a:cxnSpLocks/>
          </p:cNvCxnSpPr>
          <p:nvPr/>
        </p:nvCxnSpPr>
        <p:spPr>
          <a:xfrm>
            <a:off x="3087633" y="3416901"/>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8BC24FDA-23F5-3179-C619-D559EFD84644}"/>
              </a:ext>
            </a:extLst>
          </p:cNvPr>
          <p:cNvSpPr txBox="1"/>
          <p:nvPr/>
        </p:nvSpPr>
        <p:spPr>
          <a:xfrm>
            <a:off x="2831738" y="3099816"/>
            <a:ext cx="504369" cy="369332"/>
          </a:xfrm>
          <a:prstGeom prst="rect">
            <a:avLst/>
          </a:prstGeom>
          <a:noFill/>
        </p:spPr>
        <p:txBody>
          <a:bodyPr wrap="none" rtlCol="0">
            <a:spAutoFit/>
          </a:bodyPr>
          <a:lstStyle/>
          <a:p>
            <a:r>
              <a:rPr lang="en-US" dirty="0"/>
              <a:t>eta</a:t>
            </a:r>
          </a:p>
        </p:txBody>
      </p:sp>
      <p:sp>
        <p:nvSpPr>
          <p:cNvPr id="29" name="Rectangle 28">
            <a:extLst>
              <a:ext uri="{FF2B5EF4-FFF2-40B4-BE49-F238E27FC236}">
                <a16:creationId xmlns:a16="http://schemas.microsoft.com/office/drawing/2014/main" id="{54AF1626-445B-6904-AD56-56F4982218C4}"/>
              </a:ext>
            </a:extLst>
          </p:cNvPr>
          <p:cNvSpPr/>
          <p:nvPr/>
        </p:nvSpPr>
        <p:spPr>
          <a:xfrm>
            <a:off x="7665028" y="3462544"/>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0" name="Rectangle 29">
            <a:extLst>
              <a:ext uri="{FF2B5EF4-FFF2-40B4-BE49-F238E27FC236}">
                <a16:creationId xmlns:a16="http://schemas.microsoft.com/office/drawing/2014/main" id="{037DC134-4846-C19E-3F45-17B96B58AC46}"/>
              </a:ext>
            </a:extLst>
          </p:cNvPr>
          <p:cNvSpPr/>
          <p:nvPr/>
        </p:nvSpPr>
        <p:spPr>
          <a:xfrm>
            <a:off x="8194965" y="3553691"/>
            <a:ext cx="507660" cy="192684"/>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1" name="Rectangle 30">
            <a:extLst>
              <a:ext uri="{FF2B5EF4-FFF2-40B4-BE49-F238E27FC236}">
                <a16:creationId xmlns:a16="http://schemas.microsoft.com/office/drawing/2014/main" id="{D0F8857A-CFB8-CC19-B6CC-19043ED96654}"/>
              </a:ext>
            </a:extLst>
          </p:cNvPr>
          <p:cNvSpPr/>
          <p:nvPr/>
        </p:nvSpPr>
        <p:spPr>
          <a:xfrm>
            <a:off x="8805823" y="3554744"/>
            <a:ext cx="474992" cy="187036"/>
          </a:xfrm>
          <a:prstGeom prst="rect">
            <a:avLst/>
          </a:prstGeom>
          <a:solidFill>
            <a:schemeClr val="accent1"/>
          </a:solidFill>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7EED57B5-E32C-36EA-6A99-301B401718C3}"/>
              </a:ext>
            </a:extLst>
          </p:cNvPr>
          <p:cNvSpPr txBox="1"/>
          <p:nvPr/>
        </p:nvSpPr>
        <p:spPr>
          <a:xfrm>
            <a:off x="6675958" y="3082567"/>
            <a:ext cx="749629" cy="369332"/>
          </a:xfrm>
          <a:prstGeom prst="rect">
            <a:avLst/>
          </a:prstGeom>
          <a:noFill/>
        </p:spPr>
        <p:txBody>
          <a:bodyPr wrap="none" rtlCol="0">
            <a:spAutoFit/>
          </a:bodyPr>
          <a:lstStyle/>
          <a:p>
            <a:r>
              <a:rPr lang="en-US" dirty="0"/>
              <a:t>level </a:t>
            </a:r>
            <a:r>
              <a:rPr lang="en-US" dirty="0" err="1"/>
              <a:t>i</a:t>
            </a:r>
            <a:endParaRPr lang="en-US" dirty="0"/>
          </a:p>
        </p:txBody>
      </p:sp>
      <p:sp>
        <p:nvSpPr>
          <p:cNvPr id="33" name="Rectangle 32">
            <a:extLst>
              <a:ext uri="{FF2B5EF4-FFF2-40B4-BE49-F238E27FC236}">
                <a16:creationId xmlns:a16="http://schemas.microsoft.com/office/drawing/2014/main" id="{D13A147D-63D4-4B9F-812B-4ED61C736254}"/>
              </a:ext>
            </a:extLst>
          </p:cNvPr>
          <p:cNvSpPr/>
          <p:nvPr/>
        </p:nvSpPr>
        <p:spPr>
          <a:xfrm>
            <a:off x="7665028" y="4485010"/>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dirty="0"/>
          </a:p>
        </p:txBody>
      </p:sp>
      <p:sp>
        <p:nvSpPr>
          <p:cNvPr id="34" name="TextBox 33">
            <a:extLst>
              <a:ext uri="{FF2B5EF4-FFF2-40B4-BE49-F238E27FC236}">
                <a16:creationId xmlns:a16="http://schemas.microsoft.com/office/drawing/2014/main" id="{800C058B-0396-82B4-4508-45A4039593FA}"/>
              </a:ext>
            </a:extLst>
          </p:cNvPr>
          <p:cNvSpPr txBox="1"/>
          <p:nvPr/>
        </p:nvSpPr>
        <p:spPr>
          <a:xfrm>
            <a:off x="6610149" y="4277019"/>
            <a:ext cx="996491" cy="369332"/>
          </a:xfrm>
          <a:prstGeom prst="rect">
            <a:avLst/>
          </a:prstGeom>
          <a:noFill/>
        </p:spPr>
        <p:txBody>
          <a:bodyPr wrap="none" rtlCol="0">
            <a:spAutoFit/>
          </a:bodyPr>
          <a:lstStyle/>
          <a:p>
            <a:r>
              <a:rPr lang="en-US" dirty="0"/>
              <a:t>level i+1</a:t>
            </a:r>
          </a:p>
        </p:txBody>
      </p:sp>
      <p:cxnSp>
        <p:nvCxnSpPr>
          <p:cNvPr id="35" name="Straight Connector 34">
            <a:extLst>
              <a:ext uri="{FF2B5EF4-FFF2-40B4-BE49-F238E27FC236}">
                <a16:creationId xmlns:a16="http://schemas.microsoft.com/office/drawing/2014/main" id="{6066618D-9A64-FF92-3E61-78A9CF30E0F3}"/>
              </a:ext>
            </a:extLst>
          </p:cNvPr>
          <p:cNvCxnSpPr>
            <a:cxnSpLocks/>
          </p:cNvCxnSpPr>
          <p:nvPr/>
        </p:nvCxnSpPr>
        <p:spPr>
          <a:xfrm>
            <a:off x="9513124" y="3333112"/>
            <a:ext cx="0" cy="681029"/>
          </a:xfrm>
          <a:prstGeom prst="line">
            <a:avLst/>
          </a:prstGeom>
          <a:ln>
            <a:prstDash val="dash"/>
          </a:ln>
        </p:spPr>
        <p:style>
          <a:lnRef idx="2">
            <a:schemeClr val="accent1"/>
          </a:lnRef>
          <a:fillRef idx="0">
            <a:schemeClr val="accent1"/>
          </a:fillRef>
          <a:effectRef idx="1">
            <a:schemeClr val="accent1"/>
          </a:effectRef>
          <a:fontRef idx="minor">
            <a:schemeClr val="tx1"/>
          </a:fontRef>
        </p:style>
      </p:cxnSp>
      <p:sp>
        <p:nvSpPr>
          <p:cNvPr id="36" name="TextBox 35">
            <a:extLst>
              <a:ext uri="{FF2B5EF4-FFF2-40B4-BE49-F238E27FC236}">
                <a16:creationId xmlns:a16="http://schemas.microsoft.com/office/drawing/2014/main" id="{3E3FAC43-2749-D1F9-82CD-BD337CEB35F6}"/>
              </a:ext>
            </a:extLst>
          </p:cNvPr>
          <p:cNvSpPr txBox="1"/>
          <p:nvPr/>
        </p:nvSpPr>
        <p:spPr>
          <a:xfrm>
            <a:off x="9257229" y="3016027"/>
            <a:ext cx="504369" cy="369332"/>
          </a:xfrm>
          <a:prstGeom prst="rect">
            <a:avLst/>
          </a:prstGeom>
          <a:noFill/>
        </p:spPr>
        <p:txBody>
          <a:bodyPr wrap="none" rtlCol="0">
            <a:spAutoFit/>
          </a:bodyPr>
          <a:lstStyle/>
          <a:p>
            <a:r>
              <a:rPr lang="en-US" dirty="0"/>
              <a:t>eta</a:t>
            </a:r>
          </a:p>
        </p:txBody>
      </p:sp>
      <p:sp>
        <p:nvSpPr>
          <p:cNvPr id="39" name="TextBox 38">
            <a:extLst>
              <a:ext uri="{FF2B5EF4-FFF2-40B4-BE49-F238E27FC236}">
                <a16:creationId xmlns:a16="http://schemas.microsoft.com/office/drawing/2014/main" id="{6539E560-8E6D-891F-8F31-D4488203EAEF}"/>
              </a:ext>
            </a:extLst>
          </p:cNvPr>
          <p:cNvSpPr txBox="1"/>
          <p:nvPr/>
        </p:nvSpPr>
        <p:spPr>
          <a:xfrm>
            <a:off x="1569244" y="2778175"/>
            <a:ext cx="3029355" cy="369332"/>
          </a:xfrm>
          <a:prstGeom prst="rect">
            <a:avLst/>
          </a:prstGeom>
          <a:noFill/>
        </p:spPr>
        <p:txBody>
          <a:bodyPr wrap="none" rtlCol="0">
            <a:spAutoFit/>
          </a:bodyPr>
          <a:lstStyle/>
          <a:p>
            <a:r>
              <a:rPr lang="en-US" b="1" dirty="0"/>
              <a:t>Execution with No overflow</a:t>
            </a:r>
          </a:p>
        </p:txBody>
      </p:sp>
      <p:sp>
        <p:nvSpPr>
          <p:cNvPr id="40" name="TextBox 39">
            <a:extLst>
              <a:ext uri="{FF2B5EF4-FFF2-40B4-BE49-F238E27FC236}">
                <a16:creationId xmlns:a16="http://schemas.microsoft.com/office/drawing/2014/main" id="{349A843C-FF3D-7129-9537-A3EA729D7B6F}"/>
              </a:ext>
            </a:extLst>
          </p:cNvPr>
          <p:cNvSpPr txBox="1"/>
          <p:nvPr/>
        </p:nvSpPr>
        <p:spPr>
          <a:xfrm>
            <a:off x="8082331" y="2711119"/>
            <a:ext cx="2683107" cy="369332"/>
          </a:xfrm>
          <a:prstGeom prst="rect">
            <a:avLst/>
          </a:prstGeom>
          <a:noFill/>
        </p:spPr>
        <p:txBody>
          <a:bodyPr wrap="none" rtlCol="0">
            <a:spAutoFit/>
          </a:bodyPr>
          <a:lstStyle/>
          <a:p>
            <a:r>
              <a:rPr lang="en-US" b="1" dirty="0"/>
              <a:t>Execution with overflow</a:t>
            </a:r>
          </a:p>
        </p:txBody>
      </p:sp>
      <p:sp>
        <p:nvSpPr>
          <p:cNvPr id="42" name="Rectangle 41">
            <a:extLst>
              <a:ext uri="{FF2B5EF4-FFF2-40B4-BE49-F238E27FC236}">
                <a16:creationId xmlns:a16="http://schemas.microsoft.com/office/drawing/2014/main" id="{383F1A2F-950C-27AB-6732-D2761185EDD8}"/>
              </a:ext>
            </a:extLst>
          </p:cNvPr>
          <p:cNvSpPr/>
          <p:nvPr/>
        </p:nvSpPr>
        <p:spPr>
          <a:xfrm>
            <a:off x="7665028" y="5049369"/>
            <a:ext cx="3688772" cy="369331"/>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45" name="Rectangle 44">
            <a:extLst>
              <a:ext uri="{FF2B5EF4-FFF2-40B4-BE49-F238E27FC236}">
                <a16:creationId xmlns:a16="http://schemas.microsoft.com/office/drawing/2014/main" id="{C858C73A-4B0B-288F-6624-A646A7838B10}"/>
              </a:ext>
            </a:extLst>
          </p:cNvPr>
          <p:cNvSpPr/>
          <p:nvPr/>
        </p:nvSpPr>
        <p:spPr>
          <a:xfrm>
            <a:off x="1496387" y="4661657"/>
            <a:ext cx="2909358" cy="192684"/>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6AA04472-4CC8-E841-AD7D-816B1B93BD90}"/>
              </a:ext>
            </a:extLst>
          </p:cNvPr>
          <p:cNvSpPr/>
          <p:nvPr/>
        </p:nvSpPr>
        <p:spPr>
          <a:xfrm>
            <a:off x="7752159" y="4565315"/>
            <a:ext cx="3501196" cy="164825"/>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7" name="Rectangle 46">
            <a:extLst>
              <a:ext uri="{FF2B5EF4-FFF2-40B4-BE49-F238E27FC236}">
                <a16:creationId xmlns:a16="http://schemas.microsoft.com/office/drawing/2014/main" id="{3B9A3039-3A9C-96C9-AFEC-D9ECB1A2BDCB}"/>
              </a:ext>
            </a:extLst>
          </p:cNvPr>
          <p:cNvSpPr/>
          <p:nvPr/>
        </p:nvSpPr>
        <p:spPr>
          <a:xfrm>
            <a:off x="7758815" y="5151621"/>
            <a:ext cx="1754309" cy="173589"/>
          </a:xfrm>
          <a:prstGeom prst="rect">
            <a:avLst/>
          </a:prstGeom>
        </p:spPr>
        <p:style>
          <a:lnRef idx="2">
            <a:schemeClr val="accent5">
              <a:shade val="15000"/>
            </a:schemeClr>
          </a:lnRef>
          <a:fillRef idx="1">
            <a:schemeClr val="accent5"/>
          </a:fillRef>
          <a:effectRef idx="0">
            <a:schemeClr val="accent5"/>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DDC9A123-D36C-0B80-DD88-A14FD1931A61}"/>
              </a:ext>
            </a:extLst>
          </p:cNvPr>
          <p:cNvSpPr txBox="1"/>
          <p:nvPr/>
        </p:nvSpPr>
        <p:spPr>
          <a:xfrm>
            <a:off x="6381620" y="4867103"/>
            <a:ext cx="1330301" cy="369332"/>
          </a:xfrm>
          <a:prstGeom prst="rect">
            <a:avLst/>
          </a:prstGeom>
          <a:noFill/>
        </p:spPr>
        <p:txBody>
          <a:bodyPr wrap="none" rtlCol="0">
            <a:spAutoFit/>
          </a:bodyPr>
          <a:lstStyle/>
          <a:p>
            <a:r>
              <a:rPr lang="en-US" b="1" dirty="0"/>
              <a:t>host buffer</a:t>
            </a:r>
          </a:p>
        </p:txBody>
      </p:sp>
      <p:sp>
        <p:nvSpPr>
          <p:cNvPr id="49" name="TextBox 48">
            <a:extLst>
              <a:ext uri="{FF2B5EF4-FFF2-40B4-BE49-F238E27FC236}">
                <a16:creationId xmlns:a16="http://schemas.microsoft.com/office/drawing/2014/main" id="{673FAE0D-C7DD-8686-AF24-52938EEE735D}"/>
              </a:ext>
            </a:extLst>
          </p:cNvPr>
          <p:cNvSpPr txBox="1"/>
          <p:nvPr/>
        </p:nvSpPr>
        <p:spPr>
          <a:xfrm>
            <a:off x="6381620" y="5379110"/>
            <a:ext cx="5964382" cy="1508105"/>
          </a:xfrm>
          <a:prstGeom prst="rect">
            <a:avLst/>
          </a:prstGeom>
          <a:noFill/>
        </p:spPr>
        <p:txBody>
          <a:bodyPr wrap="square" rtlCol="0">
            <a:spAutoFit/>
          </a:bodyPr>
          <a:lstStyle/>
          <a:p>
            <a:r>
              <a:rPr lang="en-US" dirty="0"/>
              <a:t>it spilled 482,573,443 tasks to host during expansion, spending 90.28 s in the expand kernel.</a:t>
            </a:r>
          </a:p>
          <a:p>
            <a:r>
              <a:rPr lang="en-US" sz="1400" dirty="0"/>
              <a:t>Total time (s): 181.56</a:t>
            </a:r>
          </a:p>
          <a:p>
            <a:r>
              <a:rPr lang="en-US" sz="1400" dirty="0"/>
              <a:t>at switch </a:t>
            </a:r>
            <a:r>
              <a:rPr lang="en-US" sz="1400" dirty="0" err="1"/>
              <a:t>dump_to_host</a:t>
            </a:r>
            <a:r>
              <a:rPr lang="en-US" sz="1400" dirty="0"/>
              <a:t> time (s): 3.44</a:t>
            </a:r>
          </a:p>
          <a:p>
            <a:r>
              <a:rPr lang="en-US" sz="1400" dirty="0"/>
              <a:t>other </a:t>
            </a:r>
            <a:r>
              <a:rPr lang="en-US" sz="1400" dirty="0" err="1"/>
              <a:t>dump_to_host</a:t>
            </a:r>
            <a:r>
              <a:rPr lang="en-US" sz="1400" dirty="0"/>
              <a:t> time (s): 24.86</a:t>
            </a:r>
          </a:p>
          <a:p>
            <a:r>
              <a:rPr lang="en-US" sz="1400" dirty="0" err="1"/>
              <a:t>load_from_host</a:t>
            </a:r>
            <a:r>
              <a:rPr lang="en-US" sz="1400" dirty="0"/>
              <a:t> time (s): 31.78</a:t>
            </a:r>
          </a:p>
        </p:txBody>
      </p:sp>
    </p:spTree>
    <p:extLst>
      <p:ext uri="{BB962C8B-B14F-4D97-AF65-F5344CB8AC3E}">
        <p14:creationId xmlns:p14="http://schemas.microsoft.com/office/powerpoint/2010/main" val="34767031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0C761D-9E6B-F920-E605-52E6A438EEE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id="{3A8EB93B-7AA2-1523-AA7F-EC52B02E04F3}"/>
              </a:ext>
            </a:extLst>
          </p:cNvPr>
          <p:cNvSpPr>
            <a:spLocks noGrp="1"/>
          </p:cNvSpPr>
          <p:nvPr>
            <p:ph idx="1"/>
          </p:nvPr>
        </p:nvSpPr>
        <p:spPr/>
        <p:txBody>
          <a:bodyPr/>
          <a:lstStyle/>
          <a:p>
            <a:r>
              <a:rPr lang="en-US" dirty="0"/>
              <a:t>show if layered approach is better than g2aimd in MC and SM. as it is not good on MQC.</a:t>
            </a:r>
          </a:p>
        </p:txBody>
      </p:sp>
    </p:spTree>
    <p:extLst>
      <p:ext uri="{BB962C8B-B14F-4D97-AF65-F5344CB8AC3E}">
        <p14:creationId xmlns:p14="http://schemas.microsoft.com/office/powerpoint/2010/main" val="129458040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E9D014-764C-D5CC-4B57-F0464240D3FA}"/>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02F13AAF-6B1E-ED25-25F1-0EDB7894A000}"/>
              </a:ext>
            </a:extLst>
          </p:cNvPr>
          <p:cNvSpPr>
            <a:spLocks noGrp="1"/>
          </p:cNvSpPr>
          <p:nvPr>
            <p:ph idx="1"/>
          </p:nvPr>
        </p:nvSpPr>
        <p:spPr/>
        <p:txBody>
          <a:bodyPr/>
          <a:lstStyle/>
          <a:p>
            <a:r>
              <a:rPr lang="en-US" dirty="0"/>
              <a:t>G2-AIMD vs GPU-Layered: sometimes G2-AIMD is almost 5x faster, other cases GPU-Layered can be close to 2x faster</a:t>
            </a:r>
          </a:p>
          <a:p>
            <a:r>
              <a:rPr lang="en-US" dirty="0"/>
              <a:t>Why G2-AIMD can be faster? Because we tuned \eta for the MC application (see sheet “MC-para”) with 1000, 2000, 5000, and find 2000 to work well in general. However, for some data \eta is too small to fully utilize GPU cores, such as edit-</a:t>
            </a:r>
            <a:r>
              <a:rPr lang="en-US" dirty="0" err="1"/>
              <a:t>nlwiki</a:t>
            </a:r>
            <a:r>
              <a:rPr lang="en-US" dirty="0"/>
              <a:t>. The time improves to 16.8 sec with \eta=5000, but still slower than 11 sec for G2-AIMD.</a:t>
            </a:r>
          </a:p>
          <a:p>
            <a:r>
              <a:rPr lang="en-US" dirty="0"/>
              <a:t>That motivates us to try combine G2-AIMD and GPU-Layered.</a:t>
            </a:r>
          </a:p>
        </p:txBody>
      </p:sp>
    </p:spTree>
    <p:extLst>
      <p:ext uri="{BB962C8B-B14F-4D97-AF65-F5344CB8AC3E}">
        <p14:creationId xmlns:p14="http://schemas.microsoft.com/office/powerpoint/2010/main" val="316141542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502D63-F9C5-9012-124B-263F602BC8A3}"/>
              </a:ext>
            </a:extLst>
          </p:cNvPr>
          <p:cNvSpPr>
            <a:spLocks noGrp="1"/>
          </p:cNvSpPr>
          <p:nvPr>
            <p:ph type="title"/>
          </p:nvPr>
        </p:nvSpPr>
        <p:spPr/>
        <p:txBody>
          <a:bodyPr/>
          <a:lstStyle/>
          <a:p>
            <a:r>
              <a:rPr lang="en-US" dirty="0"/>
              <a:t>Experiments with large values of \eta</a:t>
            </a:r>
          </a:p>
        </p:txBody>
      </p:sp>
      <p:graphicFrame>
        <p:nvGraphicFramePr>
          <p:cNvPr id="4" name="Content Placeholder 3">
            <a:extLst>
              <a:ext uri="{FF2B5EF4-FFF2-40B4-BE49-F238E27FC236}">
                <a16:creationId xmlns:a16="http://schemas.microsoft.com/office/drawing/2014/main" id="{D4AC5A53-E074-1665-73A7-6741D4CA10F9}"/>
              </a:ext>
            </a:extLst>
          </p:cNvPr>
          <p:cNvGraphicFramePr>
            <a:graphicFrameLocks noGrp="1"/>
          </p:cNvGraphicFramePr>
          <p:nvPr>
            <p:ph idx="1"/>
            <p:extLst>
              <p:ext uri="{D42A27DB-BD31-4B8C-83A1-F6EECF244321}">
                <p14:modId xmlns:p14="http://schemas.microsoft.com/office/powerpoint/2010/main" val="373944674"/>
              </p:ext>
            </p:extLst>
          </p:nvPr>
        </p:nvGraphicFramePr>
        <p:xfrm>
          <a:off x="1387366" y="2671735"/>
          <a:ext cx="8747236" cy="914400"/>
        </p:xfrm>
        <a:graphic>
          <a:graphicData uri="http://schemas.openxmlformats.org/drawingml/2006/table">
            <a:tbl>
              <a:tblPr>
                <a:tableStyleId>{5C22544A-7EE6-4342-B048-85BDC9FD1C3A}</a:tableStyleId>
              </a:tblPr>
              <a:tblGrid>
                <a:gridCol w="2699764">
                  <a:extLst>
                    <a:ext uri="{9D8B030D-6E8A-4147-A177-3AD203B41FA5}">
                      <a16:colId xmlns:a16="http://schemas.microsoft.com/office/drawing/2014/main" val="3982992337"/>
                    </a:ext>
                  </a:extLst>
                </a:gridCol>
                <a:gridCol w="1007912">
                  <a:extLst>
                    <a:ext uri="{9D8B030D-6E8A-4147-A177-3AD203B41FA5}">
                      <a16:colId xmlns:a16="http://schemas.microsoft.com/office/drawing/2014/main" val="1361271205"/>
                    </a:ext>
                  </a:extLst>
                </a:gridCol>
                <a:gridCol w="1007912">
                  <a:extLst>
                    <a:ext uri="{9D8B030D-6E8A-4147-A177-3AD203B41FA5}">
                      <a16:colId xmlns:a16="http://schemas.microsoft.com/office/drawing/2014/main" val="1242792071"/>
                    </a:ext>
                  </a:extLst>
                </a:gridCol>
                <a:gridCol w="1007912">
                  <a:extLst>
                    <a:ext uri="{9D8B030D-6E8A-4147-A177-3AD203B41FA5}">
                      <a16:colId xmlns:a16="http://schemas.microsoft.com/office/drawing/2014/main" val="2393205825"/>
                    </a:ext>
                  </a:extLst>
                </a:gridCol>
                <a:gridCol w="1007912">
                  <a:extLst>
                    <a:ext uri="{9D8B030D-6E8A-4147-A177-3AD203B41FA5}">
                      <a16:colId xmlns:a16="http://schemas.microsoft.com/office/drawing/2014/main" val="3749845620"/>
                    </a:ext>
                  </a:extLst>
                </a:gridCol>
                <a:gridCol w="1007912">
                  <a:extLst>
                    <a:ext uri="{9D8B030D-6E8A-4147-A177-3AD203B41FA5}">
                      <a16:colId xmlns:a16="http://schemas.microsoft.com/office/drawing/2014/main" val="218826624"/>
                    </a:ext>
                  </a:extLst>
                </a:gridCol>
                <a:gridCol w="1007912">
                  <a:extLst>
                    <a:ext uri="{9D8B030D-6E8A-4147-A177-3AD203B41FA5}">
                      <a16:colId xmlns:a16="http://schemas.microsoft.com/office/drawing/2014/main" val="1630939330"/>
                    </a:ext>
                  </a:extLst>
                </a:gridCol>
              </a:tblGrid>
              <a:tr h="304800">
                <a:tc>
                  <a:txBody>
                    <a:bodyPr/>
                    <a:lstStyle/>
                    <a:p>
                      <a:pPr algn="l" fontAlgn="b">
                        <a:buNone/>
                      </a:pPr>
                      <a:r>
                        <a:rPr lang="en-US" sz="1700" b="0" i="0" u="none" strike="noStrike" dirty="0">
                          <a:solidFill>
                            <a:srgbClr val="000000"/>
                          </a:solidFill>
                          <a:effectLst/>
                          <a:latin typeface="Monaco" pitchFamily="2" charset="77"/>
                        </a:rPr>
                        <a:t>Dataset</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G2-AIMD</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5000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10000</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20000</a:t>
                      </a:r>
                    </a:p>
                  </a:txBody>
                  <a:tcPr marL="9525" marR="9525" marT="9525" marB="0" anchor="b"/>
                </a:tc>
                <a:extLst>
                  <a:ext uri="{0D108BD9-81ED-4DB2-BD59-A6C34878D82A}">
                    <a16:rowId xmlns:a16="http://schemas.microsoft.com/office/drawing/2014/main" val="782536880"/>
                  </a:ext>
                </a:extLst>
              </a:tr>
              <a:tr h="304800">
                <a:tc>
                  <a:txBody>
                    <a:bodyPr/>
                    <a:lstStyle/>
                    <a:p>
                      <a:pPr algn="l" fontAlgn="b">
                        <a:buNone/>
                      </a:pPr>
                      <a:r>
                        <a:rPr lang="en-US" sz="1700" u="none" strike="noStrike" dirty="0" err="1">
                          <a:effectLst/>
                        </a:rPr>
                        <a:t>orkut-groupmemberships</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algn="ctr" fontAlgn="b">
                        <a:buNone/>
                      </a:pPr>
                      <a:r>
                        <a:rPr lang="en-US" sz="1700" u="none" strike="noStrike" dirty="0">
                          <a:effectLst/>
                        </a:rPr>
                        <a:t>32.7</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25.0</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u="none" strike="noStrike" dirty="0">
                          <a:effectLst/>
                        </a:rPr>
                        <a:t>20.0</a:t>
                      </a:r>
                      <a:endParaRPr lang="en-US" sz="1700" b="0" i="0" u="none" strike="noStrike" dirty="0">
                        <a:solidFill>
                          <a:srgbClr val="000000"/>
                        </a:solidFill>
                        <a:effectLst/>
                        <a:latin typeface="Monaco" pitchFamily="2" charset="77"/>
                      </a:endParaRP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14.1</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14.0</a:t>
                      </a:r>
                    </a:p>
                  </a:txBody>
                  <a:tcPr marL="9525" marR="9525" marT="9525" marB="0" anchor="b"/>
                </a:tc>
                <a:extLst>
                  <a:ext uri="{0D108BD9-81ED-4DB2-BD59-A6C34878D82A}">
                    <a16:rowId xmlns:a16="http://schemas.microsoft.com/office/drawing/2014/main" val="455996298"/>
                  </a:ext>
                </a:extLst>
              </a:tr>
              <a:tr h="304800">
                <a:tc>
                  <a:txBody>
                    <a:bodyPr/>
                    <a:lstStyle/>
                    <a:p>
                      <a:pPr algn="l" fontAlgn="b">
                        <a:buNone/>
                      </a:pPr>
                      <a:r>
                        <a:rPr lang="en-US" sz="1700" b="0" i="0" u="none" strike="noStrike" dirty="0">
                          <a:solidFill>
                            <a:srgbClr val="000000"/>
                          </a:solidFill>
                          <a:effectLst/>
                          <a:latin typeface="Monaco" pitchFamily="2" charset="77"/>
                        </a:rPr>
                        <a:t>edit-</a:t>
                      </a:r>
                      <a:r>
                        <a:rPr lang="en-US" sz="1700" b="0" i="0" u="none" strike="noStrike" dirty="0" err="1">
                          <a:solidFill>
                            <a:srgbClr val="000000"/>
                          </a:solidFill>
                          <a:effectLst/>
                          <a:latin typeface="Monaco" pitchFamily="2" charset="77"/>
                        </a:rPr>
                        <a:t>nlwiki</a:t>
                      </a:r>
                      <a:endParaRPr lang="en-US" sz="1700" b="0" i="0" u="none" strike="noStrike" dirty="0">
                        <a:solidFill>
                          <a:srgbClr val="000000"/>
                        </a:solidFill>
                        <a:effectLst/>
                        <a:latin typeface="Monaco" pitchFamily="2" charset="77"/>
                      </a:endParaRP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11.3</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20.5</a:t>
                      </a:r>
                    </a:p>
                  </a:txBody>
                  <a:tcPr marL="9525" marR="9525" marT="9525" marB="0" anchor="b"/>
                </a:tc>
                <a:tc>
                  <a:txBody>
                    <a:bodyPr/>
                    <a:lstStyle/>
                    <a:p>
                      <a:pPr algn="ctr" fontAlgn="b">
                        <a:buNone/>
                      </a:pPr>
                      <a:r>
                        <a:rPr lang="en-US" sz="1700" b="0" i="0" u="none" strike="noStrike">
                          <a:solidFill>
                            <a:srgbClr val="000000"/>
                          </a:solidFill>
                          <a:effectLst/>
                          <a:latin typeface="Monaco" pitchFamily="2" charset="77"/>
                        </a:rPr>
                        <a:t>18.4</a:t>
                      </a:r>
                    </a:p>
                  </a:txBody>
                  <a:tcPr marL="9525" marR="9525" marT="9525" marB="0" anchor="b"/>
                </a:tc>
                <a:tc>
                  <a:txBody>
                    <a:bodyPr/>
                    <a:lstStyle/>
                    <a:p>
                      <a:pPr algn="ctr" fontAlgn="b">
                        <a:buNone/>
                      </a:pPr>
                      <a:r>
                        <a:rPr lang="en-US" sz="1700" b="0" i="0" u="none" strike="noStrike" dirty="0">
                          <a:solidFill>
                            <a:srgbClr val="000000"/>
                          </a:solidFill>
                          <a:effectLst/>
                          <a:latin typeface="Monaco" pitchFamily="2" charset="77"/>
                        </a:rPr>
                        <a:t>16.8</a:t>
                      </a:r>
                    </a:p>
                  </a:txBody>
                  <a:tcPr marL="9525" marR="9525" marT="9525" marB="0" anchor="b"/>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sz="1800" kern="1200" dirty="0">
                          <a:solidFill>
                            <a:schemeClr val="dk1"/>
                          </a:solidFill>
                          <a:effectLst/>
                          <a:latin typeface="+mn-lt"/>
                          <a:ea typeface="+mn-ea"/>
                          <a:cs typeface="+mn-cs"/>
                        </a:rPr>
                        <a:t>10.9</a:t>
                      </a:r>
                    </a:p>
                  </a:txBody>
                  <a:tcPr marL="9525" marR="9525" marT="9525" marB="0" anchor="b"/>
                </a:tc>
                <a:tc>
                  <a:txBody>
                    <a:bodyPr/>
                    <a:lstStyle/>
                    <a:p>
                      <a:pPr marL="0" algn="ctr" defTabSz="914400" rtl="0" eaLnBrk="1" fontAlgn="b" latinLnBrk="0" hangingPunct="1">
                        <a:buNone/>
                      </a:pPr>
                      <a:r>
                        <a:rPr lang="en-US" sz="1700" b="0" i="0" u="none" strike="noStrike" dirty="0">
                          <a:solidFill>
                            <a:srgbClr val="000000"/>
                          </a:solidFill>
                          <a:effectLst/>
                          <a:latin typeface="Monaco" pitchFamily="2" charset="77"/>
                        </a:rPr>
                        <a:t>10.9</a:t>
                      </a:r>
                    </a:p>
                  </a:txBody>
                  <a:tcPr marL="9525" marR="9525" marT="9525" marB="0" anchor="b"/>
                </a:tc>
                <a:extLst>
                  <a:ext uri="{0D108BD9-81ED-4DB2-BD59-A6C34878D82A}">
                    <a16:rowId xmlns:a16="http://schemas.microsoft.com/office/drawing/2014/main" val="3198839292"/>
                  </a:ext>
                </a:extLst>
              </a:tr>
            </a:tbl>
          </a:graphicData>
        </a:graphic>
      </p:graphicFrame>
    </p:spTree>
    <p:extLst>
      <p:ext uri="{BB962C8B-B14F-4D97-AF65-F5344CB8AC3E}">
        <p14:creationId xmlns:p14="http://schemas.microsoft.com/office/powerpoint/2010/main" val="14539351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93DD97-BFEC-35E9-13EB-703DC4AD381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58AAB47-DE5B-AD1F-AAD4-38EF569B6D04}"/>
              </a:ext>
            </a:extLst>
          </p:cNvPr>
          <p:cNvSpPr>
            <a:spLocks noGrp="1"/>
          </p:cNvSpPr>
          <p:nvPr>
            <p:ph type="title"/>
          </p:nvPr>
        </p:nvSpPr>
        <p:spPr/>
        <p:txBody>
          <a:bodyPr/>
          <a:lstStyle/>
          <a:p>
            <a:r>
              <a:rPr lang="en-US" dirty="0"/>
              <a:t>MC Application </a:t>
            </a:r>
          </a:p>
        </p:txBody>
      </p:sp>
      <p:sp>
        <p:nvSpPr>
          <p:cNvPr id="3" name="Content Placeholder 2">
            <a:extLst>
              <a:ext uri="{FF2B5EF4-FFF2-40B4-BE49-F238E27FC236}">
                <a16:creationId xmlns:a16="http://schemas.microsoft.com/office/drawing/2014/main" id="{2C3F61BA-7ED5-42B4-7C97-EC478F1D991D}"/>
              </a:ext>
            </a:extLst>
          </p:cNvPr>
          <p:cNvSpPr>
            <a:spLocks noGrp="1"/>
          </p:cNvSpPr>
          <p:nvPr>
            <p:ph idx="1"/>
          </p:nvPr>
        </p:nvSpPr>
        <p:spPr/>
        <p:txBody>
          <a:bodyPr/>
          <a:lstStyle/>
          <a:p>
            <a:r>
              <a:rPr lang="en-US" dirty="0"/>
              <a:t>We combine G2-AIMD and GPU-Layered to produce GPU-Hybrid. GPU-Hybrid switches from G2-AIMD to GPU-Layered upon the first time a chunk overflows GPU </a:t>
            </a:r>
            <a:r>
              <a:rPr lang="en-US" dirty="0" err="1"/>
              <a:t>pingpong</a:t>
            </a:r>
            <a:r>
              <a:rPr lang="en-US" dirty="0"/>
              <a:t> memory buffer. </a:t>
            </a:r>
          </a:p>
          <a:p>
            <a:r>
              <a:rPr lang="en-US" dirty="0"/>
              <a:t>The switch is achieved by saving all ping-buffer remaining (unexpanded) subgraphs + all pong-buffer subgraphs to host buffer, which are then read back to GPU buffer array for layered extension.</a:t>
            </a:r>
          </a:p>
        </p:txBody>
      </p:sp>
    </p:spTree>
    <p:extLst>
      <p:ext uri="{BB962C8B-B14F-4D97-AF65-F5344CB8AC3E}">
        <p14:creationId xmlns:p14="http://schemas.microsoft.com/office/powerpoint/2010/main" val="339237819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0AB84B-5FC3-CF1A-03F1-04C6367834E8}"/>
              </a:ext>
            </a:extLst>
          </p:cNvPr>
          <p:cNvSpPr>
            <a:spLocks noGrp="1"/>
          </p:cNvSpPr>
          <p:nvPr>
            <p:ph type="title"/>
          </p:nvPr>
        </p:nvSpPr>
        <p:spPr/>
        <p:txBody>
          <a:bodyPr/>
          <a:lstStyle/>
          <a:p>
            <a:r>
              <a:rPr lang="en-US" dirty="0"/>
              <a:t>MC Application</a:t>
            </a:r>
          </a:p>
        </p:txBody>
      </p:sp>
      <p:sp>
        <p:nvSpPr>
          <p:cNvPr id="3" name="Content Placeholder 2">
            <a:extLst>
              <a:ext uri="{FF2B5EF4-FFF2-40B4-BE49-F238E27FC236}">
                <a16:creationId xmlns:a16="http://schemas.microsoft.com/office/drawing/2014/main" id="{BAC3E0DA-47DF-D5E9-E482-73BFE2694185}"/>
              </a:ext>
            </a:extLst>
          </p:cNvPr>
          <p:cNvSpPr>
            <a:spLocks noGrp="1"/>
          </p:cNvSpPr>
          <p:nvPr>
            <p:ph idx="1"/>
          </p:nvPr>
        </p:nvSpPr>
        <p:spPr/>
        <p:txBody>
          <a:bodyPr>
            <a:normAutofit lnSpcReduction="10000"/>
          </a:bodyPr>
          <a:lstStyle/>
          <a:p>
            <a:pPr lvl="0"/>
            <a:r>
              <a:rPr lang="en-US" dirty="0"/>
              <a:t>CPU+GPU outperforms GPU-Hybrid in 28 of 50 cases, achieving speedups of up to 14.21×.</a:t>
            </a:r>
          </a:p>
          <a:p>
            <a:pPr lvl="0"/>
            <a:r>
              <a:rPr lang="en-US" dirty="0"/>
              <a:t>In the remaining cases where CPU+GPU is slower, the performance degradation is negligible, occurring only for short-running executions (i.e., less than 10 seconds).</a:t>
            </a:r>
          </a:p>
          <a:p>
            <a:pPr lvl="0"/>
            <a:r>
              <a:rPr lang="en-US" dirty="0"/>
              <a:t>CPU+GPU consistently outperforms the CPU-only implementation, delivering speedups of up to 12.78×.</a:t>
            </a:r>
          </a:p>
          <a:p>
            <a:pPr lvl="0"/>
            <a:endParaRPr lang="en-US" dirty="0">
              <a:solidFill>
                <a:srgbClr val="C00000"/>
              </a:solidFill>
            </a:endParaRPr>
          </a:p>
          <a:p>
            <a:pPr lvl="0"/>
            <a:r>
              <a:rPr lang="en-US" dirty="0">
                <a:solidFill>
                  <a:srgbClr val="C00000"/>
                </a:solidFill>
              </a:rPr>
              <a:t>select some dataset to show, which performs well not just ratio but also execution time</a:t>
            </a:r>
          </a:p>
        </p:txBody>
      </p:sp>
    </p:spTree>
    <p:extLst>
      <p:ext uri="{BB962C8B-B14F-4D97-AF65-F5344CB8AC3E}">
        <p14:creationId xmlns:p14="http://schemas.microsoft.com/office/powerpoint/2010/main" val="390786378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87E04A-BBFD-0C94-7E96-DE0D38F9AC7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EA52B759-8633-48D2-B6C1-6C2C8146D9EA}"/>
              </a:ext>
            </a:extLst>
          </p:cNvPr>
          <p:cNvSpPr>
            <a:spLocks noGrp="1"/>
          </p:cNvSpPr>
          <p:nvPr>
            <p:ph idx="1"/>
          </p:nvPr>
        </p:nvSpPr>
        <p:spPr/>
        <p:txBody>
          <a:bodyPr>
            <a:normAutofit fontScale="92500"/>
          </a:bodyPr>
          <a:lstStyle/>
          <a:p>
            <a:r>
              <a:rPr lang="en-US" dirty="0"/>
              <a:t>Redo eta selection for MC, it may not be 2000 anymore. If possible, find why old time results are longer than what they should be </a:t>
            </a:r>
          </a:p>
          <a:p>
            <a:r>
              <a:rPr lang="en-US" dirty="0"/>
              <a:t>In experiments, we cannot have each application with a separate set of datasets. Reviewers will argue that we are selecting favorable datasets for each application, and will ask you to try some dataset in application 1 that you did not use in application 2 on application 2 in revision, which can perform poor causing rejection after revision.</a:t>
            </a:r>
          </a:p>
          <a:p>
            <a:r>
              <a:rPr lang="en-US" dirty="0"/>
              <a:t>Normal people will do what reviewers expect: use a common set of datasets, like in Table 1. Then each application reports performance on datasets in Table 1.</a:t>
            </a:r>
          </a:p>
          <a:p>
            <a:endParaRPr lang="en-US" dirty="0"/>
          </a:p>
        </p:txBody>
      </p:sp>
    </p:spTree>
    <p:extLst>
      <p:ext uri="{BB962C8B-B14F-4D97-AF65-F5344CB8AC3E}">
        <p14:creationId xmlns:p14="http://schemas.microsoft.com/office/powerpoint/2010/main" val="364168364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E7D9F4-5A22-B2FF-C0ED-7C904583DB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7F10B4E-9268-486A-EBA8-E276AE68ABE0}"/>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8A3BFD78-8A4E-5E54-4238-7AA35DD401B6}"/>
              </a:ext>
            </a:extLst>
          </p:cNvPr>
          <p:cNvSpPr>
            <a:spLocks noGrp="1"/>
          </p:cNvSpPr>
          <p:nvPr>
            <p:ph idx="1"/>
          </p:nvPr>
        </p:nvSpPr>
        <p:spPr/>
        <p:txBody>
          <a:bodyPr/>
          <a:lstStyle/>
          <a:p>
            <a:r>
              <a:rPr lang="en-US" dirty="0"/>
              <a:t>You have to select favorable datasets for all 3 applications. The only exception is that you can claim QC cannot run on datasets in Table 1 due to </a:t>
            </a:r>
            <a:r>
              <a:rPr lang="en-US" dirty="0" err="1"/>
              <a:t>Guimu’s</a:t>
            </a:r>
            <a:r>
              <a:rPr lang="en-US" dirty="0"/>
              <a:t> 2-hop device memory CSR, so you pick smaller graphs that QC can run</a:t>
            </a:r>
          </a:p>
          <a:p>
            <a:r>
              <a:rPr lang="en-US" dirty="0"/>
              <a:t>You can say that QC can be improved by k-means binning + GPU streams + CPU subgraph construction pipelining, but will be future work. So let’s assume this will be considered/accepted/passed by reviewers. Let’s at least pick Table 1 to be used by MC and SM, first 2 applications.</a:t>
            </a:r>
          </a:p>
        </p:txBody>
      </p:sp>
    </p:spTree>
    <p:extLst>
      <p:ext uri="{BB962C8B-B14F-4D97-AF65-F5344CB8AC3E}">
        <p14:creationId xmlns:p14="http://schemas.microsoft.com/office/powerpoint/2010/main" val="15876275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9066FE-DBC4-1801-FB3C-C2C8353CC75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6FB037D-B131-BF47-6C97-172C6BF1F68F}"/>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511018E7-913C-204D-2FD8-54413DAA9AAC}"/>
              </a:ext>
            </a:extLst>
          </p:cNvPr>
          <p:cNvSpPr>
            <a:spLocks noGrp="1"/>
          </p:cNvSpPr>
          <p:nvPr>
            <p:ph idx="1"/>
          </p:nvPr>
        </p:nvSpPr>
        <p:spPr/>
        <p:txBody>
          <a:bodyPr>
            <a:normAutofit lnSpcReduction="10000"/>
          </a:bodyPr>
          <a:lstStyle/>
          <a:p>
            <a:r>
              <a:rPr lang="en-US" dirty="0"/>
              <a:t>I think in a paper, Table 1 with more than 20 datasets is an overkill as we do not have such space in main text. We can put more data to appendix, but we do not need to show all your data (esp. those unfavorable ones). However, Table 1 cannot have less than 10 - 12 datasets, too few is a concern. If you cannot find 20 working well for both MC and SM, at least find, e.g., 16.</a:t>
            </a:r>
          </a:p>
          <a:p>
            <a:r>
              <a:rPr lang="en-US" dirty="0"/>
              <a:t>Let’s first find k datasets that are really good for MC. It can be 20, but can also be 40-50. Throw away really unfavorable datasets for MC. You need larger k since some of them may need to be dropped further due to poor performance on SM, and after dropping, we hope to still see 20 datasets we can put in Table 1. </a:t>
            </a:r>
          </a:p>
        </p:txBody>
      </p:sp>
    </p:spTree>
    <p:extLst>
      <p:ext uri="{BB962C8B-B14F-4D97-AF65-F5344CB8AC3E}">
        <p14:creationId xmlns:p14="http://schemas.microsoft.com/office/powerpoint/2010/main" val="38157031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EB08FE-877C-04D2-96E1-E55A7CDB0DF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5BE06AB-00CA-1C95-54F8-C4FB706E4918}"/>
              </a:ext>
            </a:extLst>
          </p:cNvPr>
          <p:cNvSpPr>
            <a:spLocks noGrp="1"/>
          </p:cNvSpPr>
          <p:nvPr>
            <p:ph type="title"/>
          </p:nvPr>
        </p:nvSpPr>
        <p:spPr/>
        <p:txBody>
          <a:bodyPr/>
          <a:lstStyle/>
          <a:p>
            <a:r>
              <a:rPr lang="en-US" dirty="0"/>
              <a:t>Dataset Selection Reminder </a:t>
            </a:r>
          </a:p>
        </p:txBody>
      </p:sp>
      <p:sp>
        <p:nvSpPr>
          <p:cNvPr id="3" name="Content Placeholder 2">
            <a:extLst>
              <a:ext uri="{FF2B5EF4-FFF2-40B4-BE49-F238E27FC236}">
                <a16:creationId xmlns:a16="http://schemas.microsoft.com/office/drawing/2014/main" id="{1715042B-C4CA-CD9D-1261-E582B9B90853}"/>
              </a:ext>
            </a:extLst>
          </p:cNvPr>
          <p:cNvSpPr>
            <a:spLocks noGrp="1"/>
          </p:cNvSpPr>
          <p:nvPr>
            <p:ph idx="1"/>
          </p:nvPr>
        </p:nvSpPr>
        <p:spPr/>
        <p:txBody>
          <a:bodyPr>
            <a:normAutofit fontScale="92500" lnSpcReduction="20000"/>
          </a:bodyPr>
          <a:lstStyle/>
          <a:p>
            <a:r>
              <a:rPr lang="en-US" dirty="0"/>
              <a:t>Then, move on to Application 2: SM. There is no point to try any dataset outside k selected for MC. We may shrink the k datasets to k’ further, but hopefully k’ is 20, or at least 16.</a:t>
            </a:r>
          </a:p>
          <a:p>
            <a:r>
              <a:rPr lang="en-US" dirty="0"/>
              <a:t>In SM, we try to find datasets with large max-deg and small avg-deg, but CPU+GPU is still not helpful (in fact, worse than GPU-only, like 99% of GPU-only). So our focus now is on hoping GPU-layered &gt;&gt; G2-AIMD. When we shrink MC’s good datasets, we need to make sure we pick those with good GPU-layered &gt;&gt; G2-AIMD, or at least have a significant portion like that.</a:t>
            </a:r>
          </a:p>
          <a:p>
            <a:r>
              <a:rPr lang="en-US" dirty="0"/>
              <a:t>Goal: For SM application, we can argue that we do not have deep recursion tree (depth decided by query graph size), but our GPU-layered design is favorable over G2-AIMD. If we cannot show GPU-layered &gt;&gt; G2-AIMD, reviewer will say that you can just use G2-AIMD, reject our paper due to SM application</a:t>
            </a:r>
          </a:p>
        </p:txBody>
      </p:sp>
    </p:spTree>
    <p:extLst>
      <p:ext uri="{BB962C8B-B14F-4D97-AF65-F5344CB8AC3E}">
        <p14:creationId xmlns:p14="http://schemas.microsoft.com/office/powerpoint/2010/main" val="148463644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8ED60D-AE4D-1263-5A65-3AB751842A01}"/>
              </a:ext>
            </a:extLst>
          </p:cNvPr>
          <p:cNvSpPr>
            <a:spLocks noGrp="1"/>
          </p:cNvSpPr>
          <p:nvPr>
            <p:ph type="title"/>
          </p:nvPr>
        </p:nvSpPr>
        <p:spPr/>
        <p:txBody>
          <a:bodyPr/>
          <a:lstStyle/>
          <a:p>
            <a:r>
              <a:rPr lang="en-US" dirty="0"/>
              <a:t>Dataset Reminder</a:t>
            </a:r>
          </a:p>
        </p:txBody>
      </p:sp>
      <p:sp>
        <p:nvSpPr>
          <p:cNvPr id="3" name="Content Placeholder 2">
            <a:extLst>
              <a:ext uri="{FF2B5EF4-FFF2-40B4-BE49-F238E27FC236}">
                <a16:creationId xmlns:a16="http://schemas.microsoft.com/office/drawing/2014/main" id="{CBB21DC3-7BA9-6F6A-9706-55CFC283FC4A}"/>
              </a:ext>
            </a:extLst>
          </p:cNvPr>
          <p:cNvSpPr>
            <a:spLocks noGrp="1"/>
          </p:cNvSpPr>
          <p:nvPr>
            <p:ph idx="1"/>
          </p:nvPr>
        </p:nvSpPr>
        <p:spPr/>
        <p:txBody>
          <a:bodyPr>
            <a:normAutofit fontScale="92500" lnSpcReduction="20000"/>
          </a:bodyPr>
          <a:lstStyle/>
          <a:p>
            <a:r>
              <a:rPr lang="en-US" dirty="0"/>
              <a:t>For QC, GPU-layered ~= G2-AIMD, though for two datasets where GPU-only throws some large-</a:t>
            </a:r>
            <a:r>
              <a:rPr lang="en-US" dirty="0" err="1"/>
              <a:t>candidateSet</a:t>
            </a:r>
            <a:r>
              <a:rPr lang="en-US" dirty="0"/>
              <a:t> tasks, GPU-layered &gt;&gt; G2-AIMD. Note that GPU-layered and G2-AIMD throw the same task sets. </a:t>
            </a:r>
          </a:p>
          <a:p>
            <a:r>
              <a:rPr lang="en-US" dirty="0"/>
              <a:t>GPU-layered ~= G2-AIMD because G2-AIMD does not encounter device buffer overflow issue so no wasted chunk computation </a:t>
            </a:r>
            <a:r>
              <a:rPr lang="en-US" dirty="0">
                <a:solidFill>
                  <a:srgbClr val="C00000"/>
                </a:solidFill>
              </a:rPr>
              <a:t>[need verification]. </a:t>
            </a:r>
            <a:r>
              <a:rPr lang="en-US" dirty="0"/>
              <a:t>G2-AIMD has no eta limit, so if no overflow, is going to be good.</a:t>
            </a:r>
          </a:p>
          <a:p>
            <a:r>
              <a:rPr lang="en-US" dirty="0"/>
              <a:t>However, GPU-hybrid will not help since GPU-layered ~= G2-AIMD, no one is much faster than the other. So we should focus how CPU + GPU &gt;&gt;  GPU-layered</a:t>
            </a:r>
          </a:p>
          <a:p>
            <a:r>
              <a:rPr lang="en-US" dirty="0">
                <a:solidFill>
                  <a:srgbClr val="C00000"/>
                </a:solidFill>
              </a:rPr>
              <a:t>Make sure datasets in Table 1 run OOM. </a:t>
            </a:r>
            <a:r>
              <a:rPr lang="en-US" dirty="0"/>
              <a:t>If not, then QC (with some parameters set) gives good results and can be added to Application 3. Kick out those in Table 1 that do not run OOM, but gives bad QC results.</a:t>
            </a:r>
          </a:p>
        </p:txBody>
      </p:sp>
    </p:spTree>
    <p:extLst>
      <p:ext uri="{BB962C8B-B14F-4D97-AF65-F5344CB8AC3E}">
        <p14:creationId xmlns:p14="http://schemas.microsoft.com/office/powerpoint/2010/main" val="18529822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844550-FF5F-F747-4570-492D318B85FD}"/>
              </a:ext>
            </a:extLst>
          </p:cNvPr>
          <p:cNvSpPr>
            <a:spLocks noGrp="1"/>
          </p:cNvSpPr>
          <p:nvPr>
            <p:ph type="title"/>
          </p:nvPr>
        </p:nvSpPr>
        <p:spPr/>
        <p:txBody>
          <a:bodyPr/>
          <a:lstStyle/>
          <a:p>
            <a:r>
              <a:rPr lang="en-US" dirty="0"/>
              <a:t>Datasets for QC</a:t>
            </a:r>
          </a:p>
        </p:txBody>
      </p:sp>
      <p:sp>
        <p:nvSpPr>
          <p:cNvPr id="3" name="Content Placeholder 2">
            <a:extLst>
              <a:ext uri="{FF2B5EF4-FFF2-40B4-BE49-F238E27FC236}">
                <a16:creationId xmlns:a16="http://schemas.microsoft.com/office/drawing/2014/main" id="{0523F0E2-9CAB-CF89-EB93-6E044F6F9AB2}"/>
              </a:ext>
            </a:extLst>
          </p:cNvPr>
          <p:cNvSpPr>
            <a:spLocks noGrp="1"/>
          </p:cNvSpPr>
          <p:nvPr>
            <p:ph idx="1"/>
          </p:nvPr>
        </p:nvSpPr>
        <p:spPr/>
        <p:txBody>
          <a:bodyPr>
            <a:normAutofit fontScale="92500" lnSpcReduction="10000"/>
          </a:bodyPr>
          <a:lstStyle/>
          <a:p>
            <a:r>
              <a:rPr lang="en-US" dirty="0">
                <a:solidFill>
                  <a:srgbClr val="C00000"/>
                </a:solidFill>
              </a:rPr>
              <a:t>Make sure datasets in Table 1 run OOM. If not, then QC (with some parameters set) gives good results and can be added to Application 3. Kick out those in Table 1 that do not run OOM, but gives bad QC results.</a:t>
            </a:r>
          </a:p>
          <a:p>
            <a:endParaRPr lang="en-US" dirty="0">
              <a:solidFill>
                <a:schemeClr val="accent1"/>
              </a:solidFill>
            </a:endParaRPr>
          </a:p>
          <a:p>
            <a:r>
              <a:rPr lang="en-US" dirty="0"/>
              <a:t>All datasets in </a:t>
            </a:r>
            <a:r>
              <a:rPr lang="en-US" b="1" dirty="0"/>
              <a:t>Table 1</a:t>
            </a:r>
            <a:r>
              <a:rPr lang="en-US" dirty="0"/>
              <a:t> ran out of memory (OOM) when using the QC dataset format (2-hop neighbors). For many datasets, the output file could not even be generated because its size would reach terabytes (TBs). Only the following datasets could be generated:</a:t>
            </a:r>
          </a:p>
          <a:p>
            <a:pPr lvl="1"/>
            <a:r>
              <a:rPr lang="en-US" dirty="0">
                <a:solidFill>
                  <a:schemeClr val="accent1"/>
                </a:solidFill>
              </a:rPr>
              <a:t>310G </a:t>
            </a:r>
            <a:r>
              <a:rPr lang="en-US" dirty="0" err="1">
                <a:solidFill>
                  <a:schemeClr val="accent1"/>
                </a:solidFill>
              </a:rPr>
              <a:t>wikipedia_link_sh</a:t>
            </a:r>
            <a:endParaRPr lang="en-US" dirty="0">
              <a:solidFill>
                <a:schemeClr val="accent1"/>
              </a:solidFill>
            </a:endParaRPr>
          </a:p>
          <a:p>
            <a:pPr lvl="1"/>
            <a:r>
              <a:rPr lang="en-US" dirty="0">
                <a:solidFill>
                  <a:schemeClr val="accent1"/>
                </a:solidFill>
              </a:rPr>
              <a:t>623G </a:t>
            </a:r>
            <a:r>
              <a:rPr lang="en-US" dirty="0" err="1">
                <a:solidFill>
                  <a:schemeClr val="accent1"/>
                </a:solidFill>
              </a:rPr>
              <a:t>wikipedia_link_sr</a:t>
            </a:r>
            <a:endParaRPr lang="en-US" dirty="0">
              <a:solidFill>
                <a:schemeClr val="accent1"/>
              </a:solidFill>
            </a:endParaRPr>
          </a:p>
          <a:p>
            <a:pPr lvl="1"/>
            <a:r>
              <a:rPr lang="en-US" dirty="0">
                <a:solidFill>
                  <a:schemeClr val="accent1"/>
                </a:solidFill>
              </a:rPr>
              <a:t>1.8T </a:t>
            </a:r>
            <a:r>
              <a:rPr lang="en-US" dirty="0" err="1">
                <a:solidFill>
                  <a:schemeClr val="accent1"/>
                </a:solidFill>
              </a:rPr>
              <a:t>wikipedia_link_de</a:t>
            </a:r>
            <a:endParaRPr lang="en-US" dirty="0">
              <a:solidFill>
                <a:schemeClr val="accent1"/>
              </a:solidFill>
            </a:endParaRPr>
          </a:p>
          <a:p>
            <a:pPr lvl="1"/>
            <a:r>
              <a:rPr lang="en-US" dirty="0">
                <a:solidFill>
                  <a:schemeClr val="accent1"/>
                </a:solidFill>
              </a:rPr>
              <a:t>364G link-dynamic-</a:t>
            </a:r>
            <a:r>
              <a:rPr lang="en-US" dirty="0" err="1">
                <a:solidFill>
                  <a:schemeClr val="accent1"/>
                </a:solidFill>
              </a:rPr>
              <a:t>frwiki</a:t>
            </a:r>
            <a:endParaRPr lang="en-US" dirty="0">
              <a:solidFill>
                <a:schemeClr val="accent1"/>
              </a:solidFill>
            </a:endParaRPr>
          </a:p>
          <a:p>
            <a:endParaRPr lang="en-US" dirty="0"/>
          </a:p>
        </p:txBody>
      </p:sp>
    </p:spTree>
    <p:extLst>
      <p:ext uri="{BB962C8B-B14F-4D97-AF65-F5344CB8AC3E}">
        <p14:creationId xmlns:p14="http://schemas.microsoft.com/office/powerpoint/2010/main" val="17527715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9AD936-1399-EE37-291B-F67F6F53B8C5}"/>
              </a:ext>
            </a:extLst>
          </p:cNvPr>
          <p:cNvSpPr>
            <a:spLocks noGrp="1"/>
          </p:cNvSpPr>
          <p:nvPr>
            <p:ph type="title"/>
          </p:nvPr>
        </p:nvSpPr>
        <p:spPr/>
        <p:txBody>
          <a:bodyPr/>
          <a:lstStyle/>
          <a:p>
            <a:r>
              <a:rPr lang="en-US" dirty="0"/>
              <a:t>SM Application</a:t>
            </a:r>
          </a:p>
        </p:txBody>
      </p:sp>
      <p:sp>
        <p:nvSpPr>
          <p:cNvPr id="3" name="Content Placeholder 2">
            <a:extLst>
              <a:ext uri="{FF2B5EF4-FFF2-40B4-BE49-F238E27FC236}">
                <a16:creationId xmlns:a16="http://schemas.microsoft.com/office/drawing/2014/main" id="{8FA57192-4680-17A3-7ACB-2A18544BDEC2}"/>
              </a:ext>
            </a:extLst>
          </p:cNvPr>
          <p:cNvSpPr>
            <a:spLocks noGrp="1"/>
          </p:cNvSpPr>
          <p:nvPr>
            <p:ph idx="1"/>
          </p:nvPr>
        </p:nvSpPr>
        <p:spPr/>
        <p:txBody>
          <a:bodyPr/>
          <a:lstStyle/>
          <a:p>
            <a:pPr lvl="0"/>
            <a:r>
              <a:rPr lang="en-US" dirty="0"/>
              <a:t>G2-AIMD fails in two cases due to out-of-memory (OOM) errors and is consistently slower than GPU-Layered, with slowdowns of up to 1.98×.</a:t>
            </a:r>
          </a:p>
          <a:p>
            <a:pPr lvl="0"/>
            <a:r>
              <a:rPr lang="en-US" dirty="0"/>
              <a:t>GPU-Layered outperforms GPU-Hybrid in nearly all cases.</a:t>
            </a:r>
          </a:p>
          <a:p>
            <a:pPr lvl="0"/>
            <a:r>
              <a:rPr lang="en-US" dirty="0"/>
              <a:t>The CPU-only implementation is prohibitively slow for this application, which also limits the performance of the CPU+GPU approach in CPU-bound scenarios.</a:t>
            </a:r>
          </a:p>
        </p:txBody>
      </p:sp>
    </p:spTree>
    <p:extLst>
      <p:ext uri="{BB962C8B-B14F-4D97-AF65-F5344CB8AC3E}">
        <p14:creationId xmlns:p14="http://schemas.microsoft.com/office/powerpoint/2010/main" val="408184257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A5DAA1-1F51-475B-350C-03993AAE1EFC}"/>
              </a:ext>
            </a:extLst>
          </p:cNvPr>
          <p:cNvSpPr>
            <a:spLocks noGrp="1"/>
          </p:cNvSpPr>
          <p:nvPr>
            <p:ph type="title"/>
          </p:nvPr>
        </p:nvSpPr>
        <p:spPr/>
        <p:txBody>
          <a:bodyPr/>
          <a:lstStyle/>
          <a:p>
            <a:r>
              <a:rPr lang="en-US" dirty="0"/>
              <a:t>MQC Application</a:t>
            </a:r>
          </a:p>
        </p:txBody>
      </p:sp>
      <p:sp>
        <p:nvSpPr>
          <p:cNvPr id="3" name="Content Placeholder 2">
            <a:extLst>
              <a:ext uri="{FF2B5EF4-FFF2-40B4-BE49-F238E27FC236}">
                <a16:creationId xmlns:a16="http://schemas.microsoft.com/office/drawing/2014/main" id="{8E0728CE-78F1-153D-476C-635EE54A2221}"/>
              </a:ext>
            </a:extLst>
          </p:cNvPr>
          <p:cNvSpPr>
            <a:spLocks noGrp="1"/>
          </p:cNvSpPr>
          <p:nvPr>
            <p:ph idx="1"/>
          </p:nvPr>
        </p:nvSpPr>
        <p:spPr/>
        <p:txBody>
          <a:bodyPr/>
          <a:lstStyle/>
          <a:p>
            <a:pPr lvl="0"/>
            <a:r>
              <a:rPr lang="en-US" dirty="0"/>
              <a:t>G2-AIMD runs out of memory on two datasets and is up to 2.43× slower.</a:t>
            </a:r>
          </a:p>
          <a:p>
            <a:pPr lvl="0"/>
            <a:r>
              <a:rPr lang="en-US" dirty="0"/>
              <a:t>GPU-Layered consistently outperforms GPU-hybrid.</a:t>
            </a:r>
          </a:p>
          <a:p>
            <a:pPr lvl="0"/>
            <a:r>
              <a:rPr lang="en-US" dirty="0"/>
              <a:t>Fixed GPU chunk sizes caused poor utilization, motivating adaptive chunk sizing.</a:t>
            </a:r>
          </a:p>
          <a:p>
            <a:pPr lvl="0"/>
            <a:r>
              <a:rPr lang="en-US" dirty="0"/>
              <a:t>The combined CPU+GPU approach consistently outperforms GPU-Layered by up to 21.1×.</a:t>
            </a:r>
          </a:p>
        </p:txBody>
      </p:sp>
    </p:spTree>
    <p:extLst>
      <p:ext uri="{BB962C8B-B14F-4D97-AF65-F5344CB8AC3E}">
        <p14:creationId xmlns:p14="http://schemas.microsoft.com/office/powerpoint/2010/main" val="38362068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527D02-03A8-BD45-4197-6BC5DC71D7C1}"/>
              </a:ext>
            </a:extLst>
          </p:cNvPr>
          <p:cNvSpPr>
            <a:spLocks noGrp="1"/>
          </p:cNvSpPr>
          <p:nvPr>
            <p:ph type="title"/>
          </p:nvPr>
        </p:nvSpPr>
        <p:spPr/>
        <p:txBody>
          <a:bodyPr/>
          <a:lstStyle/>
          <a:p>
            <a:r>
              <a:rPr lang="en-US" dirty="0"/>
              <a:t>MQC Adaptive GPU Chunk</a:t>
            </a:r>
          </a:p>
        </p:txBody>
      </p:sp>
      <p:sp>
        <p:nvSpPr>
          <p:cNvPr id="3" name="Content Placeholder 2">
            <a:extLst>
              <a:ext uri="{FF2B5EF4-FFF2-40B4-BE49-F238E27FC236}">
                <a16:creationId xmlns:a16="http://schemas.microsoft.com/office/drawing/2014/main" id="{B40F28F1-46A9-25E2-9F3A-20A11D91F975}"/>
              </a:ext>
            </a:extLst>
          </p:cNvPr>
          <p:cNvSpPr>
            <a:spLocks noGrp="1"/>
          </p:cNvSpPr>
          <p:nvPr>
            <p:ph idx="1"/>
          </p:nvPr>
        </p:nvSpPr>
        <p:spPr/>
        <p:txBody>
          <a:bodyPr/>
          <a:lstStyle/>
          <a:p>
            <a:pPr lvl="0"/>
            <a:r>
              <a:rPr lang="en-US" dirty="0"/>
              <a:t>The number of root tasks in MQC varies significantly across datasets.</a:t>
            </a:r>
          </a:p>
          <a:p>
            <a:pPr lvl="0"/>
            <a:r>
              <a:rPr lang="en-US" dirty="0"/>
              <a:t>A fixed GPU chunk size can cause load imbalance and GPU underutilization.</a:t>
            </a:r>
          </a:p>
          <a:p>
            <a:pPr lvl="0"/>
            <a:r>
              <a:rPr lang="en-US" dirty="0"/>
              <a:t>We dynamically calculate the GPU chunk size as:</a:t>
            </a:r>
          </a:p>
          <a:p>
            <a:pPr marL="0" indent="0">
              <a:buNone/>
            </a:pPr>
            <a:r>
              <a:rPr lang="en-US" dirty="0"/>
              <a:t>                   </a:t>
            </a:r>
            <a:r>
              <a:rPr lang="en-US" dirty="0" err="1"/>
              <a:t>GPU_chunk</a:t>
            </a:r>
            <a:r>
              <a:rPr lang="en-US" dirty="0"/>
              <a:t>=max(</a:t>
            </a:r>
            <a:r>
              <a:rPr lang="en-US" dirty="0" err="1"/>
              <a:t>root_tasks</a:t>
            </a:r>
            <a:r>
              <a:rPr lang="en-US" dirty="0"/>
              <a:t>/</a:t>
            </a:r>
            <a:r>
              <a:rPr lang="en-US" dirty="0" err="1"/>
              <a:t>c,min_chunk</a:t>
            </a:r>
            <a:r>
              <a:rPr lang="en-US" dirty="0"/>
              <a:t>)</a:t>
            </a:r>
          </a:p>
          <a:p>
            <a:pPr lvl="0"/>
            <a:r>
              <a:rPr lang="en-US" dirty="0"/>
              <a:t>c controls the number of chunks.</a:t>
            </a:r>
          </a:p>
          <a:p>
            <a:pPr lvl="0"/>
            <a:r>
              <a:rPr lang="en-US" dirty="0" err="1"/>
              <a:t>min_chunk</a:t>
            </a:r>
            <a:r>
              <a:rPr lang="en-US" dirty="0"/>
              <a:t> prevents GPU chunks from becoming too small.</a:t>
            </a:r>
          </a:p>
          <a:p>
            <a:pPr lvl="0"/>
            <a:r>
              <a:rPr lang="en-US" dirty="0">
                <a:solidFill>
                  <a:srgbClr val="C00000"/>
                </a:solidFill>
              </a:rPr>
              <a:t>add experiments for tuning eta</a:t>
            </a:r>
          </a:p>
        </p:txBody>
      </p:sp>
      <p:sp>
        <p:nvSpPr>
          <p:cNvPr id="4" name="TextBox 3">
            <a:extLst>
              <a:ext uri="{FF2B5EF4-FFF2-40B4-BE49-F238E27FC236}">
                <a16:creationId xmlns:a16="http://schemas.microsoft.com/office/drawing/2014/main" id="{603C6030-394A-60A6-9AEA-297BFDD75394}"/>
              </a:ext>
            </a:extLst>
          </p:cNvPr>
          <p:cNvSpPr txBox="1"/>
          <p:nvPr/>
        </p:nvSpPr>
        <p:spPr>
          <a:xfrm>
            <a:off x="6337738" y="6474372"/>
            <a:ext cx="4243341" cy="369332"/>
          </a:xfrm>
          <a:prstGeom prst="rect">
            <a:avLst/>
          </a:prstGeom>
          <a:noFill/>
        </p:spPr>
        <p:txBody>
          <a:bodyPr wrap="none" rtlCol="0">
            <a:spAutoFit/>
          </a:bodyPr>
          <a:lstStyle/>
          <a:p>
            <a:r>
              <a:rPr lang="en-US" dirty="0">
                <a:solidFill>
                  <a:srgbClr val="C00000"/>
                </a:solidFill>
              </a:rPr>
              <a:t>try </a:t>
            </a:r>
            <a:r>
              <a:rPr lang="en-US" dirty="0" err="1">
                <a:solidFill>
                  <a:srgbClr val="C00000"/>
                </a:solidFill>
              </a:rPr>
              <a:t>min_chunk</a:t>
            </a:r>
            <a:r>
              <a:rPr lang="en-US" dirty="0">
                <a:solidFill>
                  <a:srgbClr val="C00000"/>
                </a:solidFill>
              </a:rPr>
              <a:t> = 100 for 2 small datasets</a:t>
            </a:r>
          </a:p>
        </p:txBody>
      </p:sp>
    </p:spTree>
    <p:extLst>
      <p:ext uri="{BB962C8B-B14F-4D97-AF65-F5344CB8AC3E}">
        <p14:creationId xmlns:p14="http://schemas.microsoft.com/office/powerpoint/2010/main" val="116268742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26E973-A004-1ADE-14F2-6CA6ED23E076}"/>
              </a:ext>
            </a:extLst>
          </p:cNvPr>
          <p:cNvSpPr>
            <a:spLocks noGrp="1"/>
          </p:cNvSpPr>
          <p:nvPr>
            <p:ph type="title"/>
          </p:nvPr>
        </p:nvSpPr>
        <p:spPr/>
        <p:txBody>
          <a:bodyPr/>
          <a:lstStyle/>
          <a:p>
            <a:r>
              <a:rPr lang="en-US" dirty="0"/>
              <a:t>Host Buffer</a:t>
            </a:r>
          </a:p>
        </p:txBody>
      </p:sp>
      <p:sp>
        <p:nvSpPr>
          <p:cNvPr id="4" name="Rectangle 3">
            <a:extLst>
              <a:ext uri="{FF2B5EF4-FFF2-40B4-BE49-F238E27FC236}">
                <a16:creationId xmlns:a16="http://schemas.microsoft.com/office/drawing/2014/main" id="{9C281DFC-C1BD-CDA5-1357-6531DDCAE1FC}"/>
              </a:ext>
            </a:extLst>
          </p:cNvPr>
          <p:cNvSpPr/>
          <p:nvPr/>
        </p:nvSpPr>
        <p:spPr>
          <a:xfrm>
            <a:off x="1618593" y="1855069"/>
            <a:ext cx="3909848"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err="1"/>
              <a:t>Bwr</a:t>
            </a:r>
            <a:endParaRPr lang="en-US" dirty="0"/>
          </a:p>
        </p:txBody>
      </p:sp>
      <p:sp>
        <p:nvSpPr>
          <p:cNvPr id="5" name="Rectangle 4">
            <a:extLst>
              <a:ext uri="{FF2B5EF4-FFF2-40B4-BE49-F238E27FC236}">
                <a16:creationId xmlns:a16="http://schemas.microsoft.com/office/drawing/2014/main" id="{E852861B-6AEB-4D99-1565-3BAB19A9A7EB}"/>
              </a:ext>
            </a:extLst>
          </p:cNvPr>
          <p:cNvSpPr/>
          <p:nvPr/>
        </p:nvSpPr>
        <p:spPr>
          <a:xfrm>
            <a:off x="6905295" y="1855069"/>
            <a:ext cx="2722179" cy="367862"/>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r>
              <a:rPr lang="en-US" dirty="0"/>
              <a:t>H</a:t>
            </a:r>
          </a:p>
        </p:txBody>
      </p:sp>
      <p:cxnSp>
        <p:nvCxnSpPr>
          <p:cNvPr id="7" name="Straight Arrow Connector 6">
            <a:extLst>
              <a:ext uri="{FF2B5EF4-FFF2-40B4-BE49-F238E27FC236}">
                <a16:creationId xmlns:a16="http://schemas.microsoft.com/office/drawing/2014/main" id="{C4C53FC0-B59F-7874-3116-BBD204AC84FC}"/>
              </a:ext>
            </a:extLst>
          </p:cNvPr>
          <p:cNvCxnSpPr/>
          <p:nvPr/>
        </p:nvCxnSpPr>
        <p:spPr>
          <a:xfrm flipV="1">
            <a:off x="4981903" y="2220303"/>
            <a:ext cx="0" cy="59908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E3E271A6-5D77-3579-CA03-3906DBFDB080}"/>
              </a:ext>
            </a:extLst>
          </p:cNvPr>
          <p:cNvSpPr txBox="1"/>
          <p:nvPr/>
        </p:nvSpPr>
        <p:spPr>
          <a:xfrm>
            <a:off x="2575040" y="2816766"/>
            <a:ext cx="5465374" cy="1200329"/>
          </a:xfrm>
          <a:prstGeom prst="rect">
            <a:avLst/>
          </a:prstGeom>
          <a:noFill/>
        </p:spPr>
        <p:txBody>
          <a:bodyPr wrap="square" rtlCol="0">
            <a:spAutoFit/>
          </a:bodyPr>
          <a:lstStyle/>
          <a:p>
            <a:r>
              <a:rPr lang="en-US" dirty="0"/>
              <a:t>90% filled </a:t>
            </a:r>
            <a:r>
              <a:rPr lang="en-US" dirty="0">
                <a:sym typeface="Wingdings" pitchFamily="2" charset="2"/>
              </a:rPr>
              <a:t></a:t>
            </a:r>
            <a:r>
              <a:rPr lang="en-US" dirty="0"/>
              <a:t> press brake pedal</a:t>
            </a:r>
          </a:p>
          <a:p>
            <a:r>
              <a:rPr lang="en-US" dirty="0"/>
              <a:t>new tasks are not expanded after this point. However,  tasks on the fly are fully expanded, and may exceed </a:t>
            </a:r>
            <a:r>
              <a:rPr lang="en-US" dirty="0" err="1"/>
              <a:t>Bwr</a:t>
            </a:r>
            <a:r>
              <a:rPr lang="en-US" dirty="0"/>
              <a:t> capacity.  Such tasks are spilled to H</a:t>
            </a:r>
          </a:p>
        </p:txBody>
      </p:sp>
      <p:cxnSp>
        <p:nvCxnSpPr>
          <p:cNvPr id="9" name="Straight Arrow Connector 8">
            <a:extLst>
              <a:ext uri="{FF2B5EF4-FFF2-40B4-BE49-F238E27FC236}">
                <a16:creationId xmlns:a16="http://schemas.microsoft.com/office/drawing/2014/main" id="{8E3BDBA0-E359-5938-0FB3-E30F9AA24665}"/>
              </a:ext>
            </a:extLst>
          </p:cNvPr>
          <p:cNvCxnSpPr>
            <a:cxnSpLocks/>
            <a:stCxn id="4" idx="3"/>
            <a:endCxn id="5" idx="1"/>
          </p:cNvCxnSpPr>
          <p:nvPr/>
        </p:nvCxnSpPr>
        <p:spPr>
          <a:xfrm>
            <a:off x="5528441" y="2039000"/>
            <a:ext cx="1376854"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E3BF1332-30DB-73E3-0140-6FAFD1EAB2AD}"/>
              </a:ext>
            </a:extLst>
          </p:cNvPr>
          <p:cNvSpPr txBox="1"/>
          <p:nvPr/>
        </p:nvSpPr>
        <p:spPr>
          <a:xfrm>
            <a:off x="5754415" y="1690688"/>
            <a:ext cx="1057149" cy="369332"/>
          </a:xfrm>
          <a:prstGeom prst="rect">
            <a:avLst/>
          </a:prstGeom>
          <a:noFill/>
        </p:spPr>
        <p:txBody>
          <a:bodyPr wrap="none" rtlCol="0">
            <a:spAutoFit/>
          </a:bodyPr>
          <a:lstStyle/>
          <a:p>
            <a:r>
              <a:rPr lang="en-US"/>
              <a:t>spill to H</a:t>
            </a:r>
            <a:endParaRPr lang="en-US" dirty="0"/>
          </a:p>
        </p:txBody>
      </p:sp>
    </p:spTree>
    <p:extLst>
      <p:ext uri="{BB962C8B-B14F-4D97-AF65-F5344CB8AC3E}">
        <p14:creationId xmlns:p14="http://schemas.microsoft.com/office/powerpoint/2010/main" val="37432127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15F67-CC66-76E8-1A76-6F2AF3484E9F}"/>
              </a:ext>
            </a:extLst>
          </p:cNvPr>
          <p:cNvSpPr>
            <a:spLocks noGrp="1"/>
          </p:cNvSpPr>
          <p:nvPr>
            <p:ph type="title"/>
          </p:nvPr>
        </p:nvSpPr>
        <p:spPr/>
        <p:txBody>
          <a:bodyPr/>
          <a:lstStyle/>
          <a:p>
            <a:r>
              <a:rPr lang="en-US" dirty="0"/>
              <a:t>Buffer Reservation – System </a:t>
            </a:r>
          </a:p>
        </p:txBody>
      </p:sp>
      <p:sp>
        <p:nvSpPr>
          <p:cNvPr id="3" name="Content Placeholder 2">
            <a:extLst>
              <a:ext uri="{FF2B5EF4-FFF2-40B4-BE49-F238E27FC236}">
                <a16:creationId xmlns:a16="http://schemas.microsoft.com/office/drawing/2014/main" id="{2C54BF8F-E991-6701-FF2B-CB1E55E6C7C5}"/>
              </a:ext>
            </a:extLst>
          </p:cNvPr>
          <p:cNvSpPr>
            <a:spLocks noGrp="1"/>
          </p:cNvSpPr>
          <p:nvPr>
            <p:ph idx="1"/>
          </p:nvPr>
        </p:nvSpPr>
        <p:spPr>
          <a:xfrm>
            <a:off x="838200" y="1825625"/>
            <a:ext cx="10515600" cy="1535906"/>
          </a:xfrm>
        </p:spPr>
        <p:txBody>
          <a:bodyPr>
            <a:normAutofit fontScale="92500" lnSpcReduction="20000"/>
          </a:bodyPr>
          <a:lstStyle/>
          <a:p>
            <a:r>
              <a:rPr lang="en-US" dirty="0" err="1"/>
              <a:t>BufferReservation</a:t>
            </a:r>
            <a:r>
              <a:rPr lang="en-US" dirty="0"/>
              <a:t> is a small value returned by append</a:t>
            </a:r>
          </a:p>
          <a:p>
            <a:r>
              <a:rPr lang="en-US" dirty="0"/>
              <a:t>The system tries the device buffer first. If failed, it appends on host buffer. </a:t>
            </a:r>
          </a:p>
          <a:p>
            <a:r>
              <a:rPr lang="en-US" dirty="0"/>
              <a:t>In hybrid-drop mode, it does not append on host</a:t>
            </a:r>
          </a:p>
          <a:p>
            <a:endParaRPr lang="en-US" dirty="0"/>
          </a:p>
        </p:txBody>
      </p:sp>
      <p:sp>
        <p:nvSpPr>
          <p:cNvPr id="5" name="TextBox 4">
            <a:extLst>
              <a:ext uri="{FF2B5EF4-FFF2-40B4-BE49-F238E27FC236}">
                <a16:creationId xmlns:a16="http://schemas.microsoft.com/office/drawing/2014/main" id="{35B8D59D-4C1E-F677-6507-4B0E32C9983D}"/>
              </a:ext>
            </a:extLst>
          </p:cNvPr>
          <p:cNvSpPr txBox="1"/>
          <p:nvPr/>
        </p:nvSpPr>
        <p:spPr>
          <a:xfrm>
            <a:off x="7409793" y="157719"/>
            <a:ext cx="6096000" cy="1600438"/>
          </a:xfrm>
          <a:prstGeom prst="rect">
            <a:avLst/>
          </a:prstGeom>
          <a:noFill/>
        </p:spPr>
        <p:txBody>
          <a:bodyPr wrap="square">
            <a:spAutoFit/>
          </a:bodyPr>
          <a:lstStyle/>
          <a:p>
            <a:pPr rtl="0">
              <a:buNone/>
            </a:pPr>
            <a:r>
              <a:rPr lang="en-US" sz="1400" dirty="0">
                <a:latin typeface="Consolas" panose="020B0609020204030204" pitchFamily="49" charset="0"/>
                <a:cs typeface="Consolas" panose="020B0609020204030204" pitchFamily="49" charset="0"/>
              </a:rPr>
              <a:t>struct </a:t>
            </a:r>
            <a:r>
              <a:rPr lang="en-US" sz="1400" dirty="0" err="1">
                <a:latin typeface="Consolas" panose="020B0609020204030204" pitchFamily="49" charset="0"/>
                <a:cs typeface="Consolas" panose="020B0609020204030204" pitchFamily="49" charset="0"/>
              </a:rPr>
              <a:t>BufferReservation</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ull</a:t>
            </a:r>
            <a:r>
              <a:rPr lang="en-US" sz="1400" dirty="0">
                <a:latin typeface="Consolas" panose="020B0609020204030204" pitchFamily="49" charset="0"/>
                <a:cs typeface="Consolas" panose="020B0609020204030204" pitchFamily="49" charset="0"/>
              </a:rPr>
              <a:t>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bool </a:t>
            </a:r>
            <a:r>
              <a:rPr lang="en-US" sz="1400" dirty="0" err="1">
                <a:latin typeface="Consolas" panose="020B0609020204030204" pitchFamily="49" charset="0"/>
                <a:cs typeface="Consolas" panose="020B0609020204030204" pitchFamily="49" charset="0"/>
              </a:rPr>
              <a:t>to_host</a:t>
            </a:r>
            <a:r>
              <a:rPr lang="en-US" sz="1400" dirty="0">
                <a:latin typeface="Consolas" panose="020B0609020204030204" pitchFamily="49" charset="0"/>
                <a:cs typeface="Consolas" panose="020B0609020204030204" pitchFamily="49" charset="0"/>
              </a:rPr>
              <a:t>;</a:t>
            </a:r>
          </a:p>
          <a:p>
            <a:pPr rtl="0">
              <a:buNone/>
            </a:pPr>
            <a:r>
              <a:rPr lang="en-US" sz="1400" dirty="0">
                <a:latin typeface="Consolas" panose="020B0609020204030204" pitchFamily="49" charset="0"/>
                <a:cs typeface="Consolas" panose="020B0609020204030204" pitchFamily="49" charset="0"/>
              </a:rPr>
              <a:t>    __device__ __host__ bool valid()const{</a:t>
            </a:r>
          </a:p>
          <a:p>
            <a:pPr rtl="0">
              <a:buNone/>
            </a:pPr>
            <a:r>
              <a:rPr lang="en-US" sz="1400" dirty="0">
                <a:latin typeface="Consolas" panose="020B0609020204030204" pitchFamily="49" charset="0"/>
                <a:cs typeface="Consolas" panose="020B0609020204030204" pitchFamily="49" charset="0"/>
              </a:rPr>
              <a:t>        return </a:t>
            </a:r>
            <a:r>
              <a:rPr lang="en-US" sz="1400" dirty="0" err="1">
                <a:latin typeface="Consolas" panose="020B0609020204030204" pitchFamily="49" charset="0"/>
                <a:cs typeface="Consolas" panose="020B0609020204030204" pitchFamily="49" charset="0"/>
              </a:rPr>
              <a:t>vt</a:t>
            </a:r>
            <a:r>
              <a:rPr lang="en-US" sz="1400" dirty="0">
                <a:latin typeface="Consolas" panose="020B0609020204030204" pitchFamily="49" charset="0"/>
                <a:cs typeface="Consolas" panose="020B0609020204030204" pitchFamily="49" charset="0"/>
              </a:rPr>
              <a:t>!=INVALID_BUFFER_POS;</a:t>
            </a:r>
          </a:p>
          <a:p>
            <a:pPr rtl="0">
              <a:buNone/>
            </a:pPr>
            <a:r>
              <a:rPr lang="en-US" sz="1400" dirty="0">
                <a:latin typeface="Consolas" panose="020B0609020204030204" pitchFamily="49" charset="0"/>
                <a:cs typeface="Consolas" panose="020B0609020204030204" pitchFamily="49" charset="0"/>
              </a:rPr>
              <a:t>    }</a:t>
            </a:r>
          </a:p>
          <a:p>
            <a:pPr rtl="0">
              <a:buNone/>
            </a:pPr>
            <a:r>
              <a:rPr lang="en-US" sz="1400" dirty="0">
                <a:latin typeface="Consolas" panose="020B0609020204030204" pitchFamily="49" charset="0"/>
                <a:cs typeface="Consolas" panose="020B0609020204030204" pitchFamily="49" charset="0"/>
              </a:rPr>
              <a:t>};</a:t>
            </a:r>
          </a:p>
        </p:txBody>
      </p:sp>
      <p:sp>
        <p:nvSpPr>
          <p:cNvPr id="7" name="TextBox 6">
            <a:extLst>
              <a:ext uri="{FF2B5EF4-FFF2-40B4-BE49-F238E27FC236}">
                <a16:creationId xmlns:a16="http://schemas.microsoft.com/office/drawing/2014/main" id="{C4D44317-D602-0122-DF85-450740EEFDCC}"/>
              </a:ext>
            </a:extLst>
          </p:cNvPr>
          <p:cNvSpPr txBox="1"/>
          <p:nvPr/>
        </p:nvSpPr>
        <p:spPr>
          <a:xfrm>
            <a:off x="3185948" y="4385441"/>
            <a:ext cx="5820104" cy="1754326"/>
          </a:xfrm>
          <a:prstGeom prst="rect">
            <a:avLst/>
          </a:prstGeom>
          <a:noFill/>
        </p:spPr>
        <p:txBody>
          <a:bodyPr wrap="square">
            <a:spAutoFit/>
          </a:bodyPr>
          <a:lstStyle/>
          <a:p>
            <a:r>
              <a:rPr lang="en-US" dirty="0" err="1">
                <a:latin typeface="Consolas" panose="020B0609020204030204" pitchFamily="49" charset="0"/>
                <a:cs typeface="Consolas" panose="020B0609020204030204" pitchFamily="49" charset="0"/>
              </a:rPr>
              <a:t>BufferReservation</a:t>
            </a:r>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Bwr.append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result.valid</a:t>
            </a:r>
            <a:r>
              <a:rPr lang="en-US" dirty="0">
                <a:latin typeface="Consolas" panose="020B0609020204030204" pitchFamily="49" charset="0"/>
                <a:cs typeface="Consolas" panose="020B0609020204030204" pitchFamily="49" charset="0"/>
              </a:rPr>
              <a:t>() and !</a:t>
            </a:r>
            <a:r>
              <a:rPr lang="en-US" dirty="0" err="1">
                <a:latin typeface="Consolas" panose="020B0609020204030204" pitchFamily="49" charset="0"/>
                <a:cs typeface="Consolas" panose="020B0609020204030204" pitchFamily="49" charset="0"/>
              </a:rPr>
              <a:t>hybrid_drop_mode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result=</a:t>
            </a:r>
            <a:r>
              <a:rPr lang="en-US" dirty="0" err="1">
                <a:latin typeface="Consolas" panose="020B0609020204030204" pitchFamily="49" charset="0"/>
                <a:cs typeface="Consolas" panose="020B0609020204030204" pitchFamily="49" charset="0"/>
              </a:rPr>
              <a:t>H.append</a:t>
            </a:r>
            <a:r>
              <a:rPr lang="en-US" dirty="0">
                <a:latin typeface="Consolas" panose="020B0609020204030204" pitchFamily="49" charset="0"/>
                <a:cs typeface="Consolas" panose="020B0609020204030204" pitchFamily="49" charset="0"/>
              </a:rPr>
              <a:t>(</a:t>
            </a:r>
            <a:r>
              <a:rPr lang="en-US" dirty="0" err="1">
                <a:latin typeface="Consolas" panose="020B0609020204030204" pitchFamily="49" charset="0"/>
                <a:cs typeface="Consolas" panose="020B0609020204030204" pitchFamily="49" charset="0"/>
              </a:rPr>
              <a:t>sglen</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result.to_host</a:t>
            </a:r>
            <a:r>
              <a:rPr lang="en-US" dirty="0">
                <a:latin typeface="Consolas" panose="020B0609020204030204" pitchFamily="49" charset="0"/>
                <a:cs typeface="Consolas" panose="020B0609020204030204" pitchFamily="49" charset="0"/>
              </a:rPr>
              <a:t>=true;</a:t>
            </a:r>
          </a:p>
          <a:p>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return result;</a:t>
            </a:r>
          </a:p>
        </p:txBody>
      </p:sp>
    </p:spTree>
    <p:extLst>
      <p:ext uri="{BB962C8B-B14F-4D97-AF65-F5344CB8AC3E}">
        <p14:creationId xmlns:p14="http://schemas.microsoft.com/office/powerpoint/2010/main" val="19367093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BA0D-0AC8-1FE1-BFFE-7F7AAC630FF7}"/>
              </a:ext>
            </a:extLst>
          </p:cNvPr>
          <p:cNvSpPr>
            <a:spLocks noGrp="1"/>
          </p:cNvSpPr>
          <p:nvPr>
            <p:ph type="title"/>
          </p:nvPr>
        </p:nvSpPr>
        <p:spPr/>
        <p:txBody>
          <a:bodyPr/>
          <a:lstStyle/>
          <a:p>
            <a:r>
              <a:rPr lang="en-US" dirty="0"/>
              <a:t>Buffer Reservation – App </a:t>
            </a:r>
          </a:p>
        </p:txBody>
      </p:sp>
      <p:sp>
        <p:nvSpPr>
          <p:cNvPr id="3" name="Content Placeholder 2">
            <a:extLst>
              <a:ext uri="{FF2B5EF4-FFF2-40B4-BE49-F238E27FC236}">
                <a16:creationId xmlns:a16="http://schemas.microsoft.com/office/drawing/2014/main" id="{35C61F98-D28B-FA5D-E29D-D3FF738D40DB}"/>
              </a:ext>
            </a:extLst>
          </p:cNvPr>
          <p:cNvSpPr>
            <a:spLocks noGrp="1"/>
          </p:cNvSpPr>
          <p:nvPr>
            <p:ph idx="1"/>
          </p:nvPr>
        </p:nvSpPr>
        <p:spPr/>
        <p:txBody>
          <a:bodyPr/>
          <a:lstStyle/>
          <a:p>
            <a:r>
              <a:rPr lang="en-US" dirty="0"/>
              <a:t>The application calls append, and checks if the reservation is valid. </a:t>
            </a:r>
          </a:p>
          <a:p>
            <a:r>
              <a:rPr lang="en-US" dirty="0"/>
              <a:t>Switches to device or host buffer based on </a:t>
            </a:r>
            <a:r>
              <a:rPr lang="en-US" dirty="0" err="1"/>
              <a:t>to_host</a:t>
            </a:r>
            <a:r>
              <a:rPr lang="en-US" dirty="0"/>
              <a:t> flag. </a:t>
            </a:r>
          </a:p>
        </p:txBody>
      </p:sp>
      <p:sp>
        <p:nvSpPr>
          <p:cNvPr id="5" name="TextBox 4">
            <a:extLst>
              <a:ext uri="{FF2B5EF4-FFF2-40B4-BE49-F238E27FC236}">
                <a16:creationId xmlns:a16="http://schemas.microsoft.com/office/drawing/2014/main" id="{E1317F2A-D790-DE9C-2764-64F64CB86CC0}"/>
              </a:ext>
            </a:extLst>
          </p:cNvPr>
          <p:cNvSpPr txBox="1"/>
          <p:nvPr/>
        </p:nvSpPr>
        <p:spPr>
          <a:xfrm>
            <a:off x="3048000" y="4080328"/>
            <a:ext cx="6096000" cy="1477328"/>
          </a:xfrm>
          <a:prstGeom prst="rect">
            <a:avLst/>
          </a:prstGeom>
          <a:noFill/>
        </p:spPr>
        <p:txBody>
          <a:bodyPr wrap="square">
            <a:spAutoFit/>
          </a:bodyPr>
          <a:lstStyle/>
          <a:p>
            <a:r>
              <a:rPr lang="en-US" dirty="0">
                <a:latin typeface="Consolas" panose="020B0609020204030204" pitchFamily="49" charset="0"/>
                <a:cs typeface="Consolas" panose="020B0609020204030204" pitchFamily="49" charset="0"/>
              </a:rPr>
              <a:t>auto reservation = append(</a:t>
            </a:r>
            <a:r>
              <a:rPr lang="en-US" dirty="0" err="1">
                <a:latin typeface="Consolas" panose="020B0609020204030204" pitchFamily="49" charset="0"/>
                <a:cs typeface="Consolas" panose="020B0609020204030204" pitchFamily="49" charset="0"/>
              </a:rPr>
              <a:t>task_size</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if(!</a:t>
            </a:r>
            <a:r>
              <a:rPr lang="en-US" dirty="0" err="1">
                <a:latin typeface="Consolas" panose="020B0609020204030204" pitchFamily="49" charset="0"/>
                <a:cs typeface="Consolas" panose="020B0609020204030204" pitchFamily="49" charset="0"/>
              </a:rPr>
              <a:t>reservation.valid</a:t>
            </a:r>
            <a:r>
              <a:rPr lang="en-US" dirty="0">
                <a:latin typeface="Consolas" panose="020B0609020204030204" pitchFamily="49" charset="0"/>
                <a:cs typeface="Consolas" panose="020B0609020204030204" pitchFamily="49" charset="0"/>
              </a:rPr>
              <a:t>()) return;</a:t>
            </a:r>
          </a:p>
          <a:p>
            <a:r>
              <a:rPr lang="en-US" dirty="0">
                <a:latin typeface="Consolas" panose="020B0609020204030204" pitchFamily="49" charset="0"/>
                <a:cs typeface="Consolas" panose="020B0609020204030204" pitchFamily="49" charset="0"/>
              </a:rPr>
              <a:t>auto&amp; buffer = </a:t>
            </a:r>
            <a:r>
              <a:rPr lang="en-US" dirty="0" err="1">
                <a:latin typeface="Consolas" panose="020B0609020204030204" pitchFamily="49" charset="0"/>
                <a:cs typeface="Consolas" panose="020B0609020204030204" pitchFamily="49" charset="0"/>
              </a:rPr>
              <a:t>reservation.to_host</a:t>
            </a:r>
            <a:r>
              <a:rPr lang="en-US" dirty="0">
                <a:latin typeface="Consolas" panose="020B0609020204030204" pitchFamily="49" charset="0"/>
                <a:cs typeface="Consolas" panose="020B0609020204030204" pitchFamily="49" charset="0"/>
              </a:rPr>
              <a:t>? </a:t>
            </a:r>
            <a:r>
              <a:rPr lang="en-US" dirty="0" err="1">
                <a:latin typeface="Consolas" panose="020B0609020204030204" pitchFamily="49" charset="0"/>
                <a:cs typeface="Consolas" panose="020B0609020204030204" pitchFamily="49" charset="0"/>
              </a:rPr>
              <a:t>H:Bwr</a:t>
            </a:r>
            <a:r>
              <a:rPr lang="en-US" dirty="0">
                <a:latin typeface="Consolas" panose="020B0609020204030204" pitchFamily="49" charset="0"/>
                <a:cs typeface="Consolas" panose="020B0609020204030204" pitchFamily="49" charset="0"/>
              </a:rPr>
              <a:t>;</a:t>
            </a:r>
          </a:p>
          <a:p>
            <a:r>
              <a:rPr lang="en-US" dirty="0" err="1">
                <a:latin typeface="Consolas" panose="020B0609020204030204" pitchFamily="49" charset="0"/>
                <a:cs typeface="Consolas" panose="020B0609020204030204" pitchFamily="49" charset="0"/>
              </a:rPr>
              <a:t>ull</a:t>
            </a:r>
            <a:r>
              <a:rPr lang="en-US" dirty="0">
                <a:latin typeface="Consolas" panose="020B0609020204030204" pitchFamily="49" charset="0"/>
                <a:cs typeface="Consolas" panose="020B0609020204030204" pitchFamily="49" charset="0"/>
              </a:rPr>
              <a:t> start = </a:t>
            </a:r>
            <a:r>
              <a:rPr lang="en-US" dirty="0" err="1">
                <a:latin typeface="Consolas" panose="020B0609020204030204" pitchFamily="49" charset="0"/>
                <a:cs typeface="Consolas" panose="020B0609020204030204" pitchFamily="49" charset="0"/>
              </a:rPr>
              <a:t>reservation.vt</a:t>
            </a:r>
            <a:r>
              <a:rPr lang="en-US" dirty="0">
                <a:latin typeface="Consolas" panose="020B0609020204030204" pitchFamily="49" charset="0"/>
                <a:cs typeface="Consolas" panose="020B0609020204030204" pitchFamily="49" charset="0"/>
              </a:rPr>
              <a:t>;</a:t>
            </a:r>
          </a:p>
          <a:p>
            <a:r>
              <a:rPr lang="en-US" dirty="0">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287394521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B20E587-2136-19AE-BB08-5E7EA51DB52B}"/>
              </a:ext>
            </a:extLst>
          </p:cNvPr>
          <p:cNvSpPr>
            <a:spLocks noGrp="1"/>
          </p:cNvSpPr>
          <p:nvPr>
            <p:ph type="title"/>
          </p:nvPr>
        </p:nvSpPr>
        <p:spPr/>
        <p:txBody>
          <a:bodyPr/>
          <a:lstStyle/>
          <a:p>
            <a:r>
              <a:rPr lang="en-US" dirty="0"/>
              <a:t>Why OOM-Fixed version of G2-AIMD Faster?</a:t>
            </a:r>
          </a:p>
        </p:txBody>
      </p:sp>
      <p:graphicFrame>
        <p:nvGraphicFramePr>
          <p:cNvPr id="4" name="Content Placeholder 3">
            <a:extLst>
              <a:ext uri="{FF2B5EF4-FFF2-40B4-BE49-F238E27FC236}">
                <a16:creationId xmlns:a16="http://schemas.microsoft.com/office/drawing/2014/main" id="{29B8652E-5AB9-2D13-5A7B-FCD28C20BB62}"/>
              </a:ext>
            </a:extLst>
          </p:cNvPr>
          <p:cNvGraphicFramePr>
            <a:graphicFrameLocks noGrp="1"/>
          </p:cNvGraphicFramePr>
          <p:nvPr>
            <p:ph idx="1"/>
            <p:extLst>
              <p:ext uri="{D42A27DB-BD31-4B8C-83A1-F6EECF244321}">
                <p14:modId xmlns:p14="http://schemas.microsoft.com/office/powerpoint/2010/main" val="4254775755"/>
              </p:ext>
            </p:extLst>
          </p:nvPr>
        </p:nvGraphicFramePr>
        <p:xfrm>
          <a:off x="5390708" y="5600436"/>
          <a:ext cx="3728483" cy="892439"/>
        </p:xfrm>
        <a:graphic>
          <a:graphicData uri="http://schemas.openxmlformats.org/drawingml/2006/table">
            <a:tbl>
              <a:tblPr>
                <a:tableStyleId>{5C22544A-7EE6-4342-B048-85BDC9FD1C3A}</a:tableStyleId>
              </a:tblPr>
              <a:tblGrid>
                <a:gridCol w="1219200">
                  <a:extLst>
                    <a:ext uri="{9D8B030D-6E8A-4147-A177-3AD203B41FA5}">
                      <a16:colId xmlns:a16="http://schemas.microsoft.com/office/drawing/2014/main" val="713271382"/>
                    </a:ext>
                  </a:extLst>
                </a:gridCol>
                <a:gridCol w="1786270">
                  <a:extLst>
                    <a:ext uri="{9D8B030D-6E8A-4147-A177-3AD203B41FA5}">
                      <a16:colId xmlns:a16="http://schemas.microsoft.com/office/drawing/2014/main" val="4145633645"/>
                    </a:ext>
                  </a:extLst>
                </a:gridCol>
                <a:gridCol w="723013">
                  <a:extLst>
                    <a:ext uri="{9D8B030D-6E8A-4147-A177-3AD203B41FA5}">
                      <a16:colId xmlns:a16="http://schemas.microsoft.com/office/drawing/2014/main" val="2927860622"/>
                    </a:ext>
                  </a:extLst>
                </a:gridCol>
              </a:tblGrid>
              <a:tr h="320017">
                <a:tc>
                  <a:txBody>
                    <a:bodyPr/>
                    <a:lstStyle/>
                    <a:p>
                      <a:pPr algn="l" fontAlgn="b">
                        <a:buNone/>
                      </a:pPr>
                      <a:r>
                        <a:rPr lang="en-US" sz="1300" b="1" u="none" strike="noStrike" dirty="0">
                          <a:effectLst/>
                        </a:rPr>
                        <a:t>Dataset</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 (OOM-Fixed)</a:t>
                      </a:r>
                      <a:endParaRPr lang="en-US" sz="1300" b="1" i="0" u="none" strike="noStrike" dirty="0">
                        <a:solidFill>
                          <a:srgbClr val="FFFFFF"/>
                        </a:solidFill>
                        <a:effectLst/>
                        <a:latin typeface="Aptos Narrow" panose="020B0004020202020204" pitchFamily="34" charset="0"/>
                      </a:endParaRPr>
                    </a:p>
                  </a:txBody>
                  <a:tcPr marL="0" marR="0" marT="0" marB="0" anchor="b"/>
                </a:tc>
                <a:tc>
                  <a:txBody>
                    <a:bodyPr/>
                    <a:lstStyle/>
                    <a:p>
                      <a:pPr algn="l" fontAlgn="b">
                        <a:buNone/>
                      </a:pPr>
                      <a:r>
                        <a:rPr lang="en-US" sz="1300" b="1" u="none" strike="noStrike" dirty="0">
                          <a:effectLst/>
                        </a:rPr>
                        <a:t>G2-AIMD</a:t>
                      </a:r>
                      <a:endParaRPr lang="en-US" sz="1300" b="1" i="0" u="none" strike="noStrike" dirty="0">
                        <a:solidFill>
                          <a:srgbClr val="FFFFFF"/>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2770345006"/>
                  </a:ext>
                </a:extLst>
              </a:tr>
              <a:tr h="286211">
                <a:tc>
                  <a:txBody>
                    <a:bodyPr/>
                    <a:lstStyle/>
                    <a:p>
                      <a:pPr algn="l" fontAlgn="b">
                        <a:buNone/>
                      </a:pPr>
                      <a:r>
                        <a:rPr lang="en-US" sz="1300" u="none" strike="noStrike">
                          <a:effectLst/>
                        </a:rPr>
                        <a:t>wikipedia_link_it</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33.91</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33.8</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1645920416"/>
                  </a:ext>
                </a:extLst>
              </a:tr>
              <a:tr h="286211">
                <a:tc>
                  <a:txBody>
                    <a:bodyPr/>
                    <a:lstStyle/>
                    <a:p>
                      <a:pPr algn="l" fontAlgn="b">
                        <a:buNone/>
                      </a:pPr>
                      <a:r>
                        <a:rPr lang="en-US" sz="1300" u="none" strike="noStrike">
                          <a:effectLst/>
                        </a:rPr>
                        <a:t>sx-stackoverflow</a:t>
                      </a:r>
                      <a:endParaRPr lang="en-US" sz="1300" b="0" i="0" u="none" strike="noStrike">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300" u="none" strike="noStrike" dirty="0">
                          <a:effectLst/>
                        </a:rPr>
                        <a:t>21.52</a:t>
                      </a:r>
                      <a:endParaRPr lang="en-US" sz="1300" b="0" i="0" u="none" strike="noStrike" dirty="0">
                        <a:solidFill>
                          <a:srgbClr val="000000"/>
                        </a:solidFill>
                        <a:effectLst/>
                        <a:latin typeface="Aptos Narrow" panose="020B0004020202020204" pitchFamily="34" charset="0"/>
                      </a:endParaRPr>
                    </a:p>
                  </a:txBody>
                  <a:tcPr marL="0" marR="0" marT="0" marB="0" anchor="b"/>
                </a:tc>
                <a:tc>
                  <a:txBody>
                    <a:bodyPr/>
                    <a:lstStyle/>
                    <a:p>
                      <a:pPr algn="ctr" fontAlgn="b">
                        <a:buNone/>
                      </a:pPr>
                      <a:r>
                        <a:rPr lang="en-US" sz="1500" u="none" strike="noStrike" dirty="0">
                          <a:effectLst/>
                        </a:rPr>
                        <a:t>71.7</a:t>
                      </a:r>
                      <a:endParaRPr lang="en-US" sz="1500" b="0" i="0" u="none" strike="noStrike" dirty="0">
                        <a:solidFill>
                          <a:srgbClr val="000000"/>
                        </a:solidFill>
                        <a:effectLst/>
                        <a:latin typeface="Aptos Narrow" panose="020B0004020202020204" pitchFamily="34" charset="0"/>
                      </a:endParaRPr>
                    </a:p>
                  </a:txBody>
                  <a:tcPr marL="0" marR="0" marT="0" marB="0" anchor="b"/>
                </a:tc>
                <a:extLst>
                  <a:ext uri="{0D108BD9-81ED-4DB2-BD59-A6C34878D82A}">
                    <a16:rowId xmlns:a16="http://schemas.microsoft.com/office/drawing/2014/main" val="971046385"/>
                  </a:ext>
                </a:extLst>
              </a:tr>
            </a:tbl>
          </a:graphicData>
        </a:graphic>
      </p:graphicFrame>
      <p:sp>
        <p:nvSpPr>
          <p:cNvPr id="5" name="Content Placeholder 2">
            <a:extLst>
              <a:ext uri="{FF2B5EF4-FFF2-40B4-BE49-F238E27FC236}">
                <a16:creationId xmlns:a16="http://schemas.microsoft.com/office/drawing/2014/main" id="{5FD46B0C-AED5-0170-9290-B59A9BC46EAD}"/>
              </a:ext>
            </a:extLst>
          </p:cNvPr>
          <p:cNvSpPr txBox="1">
            <a:spLocks/>
          </p:cNvSpPr>
          <p:nvPr/>
        </p:nvSpPr>
        <p:spPr>
          <a:xfrm>
            <a:off x="838200" y="1825625"/>
            <a:ext cx="10515600" cy="4351338"/>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dirty="0"/>
              <a:t>Both versions stop expanding when append can no longer safely write.</a:t>
            </a:r>
          </a:p>
          <a:p>
            <a:pPr marL="0" indent="0">
              <a:buNone/>
            </a:pPr>
            <a:r>
              <a:rPr lang="en-US" dirty="0"/>
              <a:t>Difference:</a:t>
            </a:r>
          </a:p>
          <a:p>
            <a:pPr lvl="1"/>
            <a:r>
              <a:rPr lang="en-US" dirty="0"/>
              <a:t>G2-AIMD: overflow is set early, after a threshold, e.g. 90%.</a:t>
            </a:r>
          </a:p>
          <a:p>
            <a:pPr lvl="1"/>
            <a:r>
              <a:rPr lang="en-US" dirty="0"/>
              <a:t>G2-AIMD OOM-Fixed: overflow is set only when append returns an invalid write location.</a:t>
            </a:r>
          </a:p>
          <a:p>
            <a:pPr marL="0" indent="0">
              <a:buNone/>
            </a:pPr>
            <a:r>
              <a:rPr lang="en-US" dirty="0"/>
              <a:t>So OOM-Fixed may avoid premature failed iterations, making it faster.</a:t>
            </a:r>
          </a:p>
        </p:txBody>
      </p:sp>
    </p:spTree>
    <p:extLst>
      <p:ext uri="{BB962C8B-B14F-4D97-AF65-F5344CB8AC3E}">
        <p14:creationId xmlns:p14="http://schemas.microsoft.com/office/powerpoint/2010/main" val="206002070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7201-1C1B-1754-0B8F-E07786E708BB}"/>
              </a:ext>
            </a:extLst>
          </p:cNvPr>
          <p:cNvSpPr>
            <a:spLocks noGrp="1"/>
          </p:cNvSpPr>
          <p:nvPr>
            <p:ph type="title"/>
          </p:nvPr>
        </p:nvSpPr>
        <p:spPr/>
        <p:txBody>
          <a:bodyPr/>
          <a:lstStyle/>
          <a:p>
            <a:r>
              <a:rPr lang="en-US" dirty="0"/>
              <a:t>Why G2-AIMD is Faster </a:t>
            </a:r>
          </a:p>
        </p:txBody>
      </p:sp>
      <p:sp>
        <p:nvSpPr>
          <p:cNvPr id="3" name="Content Placeholder 2">
            <a:extLst>
              <a:ext uri="{FF2B5EF4-FFF2-40B4-BE49-F238E27FC236}">
                <a16:creationId xmlns:a16="http://schemas.microsoft.com/office/drawing/2014/main" id="{7BD2331F-55B5-2DF4-61ED-3D123CA1E3FD}"/>
              </a:ext>
            </a:extLst>
          </p:cNvPr>
          <p:cNvSpPr>
            <a:spLocks noGrp="1"/>
          </p:cNvSpPr>
          <p:nvPr>
            <p:ph idx="1"/>
          </p:nvPr>
        </p:nvSpPr>
        <p:spPr/>
        <p:txBody>
          <a:bodyPr>
            <a:normAutofit/>
          </a:bodyPr>
          <a:lstStyle/>
          <a:p>
            <a:pPr marL="0" indent="0">
              <a:buNone/>
            </a:pPr>
            <a:r>
              <a:rPr lang="en-US" dirty="0"/>
              <a:t>In some cases, G2-AIMD outperforms GPU-hybrid even when neither system overflows.</a:t>
            </a:r>
          </a:p>
          <a:p>
            <a:pPr lvl="0"/>
            <a:r>
              <a:rPr lang="en-US" dirty="0"/>
              <a:t>G2-AIMD follows a simpler GPU execution path.</a:t>
            </a:r>
          </a:p>
          <a:p>
            <a:pPr lvl="0"/>
            <a:r>
              <a:rPr lang="en-US" dirty="0"/>
              <a:t>Our system uses adaptive device and host buffers to protect against overflow.</a:t>
            </a:r>
          </a:p>
          <a:p>
            <a:pPr lvl="0"/>
            <a:r>
              <a:rPr lang="en-US" dirty="0"/>
              <a:t>This flexibility requires additional capacity checks, overflow tracking, and destination selection.</a:t>
            </a:r>
          </a:p>
          <a:p>
            <a:pPr lvl="0"/>
            <a:r>
              <a:rPr lang="en-US" dirty="0"/>
              <a:t>The generic buffer interface keeps more state alive, which can change compiler optimizations and register allocations.</a:t>
            </a:r>
          </a:p>
        </p:txBody>
      </p:sp>
      <p:sp>
        <p:nvSpPr>
          <p:cNvPr id="4" name="TextBox 3">
            <a:extLst>
              <a:ext uri="{FF2B5EF4-FFF2-40B4-BE49-F238E27FC236}">
                <a16:creationId xmlns:a16="http://schemas.microsoft.com/office/drawing/2014/main" id="{734C9161-0742-3499-7282-73EBA029134B}"/>
              </a:ext>
            </a:extLst>
          </p:cNvPr>
          <p:cNvSpPr txBox="1"/>
          <p:nvPr/>
        </p:nvSpPr>
        <p:spPr>
          <a:xfrm>
            <a:off x="7708261" y="427741"/>
            <a:ext cx="4285265" cy="1200329"/>
          </a:xfrm>
          <a:prstGeom prst="rect">
            <a:avLst/>
          </a:prstGeom>
          <a:noFill/>
        </p:spPr>
        <p:txBody>
          <a:bodyPr wrap="square" rtlCol="0">
            <a:spAutoFit/>
          </a:bodyPr>
          <a:lstStyle/>
          <a:p>
            <a:r>
              <a:rPr lang="en-US" b="1" dirty="0">
                <a:solidFill>
                  <a:srgbClr val="C00000"/>
                </a:solidFill>
              </a:rPr>
              <a:t>Not a valid statement!!</a:t>
            </a:r>
          </a:p>
          <a:p>
            <a:r>
              <a:rPr lang="en-US" b="1" dirty="0">
                <a:solidFill>
                  <a:srgbClr val="C00000"/>
                </a:solidFill>
              </a:rPr>
              <a:t>Checked with a simplified system where only device buffer is used and there was no overflow for dataset</a:t>
            </a:r>
          </a:p>
        </p:txBody>
      </p:sp>
    </p:spTree>
    <p:extLst>
      <p:ext uri="{BB962C8B-B14F-4D97-AF65-F5344CB8AC3E}">
        <p14:creationId xmlns:p14="http://schemas.microsoft.com/office/powerpoint/2010/main" val="701671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CD8988-8E15-7B7A-BAF1-331B63E6DD8C}"/>
              </a:ext>
            </a:extLst>
          </p:cNvPr>
          <p:cNvSpPr>
            <a:spLocks noGrp="1"/>
          </p:cNvSpPr>
          <p:nvPr>
            <p:ph type="title"/>
          </p:nvPr>
        </p:nvSpPr>
        <p:spPr/>
        <p:txBody>
          <a:bodyPr/>
          <a:lstStyle/>
          <a:p>
            <a:r>
              <a:rPr lang="en-US" dirty="0"/>
              <a:t>Scratch Buffers</a:t>
            </a:r>
          </a:p>
        </p:txBody>
      </p:sp>
      <p:sp>
        <p:nvSpPr>
          <p:cNvPr id="3" name="Content Placeholder 2">
            <a:extLst>
              <a:ext uri="{FF2B5EF4-FFF2-40B4-BE49-F238E27FC236}">
                <a16:creationId xmlns:a16="http://schemas.microsoft.com/office/drawing/2014/main" id="{21351F9D-CC97-4118-4C60-B611E7CC1B08}"/>
              </a:ext>
            </a:extLst>
          </p:cNvPr>
          <p:cNvSpPr>
            <a:spLocks noGrp="1"/>
          </p:cNvSpPr>
          <p:nvPr>
            <p:ph idx="1"/>
          </p:nvPr>
        </p:nvSpPr>
        <p:spPr>
          <a:xfrm>
            <a:off x="838200" y="1825625"/>
            <a:ext cx="6859696" cy="4351338"/>
          </a:xfrm>
        </p:spPr>
        <p:txBody>
          <a:bodyPr>
            <a:normAutofit fontScale="92500" lnSpcReduction="20000"/>
          </a:bodyPr>
          <a:lstStyle/>
          <a:p>
            <a:r>
              <a:rPr lang="en-US" dirty="0"/>
              <a:t>QC uses scratch storage as a </a:t>
            </a:r>
            <a:r>
              <a:rPr lang="en-US" b="1" dirty="0"/>
              <a:t>per-warp</a:t>
            </a:r>
            <a:r>
              <a:rPr lang="en-US" dirty="0"/>
              <a:t> working copy of the current task.</a:t>
            </a:r>
          </a:p>
          <a:p>
            <a:r>
              <a:rPr lang="en-US" dirty="0"/>
              <a:t>Pruning, sorting, candidate removal, degree updates, and child generation operate on this temporary copy before writing the resulting task to </a:t>
            </a:r>
            <a:r>
              <a:rPr lang="en-US" dirty="0" err="1"/>
              <a:t>Bwr</a:t>
            </a:r>
            <a:r>
              <a:rPr lang="en-US" dirty="0"/>
              <a:t> or H.</a:t>
            </a:r>
          </a:p>
          <a:p>
            <a:r>
              <a:rPr lang="en-US" dirty="0"/>
              <a:t>Smaller (&lt;70 candidates) tasks use shared-memory buffer</a:t>
            </a:r>
          </a:p>
          <a:p>
            <a:r>
              <a:rPr lang="en-US" dirty="0"/>
              <a:t>Medium (71-32000 candidates) tasks use global memory</a:t>
            </a:r>
          </a:p>
          <a:p>
            <a:r>
              <a:rPr lang="en-US" dirty="0"/>
              <a:t>Big tasks were dropped in original implementation of BigData’25 paper</a:t>
            </a:r>
          </a:p>
        </p:txBody>
      </p:sp>
      <p:pic>
        <p:nvPicPr>
          <p:cNvPr id="4" name="Picture 3">
            <a:extLst>
              <a:ext uri="{FF2B5EF4-FFF2-40B4-BE49-F238E27FC236}">
                <a16:creationId xmlns:a16="http://schemas.microsoft.com/office/drawing/2014/main" id="{63470301-7272-B311-DD7F-69756A08A375}"/>
              </a:ext>
            </a:extLst>
          </p:cNvPr>
          <p:cNvPicPr>
            <a:picLocks noChangeAspect="1"/>
          </p:cNvPicPr>
          <p:nvPr/>
        </p:nvPicPr>
        <p:blipFill>
          <a:blip r:embed="rId2"/>
          <a:stretch>
            <a:fillRect/>
          </a:stretch>
        </p:blipFill>
        <p:spPr>
          <a:xfrm>
            <a:off x="7697896" y="842963"/>
            <a:ext cx="4189717" cy="4351338"/>
          </a:xfrm>
          <a:prstGeom prst="rect">
            <a:avLst/>
          </a:prstGeom>
        </p:spPr>
      </p:pic>
    </p:spTree>
    <p:extLst>
      <p:ext uri="{BB962C8B-B14F-4D97-AF65-F5344CB8AC3E}">
        <p14:creationId xmlns:p14="http://schemas.microsoft.com/office/powerpoint/2010/main" val="372901408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7FC657-1725-2BA2-8F36-71CCCAF5DF5C}"/>
              </a:ext>
            </a:extLst>
          </p:cNvPr>
          <p:cNvSpPr>
            <a:spLocks noGrp="1"/>
          </p:cNvSpPr>
          <p:nvPr>
            <p:ph type="title"/>
          </p:nvPr>
        </p:nvSpPr>
        <p:spPr/>
        <p:txBody>
          <a:bodyPr/>
          <a:lstStyle/>
          <a:p>
            <a:r>
              <a:rPr lang="en-US" dirty="0"/>
              <a:t>Handling Big Tasks</a:t>
            </a:r>
          </a:p>
        </p:txBody>
      </p:sp>
      <p:sp>
        <p:nvSpPr>
          <p:cNvPr id="3" name="Content Placeholder 2">
            <a:extLst>
              <a:ext uri="{FF2B5EF4-FFF2-40B4-BE49-F238E27FC236}">
                <a16:creationId xmlns:a16="http://schemas.microsoft.com/office/drawing/2014/main" id="{9C3ABE05-11A9-4071-8AEE-405ABDB6DF2C}"/>
              </a:ext>
            </a:extLst>
          </p:cNvPr>
          <p:cNvSpPr>
            <a:spLocks noGrp="1"/>
          </p:cNvSpPr>
          <p:nvPr>
            <p:ph idx="1"/>
          </p:nvPr>
        </p:nvSpPr>
        <p:spPr>
          <a:xfrm>
            <a:off x="838200" y="1825625"/>
            <a:ext cx="6466490" cy="4351338"/>
          </a:xfrm>
        </p:spPr>
        <p:txBody>
          <a:bodyPr>
            <a:normAutofit fontScale="92500" lnSpcReduction="10000"/>
          </a:bodyPr>
          <a:lstStyle/>
          <a:p>
            <a:pPr lvl="0"/>
            <a:r>
              <a:rPr lang="en-US" dirty="0"/>
              <a:t>Large root tasks are placed in a dedicated </a:t>
            </a:r>
            <a:r>
              <a:rPr lang="en-US" dirty="0" err="1"/>
              <a:t>big_root</a:t>
            </a:r>
            <a:r>
              <a:rPr lang="en-US" dirty="0"/>
              <a:t> queue.</a:t>
            </a:r>
          </a:p>
          <a:p>
            <a:pPr lvl="0"/>
            <a:r>
              <a:rPr lang="en-US" dirty="0"/>
              <a:t>CPU workers prioritize </a:t>
            </a:r>
            <a:r>
              <a:rPr lang="en-US" dirty="0" err="1"/>
              <a:t>big_root</a:t>
            </a:r>
            <a:r>
              <a:rPr lang="en-US" dirty="0"/>
              <a:t> before processing the regular queue.</a:t>
            </a:r>
          </a:p>
          <a:p>
            <a:pPr lvl="0"/>
            <a:r>
              <a:rPr lang="en-US" dirty="0"/>
              <a:t>As recursion progresses, candidate sets become smaller.</a:t>
            </a:r>
          </a:p>
          <a:p>
            <a:pPr lvl="0"/>
            <a:r>
              <a:rPr lang="en-US" dirty="0"/>
              <a:t>When a task times out, it is decomposed into smaller subtasks:</a:t>
            </a:r>
          </a:p>
          <a:p>
            <a:pPr lvl="1"/>
            <a:r>
              <a:rPr lang="en-US" dirty="0"/>
              <a:t>Still large → place in </a:t>
            </a:r>
            <a:r>
              <a:rPr lang="en-US" dirty="0" err="1"/>
              <a:t>big_S</a:t>
            </a:r>
            <a:r>
              <a:rPr lang="en-US" dirty="0"/>
              <a:t> for CPU-only processing.</a:t>
            </a:r>
          </a:p>
          <a:p>
            <a:pPr lvl="1"/>
            <a:r>
              <a:rPr lang="en-US" dirty="0"/>
              <a:t>Small enough → place in the regular queue S.</a:t>
            </a:r>
          </a:p>
        </p:txBody>
      </p:sp>
      <p:grpSp>
        <p:nvGrpSpPr>
          <p:cNvPr id="44" name="Group 43">
            <a:extLst>
              <a:ext uri="{FF2B5EF4-FFF2-40B4-BE49-F238E27FC236}">
                <a16:creationId xmlns:a16="http://schemas.microsoft.com/office/drawing/2014/main" id="{3D7F9CEC-4146-E2F2-BFC3-939D824E9163}"/>
              </a:ext>
            </a:extLst>
          </p:cNvPr>
          <p:cNvGrpSpPr/>
          <p:nvPr/>
        </p:nvGrpSpPr>
        <p:grpSpPr>
          <a:xfrm>
            <a:off x="7304690" y="1489294"/>
            <a:ext cx="4645133" cy="2683314"/>
            <a:chOff x="2349500" y="1321356"/>
            <a:chExt cx="7950200" cy="4940462"/>
          </a:xfrm>
        </p:grpSpPr>
        <p:pic>
          <p:nvPicPr>
            <p:cNvPr id="30" name="Picture 29">
              <a:extLst>
                <a:ext uri="{FF2B5EF4-FFF2-40B4-BE49-F238E27FC236}">
                  <a16:creationId xmlns:a16="http://schemas.microsoft.com/office/drawing/2014/main" id="{11846B11-537C-3C87-05B4-C65D9378AFF6}"/>
                </a:ext>
              </a:extLst>
            </p:cNvPr>
            <p:cNvPicPr>
              <a:picLocks noChangeAspect="1"/>
            </p:cNvPicPr>
            <p:nvPr/>
          </p:nvPicPr>
          <p:blipFill>
            <a:blip r:embed="rId2"/>
            <a:srcRect b="9091"/>
            <a:stretch>
              <a:fillRect/>
            </a:stretch>
          </p:blipFill>
          <p:spPr>
            <a:xfrm>
              <a:off x="2349500" y="1955631"/>
              <a:ext cx="7950200" cy="2603669"/>
            </a:xfrm>
            <a:prstGeom prst="rect">
              <a:avLst/>
            </a:prstGeom>
          </p:spPr>
        </p:pic>
        <p:pic>
          <p:nvPicPr>
            <p:cNvPr id="31" name="Picture 30">
              <a:extLst>
                <a:ext uri="{FF2B5EF4-FFF2-40B4-BE49-F238E27FC236}">
                  <a16:creationId xmlns:a16="http://schemas.microsoft.com/office/drawing/2014/main" id="{56D8731E-9725-854D-9936-1C48BA5D130E}"/>
                </a:ext>
              </a:extLst>
            </p:cNvPr>
            <p:cNvPicPr>
              <a:picLocks noChangeAspect="1"/>
            </p:cNvPicPr>
            <p:nvPr/>
          </p:nvPicPr>
          <p:blipFill>
            <a:blip r:embed="rId3"/>
            <a:srcRect l="53140"/>
            <a:stretch>
              <a:fillRect/>
            </a:stretch>
          </p:blipFill>
          <p:spPr>
            <a:xfrm>
              <a:off x="7412901" y="5259645"/>
              <a:ext cx="390360" cy="730728"/>
            </a:xfrm>
            <a:prstGeom prst="rect">
              <a:avLst/>
            </a:prstGeom>
          </p:spPr>
        </p:pic>
        <p:sp>
          <p:nvSpPr>
            <p:cNvPr id="32" name="TextBox 31">
              <a:extLst>
                <a:ext uri="{FF2B5EF4-FFF2-40B4-BE49-F238E27FC236}">
                  <a16:creationId xmlns:a16="http://schemas.microsoft.com/office/drawing/2014/main" id="{9F04D6B4-BA2D-B76A-BE06-064C671AB290}"/>
                </a:ext>
              </a:extLst>
            </p:cNvPr>
            <p:cNvSpPr txBox="1"/>
            <p:nvPr/>
          </p:nvSpPr>
          <p:spPr>
            <a:xfrm>
              <a:off x="7412900" y="5259645"/>
              <a:ext cx="626005" cy="418104"/>
            </a:xfrm>
            <a:prstGeom prst="rect">
              <a:avLst/>
            </a:prstGeom>
            <a:noFill/>
          </p:spPr>
          <p:txBody>
            <a:bodyPr wrap="square" rtlCol="0">
              <a:spAutoFit/>
            </a:bodyPr>
            <a:lstStyle/>
            <a:p>
              <a:r>
                <a:rPr lang="en-US" sz="1000" b="1" i="1" dirty="0"/>
                <a:t>big</a:t>
              </a:r>
            </a:p>
          </p:txBody>
        </p:sp>
        <p:pic>
          <p:nvPicPr>
            <p:cNvPr id="33" name="Picture 32">
              <a:extLst>
                <a:ext uri="{FF2B5EF4-FFF2-40B4-BE49-F238E27FC236}">
                  <a16:creationId xmlns:a16="http://schemas.microsoft.com/office/drawing/2014/main" id="{F4A40412-4767-D6F6-A550-5137D724BBD1}"/>
                </a:ext>
              </a:extLst>
            </p:cNvPr>
            <p:cNvPicPr>
              <a:picLocks noChangeAspect="1"/>
            </p:cNvPicPr>
            <p:nvPr/>
          </p:nvPicPr>
          <p:blipFill>
            <a:blip r:embed="rId4"/>
            <a:stretch>
              <a:fillRect/>
            </a:stretch>
          </p:blipFill>
          <p:spPr>
            <a:xfrm>
              <a:off x="5721350" y="1663531"/>
              <a:ext cx="2527300" cy="292100"/>
            </a:xfrm>
            <a:prstGeom prst="rect">
              <a:avLst/>
            </a:prstGeom>
          </p:spPr>
        </p:pic>
        <p:sp>
          <p:nvSpPr>
            <p:cNvPr id="34" name="TextBox 33">
              <a:extLst>
                <a:ext uri="{FF2B5EF4-FFF2-40B4-BE49-F238E27FC236}">
                  <a16:creationId xmlns:a16="http://schemas.microsoft.com/office/drawing/2014/main" id="{537B7C6C-0590-B4B8-894E-E0BE79F0F53E}"/>
                </a:ext>
              </a:extLst>
            </p:cNvPr>
            <p:cNvSpPr txBox="1"/>
            <p:nvPr/>
          </p:nvSpPr>
          <p:spPr>
            <a:xfrm>
              <a:off x="5721350" y="1321356"/>
              <a:ext cx="1188618" cy="456113"/>
            </a:xfrm>
            <a:prstGeom prst="rect">
              <a:avLst/>
            </a:prstGeom>
            <a:noFill/>
          </p:spPr>
          <p:txBody>
            <a:bodyPr wrap="none" rtlCol="0">
              <a:spAutoFit/>
            </a:bodyPr>
            <a:lstStyle/>
            <a:p>
              <a:r>
                <a:rPr lang="en-US" sz="1200"/>
                <a:t>CPU </a:t>
              </a:r>
              <a:r>
                <a:rPr lang="en-US" sz="1200">
                  <a:sym typeface="Wingdings" pitchFamily="2" charset="2"/>
                </a:rPr>
                <a:t> </a:t>
              </a:r>
              <a:endParaRPr lang="en-US" sz="1200" dirty="0"/>
            </a:p>
          </p:txBody>
        </p:sp>
        <p:sp>
          <p:nvSpPr>
            <p:cNvPr id="35" name="TextBox 34">
              <a:extLst>
                <a:ext uri="{FF2B5EF4-FFF2-40B4-BE49-F238E27FC236}">
                  <a16:creationId xmlns:a16="http://schemas.microsoft.com/office/drawing/2014/main" id="{5A453859-63E7-6986-84D8-978CF2DC9182}"/>
                </a:ext>
              </a:extLst>
            </p:cNvPr>
            <p:cNvSpPr txBox="1"/>
            <p:nvPr/>
          </p:nvSpPr>
          <p:spPr>
            <a:xfrm>
              <a:off x="4622800" y="1586299"/>
              <a:ext cx="1231443" cy="456113"/>
            </a:xfrm>
            <a:prstGeom prst="rect">
              <a:avLst/>
            </a:prstGeom>
            <a:noFill/>
          </p:spPr>
          <p:txBody>
            <a:bodyPr wrap="none" rtlCol="0">
              <a:spAutoFit/>
            </a:bodyPr>
            <a:lstStyle/>
            <a:p>
              <a:r>
                <a:rPr lang="en-US" sz="1200" dirty="0" err="1"/>
                <a:t>big_root</a:t>
              </a:r>
              <a:endParaRPr lang="en-US" sz="1200" dirty="0"/>
            </a:p>
          </p:txBody>
        </p:sp>
        <p:cxnSp>
          <p:nvCxnSpPr>
            <p:cNvPr id="36" name="Straight Arrow Connector 35">
              <a:extLst>
                <a:ext uri="{FF2B5EF4-FFF2-40B4-BE49-F238E27FC236}">
                  <a16:creationId xmlns:a16="http://schemas.microsoft.com/office/drawing/2014/main" id="{B6436557-BE9E-3C69-2DBA-AB5EA8E5326F}"/>
                </a:ext>
              </a:extLst>
            </p:cNvPr>
            <p:cNvCxnSpPr>
              <a:cxnSpLocks/>
              <a:stCxn id="33" idx="2"/>
            </p:cNvCxnSpPr>
            <p:nvPr/>
          </p:nvCxnSpPr>
          <p:spPr>
            <a:xfrm>
              <a:off x="6985000" y="1955631"/>
              <a:ext cx="1263650" cy="1168569"/>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37" name="Straight Arrow Connector 36">
              <a:extLst>
                <a:ext uri="{FF2B5EF4-FFF2-40B4-BE49-F238E27FC236}">
                  <a16:creationId xmlns:a16="http://schemas.microsoft.com/office/drawing/2014/main" id="{6456BA7B-ACA6-9E4F-095E-94DF3C44AD5A}"/>
                </a:ext>
              </a:extLst>
            </p:cNvPr>
            <p:cNvCxnSpPr>
              <a:cxnSpLocks/>
            </p:cNvCxnSpPr>
            <p:nvPr/>
          </p:nvCxnSpPr>
          <p:spPr>
            <a:xfrm>
              <a:off x="7539468" y="3572171"/>
              <a:ext cx="27025" cy="1687473"/>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FF9E6907-8053-9652-6D7E-43AD83A27080}"/>
                </a:ext>
              </a:extLst>
            </p:cNvPr>
            <p:cNvSpPr txBox="1"/>
            <p:nvPr/>
          </p:nvSpPr>
          <p:spPr>
            <a:xfrm>
              <a:off x="6592907" y="4618896"/>
              <a:ext cx="1187635" cy="760188"/>
            </a:xfrm>
            <a:prstGeom prst="rect">
              <a:avLst/>
            </a:prstGeom>
            <a:noFill/>
          </p:spPr>
          <p:txBody>
            <a:bodyPr wrap="none" rtlCol="0">
              <a:spAutoFit/>
            </a:bodyPr>
            <a:lstStyle/>
            <a:p>
              <a:r>
                <a:rPr lang="en-US" sz="1200"/>
                <a:t>still a </a:t>
              </a:r>
              <a:endParaRPr lang="en-US" sz="1200" dirty="0"/>
            </a:p>
            <a:p>
              <a:r>
                <a:rPr lang="en-US" sz="1200"/>
                <a:t>big task</a:t>
              </a:r>
              <a:endParaRPr lang="en-US" sz="1200" dirty="0"/>
            </a:p>
          </p:txBody>
        </p:sp>
        <p:pic>
          <p:nvPicPr>
            <p:cNvPr id="39" name="Picture 38">
              <a:extLst>
                <a:ext uri="{FF2B5EF4-FFF2-40B4-BE49-F238E27FC236}">
                  <a16:creationId xmlns:a16="http://schemas.microsoft.com/office/drawing/2014/main" id="{02AEF44A-A7E4-40A6-C221-BD5924DE7404}"/>
                </a:ext>
              </a:extLst>
            </p:cNvPr>
            <p:cNvPicPr>
              <a:picLocks noChangeAspect="1"/>
            </p:cNvPicPr>
            <p:nvPr/>
          </p:nvPicPr>
          <p:blipFill>
            <a:blip r:embed="rId5"/>
            <a:srcRect r="28414" b="18252"/>
            <a:stretch>
              <a:fillRect/>
            </a:stretch>
          </p:blipFill>
          <p:spPr>
            <a:xfrm>
              <a:off x="8038907" y="5756778"/>
              <a:ext cx="736405" cy="467190"/>
            </a:xfrm>
            <a:prstGeom prst="rect">
              <a:avLst/>
            </a:prstGeom>
          </p:spPr>
        </p:pic>
        <p:cxnSp>
          <p:nvCxnSpPr>
            <p:cNvPr id="40" name="Straight Arrow Connector 39">
              <a:extLst>
                <a:ext uri="{FF2B5EF4-FFF2-40B4-BE49-F238E27FC236}">
                  <a16:creationId xmlns:a16="http://schemas.microsoft.com/office/drawing/2014/main" id="{5880A00D-3469-96F1-5E09-C854C31F5085}"/>
                </a:ext>
              </a:extLst>
            </p:cNvPr>
            <p:cNvCxnSpPr>
              <a:cxnSpLocks/>
              <a:endCxn id="39" idx="1"/>
            </p:cNvCxnSpPr>
            <p:nvPr/>
          </p:nvCxnSpPr>
          <p:spPr>
            <a:xfrm>
              <a:off x="7632312" y="5990373"/>
              <a:ext cx="406595" cy="0"/>
            </a:xfrm>
            <a:prstGeom prst="straightConnector1">
              <a:avLst/>
            </a:prstGeom>
            <a:ln>
              <a:prstDash val="dash"/>
              <a:tailEnd type="triangle"/>
            </a:ln>
          </p:spPr>
          <p:style>
            <a:lnRef idx="2">
              <a:schemeClr val="accent1"/>
            </a:lnRef>
            <a:fillRef idx="0">
              <a:schemeClr val="accent1"/>
            </a:fillRef>
            <a:effectRef idx="1">
              <a:schemeClr val="accent1"/>
            </a:effectRef>
            <a:fontRef idx="minor">
              <a:schemeClr val="tx1"/>
            </a:fontRef>
          </p:style>
        </p:cxnSp>
        <p:sp>
          <p:nvSpPr>
            <p:cNvPr id="41" name="TextBox 40">
              <a:extLst>
                <a:ext uri="{FF2B5EF4-FFF2-40B4-BE49-F238E27FC236}">
                  <a16:creationId xmlns:a16="http://schemas.microsoft.com/office/drawing/2014/main" id="{E9E11BB8-963D-6772-30CC-9878F6E79852}"/>
                </a:ext>
              </a:extLst>
            </p:cNvPr>
            <p:cNvSpPr txBox="1"/>
            <p:nvPr/>
          </p:nvSpPr>
          <p:spPr>
            <a:xfrm>
              <a:off x="8700988" y="5805705"/>
              <a:ext cx="918230" cy="456113"/>
            </a:xfrm>
            <a:prstGeom prst="rect">
              <a:avLst/>
            </a:prstGeom>
            <a:noFill/>
          </p:spPr>
          <p:txBody>
            <a:bodyPr wrap="none" rtlCol="0">
              <a:spAutoFit/>
            </a:bodyPr>
            <a:lstStyle/>
            <a:p>
              <a:r>
                <a:rPr lang="en-US" sz="1200" i="1" dirty="0" err="1"/>
                <a:t>big_S</a:t>
              </a:r>
              <a:endParaRPr lang="en-US" sz="1200" i="1" dirty="0"/>
            </a:p>
          </p:txBody>
        </p:sp>
        <p:cxnSp>
          <p:nvCxnSpPr>
            <p:cNvPr id="42" name="Straight Arrow Connector 41">
              <a:extLst>
                <a:ext uri="{FF2B5EF4-FFF2-40B4-BE49-F238E27FC236}">
                  <a16:creationId xmlns:a16="http://schemas.microsoft.com/office/drawing/2014/main" id="{81B5AA44-4AE6-3499-7DD1-5DE77E072723}"/>
                </a:ext>
              </a:extLst>
            </p:cNvPr>
            <p:cNvCxnSpPr>
              <a:cxnSpLocks/>
              <a:stCxn id="39" idx="1"/>
            </p:cNvCxnSpPr>
            <p:nvPr/>
          </p:nvCxnSpPr>
          <p:spPr>
            <a:xfrm flipV="1">
              <a:off x="8038907" y="3552586"/>
              <a:ext cx="474147" cy="2437787"/>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9735973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2B16930B-40FA-AC1C-60D8-3E3E52F28092}"/>
              </a:ext>
            </a:extLst>
          </p:cNvPr>
          <p:cNvSpPr txBox="1"/>
          <p:nvPr/>
        </p:nvSpPr>
        <p:spPr>
          <a:xfrm>
            <a:off x="170543" y="1701209"/>
            <a:ext cx="3551274" cy="923330"/>
          </a:xfrm>
          <a:prstGeom prst="rect">
            <a:avLst/>
          </a:prstGeom>
          <a:noFill/>
        </p:spPr>
        <p:txBody>
          <a:bodyPr wrap="square" rtlCol="0">
            <a:spAutoFit/>
          </a:bodyPr>
          <a:lstStyle/>
          <a:p>
            <a:r>
              <a:rPr lang="en-US" dirty="0"/>
              <a:t>now, the warps are not reading directly from host, rather this is copied in bulk. </a:t>
            </a:r>
          </a:p>
        </p:txBody>
      </p:sp>
      <p:pic>
        <p:nvPicPr>
          <p:cNvPr id="3" name="Picture 2">
            <a:extLst>
              <a:ext uri="{FF2B5EF4-FFF2-40B4-BE49-F238E27FC236}">
                <a16:creationId xmlns:a16="http://schemas.microsoft.com/office/drawing/2014/main" id="{4620263E-4E94-789C-36F3-9EF57605F190}"/>
              </a:ext>
            </a:extLst>
          </p:cNvPr>
          <p:cNvPicPr>
            <a:picLocks noChangeAspect="1"/>
          </p:cNvPicPr>
          <p:nvPr/>
        </p:nvPicPr>
        <p:blipFill>
          <a:blip r:embed="rId2"/>
          <a:stretch>
            <a:fillRect/>
          </a:stretch>
        </p:blipFill>
        <p:spPr>
          <a:xfrm>
            <a:off x="5328122" y="-60960"/>
            <a:ext cx="6464808" cy="6858000"/>
          </a:xfrm>
          <a:prstGeom prst="rect">
            <a:avLst/>
          </a:prstGeom>
        </p:spPr>
      </p:pic>
      <p:sp>
        <p:nvSpPr>
          <p:cNvPr id="8" name="Cross 7">
            <a:extLst>
              <a:ext uri="{FF2B5EF4-FFF2-40B4-BE49-F238E27FC236}">
                <a16:creationId xmlns:a16="http://schemas.microsoft.com/office/drawing/2014/main" id="{E3DAC028-3F4B-2201-A02B-2A35ACC1D474}"/>
              </a:ext>
            </a:extLst>
          </p:cNvPr>
          <p:cNvSpPr/>
          <p:nvPr/>
        </p:nvSpPr>
        <p:spPr>
          <a:xfrm rot="2703491">
            <a:off x="6810104" y="3560663"/>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ross 8">
            <a:extLst>
              <a:ext uri="{FF2B5EF4-FFF2-40B4-BE49-F238E27FC236}">
                <a16:creationId xmlns:a16="http://schemas.microsoft.com/office/drawing/2014/main" id="{0CB1D70A-3D66-DFA0-6A01-A6FDAE079F23}"/>
              </a:ext>
            </a:extLst>
          </p:cNvPr>
          <p:cNvSpPr/>
          <p:nvPr/>
        </p:nvSpPr>
        <p:spPr>
          <a:xfrm rot="2703491">
            <a:off x="9261567" y="540252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89116499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033E2C-E62C-544D-DAD5-404923F4500F}"/>
            </a:ext>
          </a:extLst>
        </p:cNvPr>
        <p:cNvGrpSpPr/>
        <p:nvPr/>
      </p:nvGrpSpPr>
      <p:grpSpPr>
        <a:xfrm>
          <a:off x="0" y="0"/>
          <a:ext cx="0" cy="0"/>
          <a:chOff x="0" y="0"/>
          <a:chExt cx="0" cy="0"/>
        </a:xfrm>
      </p:grpSpPr>
      <p:sp>
        <p:nvSpPr>
          <p:cNvPr id="6" name="TextBox 5">
            <a:extLst>
              <a:ext uri="{FF2B5EF4-FFF2-40B4-BE49-F238E27FC236}">
                <a16:creationId xmlns:a16="http://schemas.microsoft.com/office/drawing/2014/main" id="{A1155FC0-06CE-0A69-D19B-D6E8A6BAAC54}"/>
              </a:ext>
            </a:extLst>
          </p:cNvPr>
          <p:cNvSpPr txBox="1"/>
          <p:nvPr/>
        </p:nvSpPr>
        <p:spPr>
          <a:xfrm>
            <a:off x="7418404" y="1313712"/>
            <a:ext cx="4773596" cy="3693319"/>
          </a:xfrm>
          <a:prstGeom prst="rect">
            <a:avLst/>
          </a:prstGeom>
          <a:noFill/>
        </p:spPr>
        <p:txBody>
          <a:bodyPr wrap="square" rtlCol="0">
            <a:spAutoFit/>
          </a:bodyPr>
          <a:lstStyle/>
          <a:p>
            <a:r>
              <a:rPr lang="en-US" dirty="0"/>
              <a:t>Previously, it was [start, mid, end) because mid was used in SM app to store prefix information.</a:t>
            </a:r>
          </a:p>
          <a:p>
            <a:endParaRPr lang="en-US" dirty="0"/>
          </a:p>
          <a:p>
            <a:endParaRPr lang="en-US" dirty="0"/>
          </a:p>
          <a:p>
            <a:r>
              <a:rPr lang="en-US" dirty="0"/>
              <a:t>Now the offsets are truly [start, end). </a:t>
            </a:r>
          </a:p>
          <a:p>
            <a:r>
              <a:rPr lang="en-US" dirty="0"/>
              <a:t>The mid is moved to subgraph. The first element of subgraph is the mid point, e.g.:</a:t>
            </a:r>
          </a:p>
          <a:p>
            <a:endParaRPr lang="en-US" dirty="0"/>
          </a:p>
          <a:p>
            <a:r>
              <a:rPr lang="en-US" dirty="0"/>
              <a:t>[2, s1, s2, c1, c2, c3, … ]   </a:t>
            </a:r>
          </a:p>
          <a:p>
            <a:endParaRPr lang="en-US" dirty="0"/>
          </a:p>
          <a:p>
            <a:r>
              <a:rPr lang="en-US" dirty="0"/>
              <a:t>indicates 2 elements (s1, s2) are the partial match, and remaining are the candidates</a:t>
            </a:r>
          </a:p>
        </p:txBody>
      </p:sp>
      <p:pic>
        <p:nvPicPr>
          <p:cNvPr id="4" name="Picture 3">
            <a:extLst>
              <a:ext uri="{FF2B5EF4-FFF2-40B4-BE49-F238E27FC236}">
                <a16:creationId xmlns:a16="http://schemas.microsoft.com/office/drawing/2014/main" id="{07E94065-4C0F-E50A-B72E-C3A7C8BB97FA}"/>
              </a:ext>
            </a:extLst>
          </p:cNvPr>
          <p:cNvPicPr>
            <a:picLocks noChangeAspect="1"/>
          </p:cNvPicPr>
          <p:nvPr/>
        </p:nvPicPr>
        <p:blipFill>
          <a:blip r:embed="rId2"/>
          <a:stretch>
            <a:fillRect/>
          </a:stretch>
        </p:blipFill>
        <p:spPr>
          <a:xfrm>
            <a:off x="677745" y="-139337"/>
            <a:ext cx="6464808" cy="6858000"/>
          </a:xfrm>
          <a:prstGeom prst="rect">
            <a:avLst/>
          </a:prstGeom>
        </p:spPr>
      </p:pic>
      <p:sp>
        <p:nvSpPr>
          <p:cNvPr id="7" name="Cross 6">
            <a:extLst>
              <a:ext uri="{FF2B5EF4-FFF2-40B4-BE49-F238E27FC236}">
                <a16:creationId xmlns:a16="http://schemas.microsoft.com/office/drawing/2014/main" id="{45D8CFE2-0A6E-B812-BE90-90B3FD44E966}"/>
              </a:ext>
            </a:extLst>
          </p:cNvPr>
          <p:cNvSpPr/>
          <p:nvPr/>
        </p:nvSpPr>
        <p:spPr>
          <a:xfrm rot="2703491">
            <a:off x="2159727" y="3482286"/>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Cross 7">
            <a:extLst>
              <a:ext uri="{FF2B5EF4-FFF2-40B4-BE49-F238E27FC236}">
                <a16:creationId xmlns:a16="http://schemas.microsoft.com/office/drawing/2014/main" id="{10BBB2EB-BFE8-D1DC-28A3-73FC310C1949}"/>
              </a:ext>
            </a:extLst>
          </p:cNvPr>
          <p:cNvSpPr/>
          <p:nvPr/>
        </p:nvSpPr>
        <p:spPr>
          <a:xfrm rot="2703491">
            <a:off x="4611190" y="5324149"/>
            <a:ext cx="635725" cy="635726"/>
          </a:xfrm>
          <a:prstGeom prst="plus">
            <a:avLst>
              <a:gd name="adj" fmla="val 40069"/>
            </a:avLst>
          </a:prstGeom>
          <a:solidFill>
            <a:srgbClr val="C0000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 name="Straight Arrow Connector 9">
            <a:extLst>
              <a:ext uri="{FF2B5EF4-FFF2-40B4-BE49-F238E27FC236}">
                <a16:creationId xmlns:a16="http://schemas.microsoft.com/office/drawing/2014/main" id="{A2CD0DFE-4C14-2009-B874-CD411A72A9A5}"/>
              </a:ext>
            </a:extLst>
          </p:cNvPr>
          <p:cNvCxnSpPr/>
          <p:nvPr/>
        </p:nvCxnSpPr>
        <p:spPr>
          <a:xfrm flipV="1">
            <a:off x="2477589" y="1676400"/>
            <a:ext cx="4940815" cy="3516086"/>
          </a:xfrm>
          <a:prstGeom prst="straightConnector1">
            <a:avLst/>
          </a:prstGeom>
          <a:ln w="38100">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46531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178FD8-3338-BEA4-3B41-C9C62283F198}"/>
              </a:ext>
            </a:extLst>
          </p:cNvPr>
          <p:cNvSpPr>
            <a:spLocks noGrp="1"/>
          </p:cNvSpPr>
          <p:nvPr>
            <p:ph type="title"/>
          </p:nvPr>
        </p:nvSpPr>
        <p:spPr/>
        <p:txBody>
          <a:bodyPr/>
          <a:lstStyle/>
          <a:p>
            <a:endParaRPr lang="en-US"/>
          </a:p>
        </p:txBody>
      </p:sp>
      <p:sp>
        <p:nvSpPr>
          <p:cNvPr id="7" name="Content Placeholder 6">
            <a:extLst>
              <a:ext uri="{FF2B5EF4-FFF2-40B4-BE49-F238E27FC236}">
                <a16:creationId xmlns:a16="http://schemas.microsoft.com/office/drawing/2014/main" id="{08BE59CE-AE00-A964-9D21-5D915148266A}"/>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227830537"/>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F29B77-8C9A-8E46-9A65-4487986EB18A}"/>
              </a:ext>
            </a:extLst>
          </p:cNvPr>
          <p:cNvSpPr>
            <a:spLocks noGrp="1"/>
          </p:cNvSpPr>
          <p:nvPr>
            <p:ph type="title"/>
          </p:nvPr>
        </p:nvSpPr>
        <p:spPr>
          <a:xfrm>
            <a:off x="735683" y="264275"/>
            <a:ext cx="10515600" cy="1325563"/>
          </a:xfrm>
        </p:spPr>
        <p:txBody>
          <a:bodyPr/>
          <a:lstStyle/>
          <a:p>
            <a:r>
              <a:rPr lang="en-US" dirty="0"/>
              <a:t>Queries for SM</a:t>
            </a:r>
          </a:p>
        </p:txBody>
      </p:sp>
      <p:sp>
        <p:nvSpPr>
          <p:cNvPr id="9" name="TextBox 8">
            <a:extLst>
              <a:ext uri="{FF2B5EF4-FFF2-40B4-BE49-F238E27FC236}">
                <a16:creationId xmlns:a16="http://schemas.microsoft.com/office/drawing/2014/main" id="{BE94B52E-4BEC-396D-590F-3ADBC66076AE}"/>
              </a:ext>
            </a:extLst>
          </p:cNvPr>
          <p:cNvSpPr txBox="1"/>
          <p:nvPr/>
        </p:nvSpPr>
        <p:spPr>
          <a:xfrm>
            <a:off x="4755693"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P1</a:t>
            </a:r>
          </a:p>
        </p:txBody>
      </p:sp>
      <p:sp>
        <p:nvSpPr>
          <p:cNvPr id="10" name="TextBox 9">
            <a:extLst>
              <a:ext uri="{FF2B5EF4-FFF2-40B4-BE49-F238E27FC236}">
                <a16:creationId xmlns:a16="http://schemas.microsoft.com/office/drawing/2014/main" id="{F470D6FC-BD7E-A34C-741C-C654C438331C}"/>
              </a:ext>
            </a:extLst>
          </p:cNvPr>
          <p:cNvSpPr txBox="1"/>
          <p:nvPr/>
        </p:nvSpPr>
        <p:spPr>
          <a:xfrm>
            <a:off x="5352165"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P2</a:t>
            </a:r>
          </a:p>
        </p:txBody>
      </p:sp>
      <p:sp>
        <p:nvSpPr>
          <p:cNvPr id="11" name="TextBox 10">
            <a:extLst>
              <a:ext uri="{FF2B5EF4-FFF2-40B4-BE49-F238E27FC236}">
                <a16:creationId xmlns:a16="http://schemas.microsoft.com/office/drawing/2014/main" id="{5B90695E-AA2E-5782-6F26-85E755E9D93A}"/>
              </a:ext>
            </a:extLst>
          </p:cNvPr>
          <p:cNvSpPr txBox="1"/>
          <p:nvPr/>
        </p:nvSpPr>
        <p:spPr>
          <a:xfrm>
            <a:off x="5947228"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P3</a:t>
            </a:r>
          </a:p>
        </p:txBody>
      </p:sp>
      <p:sp>
        <p:nvSpPr>
          <p:cNvPr id="12" name="TextBox 11">
            <a:extLst>
              <a:ext uri="{FF2B5EF4-FFF2-40B4-BE49-F238E27FC236}">
                <a16:creationId xmlns:a16="http://schemas.microsoft.com/office/drawing/2014/main" id="{094E7582-6303-F225-2540-A985CBA1427D}"/>
              </a:ext>
            </a:extLst>
          </p:cNvPr>
          <p:cNvSpPr txBox="1"/>
          <p:nvPr/>
        </p:nvSpPr>
        <p:spPr>
          <a:xfrm>
            <a:off x="6521179"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P4</a:t>
            </a:r>
          </a:p>
        </p:txBody>
      </p:sp>
      <p:sp>
        <p:nvSpPr>
          <p:cNvPr id="13" name="TextBox 12">
            <a:extLst>
              <a:ext uri="{FF2B5EF4-FFF2-40B4-BE49-F238E27FC236}">
                <a16:creationId xmlns:a16="http://schemas.microsoft.com/office/drawing/2014/main" id="{3512F24E-735C-DA27-65D0-DB68766F1953}"/>
              </a:ext>
            </a:extLst>
          </p:cNvPr>
          <p:cNvSpPr txBox="1"/>
          <p:nvPr/>
        </p:nvSpPr>
        <p:spPr>
          <a:xfrm>
            <a:off x="7086011" y="3254423"/>
            <a:ext cx="373820" cy="307777"/>
          </a:xfrm>
          <a:prstGeom prst="rect">
            <a:avLst/>
          </a:prstGeom>
          <a:noFill/>
        </p:spPr>
        <p:txBody>
          <a:bodyPr wrap="none" rtlCol="0">
            <a:spAutoFit/>
          </a:bodyPr>
          <a:lstStyle/>
          <a:p>
            <a:r>
              <a:rPr lang="en-US" sz="1400" dirty="0">
                <a:latin typeface="Times New Roman" panose="02020603050405020304" pitchFamily="18" charset="0"/>
                <a:cs typeface="Times New Roman" panose="02020603050405020304" pitchFamily="18" charset="0"/>
              </a:rPr>
              <a:t>P5</a:t>
            </a:r>
          </a:p>
        </p:txBody>
      </p:sp>
      <p:sp>
        <p:nvSpPr>
          <p:cNvPr id="101" name="Oval 100">
            <a:extLst>
              <a:ext uri="{FF2B5EF4-FFF2-40B4-BE49-F238E27FC236}">
                <a16:creationId xmlns:a16="http://schemas.microsoft.com/office/drawing/2014/main" id="{2A59C34E-8923-A0F5-647A-71CA45FF1289}"/>
              </a:ext>
            </a:extLst>
          </p:cNvPr>
          <p:cNvSpPr/>
          <p:nvPr/>
        </p:nvSpPr>
        <p:spPr>
          <a:xfrm>
            <a:off x="4746032"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946153F5-D9F5-A9C9-24A4-FF3673C75063}"/>
              </a:ext>
            </a:extLst>
          </p:cNvPr>
          <p:cNvSpPr/>
          <p:nvPr/>
        </p:nvSpPr>
        <p:spPr>
          <a:xfrm>
            <a:off x="5112921"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F2A9376B-9883-C0E8-21AE-628BBC20097B}"/>
              </a:ext>
            </a:extLst>
          </p:cNvPr>
          <p:cNvSpPr/>
          <p:nvPr/>
        </p:nvSpPr>
        <p:spPr>
          <a:xfrm>
            <a:off x="4746032"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04" name="Oval 103">
            <a:extLst>
              <a:ext uri="{FF2B5EF4-FFF2-40B4-BE49-F238E27FC236}">
                <a16:creationId xmlns:a16="http://schemas.microsoft.com/office/drawing/2014/main" id="{B0DA270A-7C2B-F78A-EEB3-04FCA7430387}"/>
              </a:ext>
            </a:extLst>
          </p:cNvPr>
          <p:cNvSpPr/>
          <p:nvPr/>
        </p:nvSpPr>
        <p:spPr>
          <a:xfrm>
            <a:off x="5109526"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06" name="Straight Connector 105">
            <a:extLst>
              <a:ext uri="{FF2B5EF4-FFF2-40B4-BE49-F238E27FC236}">
                <a16:creationId xmlns:a16="http://schemas.microsoft.com/office/drawing/2014/main" id="{538BDFA9-B153-CE33-0049-CA4B23415B6F}"/>
              </a:ext>
            </a:extLst>
          </p:cNvPr>
          <p:cNvCxnSpPr>
            <a:cxnSpLocks/>
          </p:cNvCxnSpPr>
          <p:nvPr/>
        </p:nvCxnSpPr>
        <p:spPr>
          <a:xfrm rot="16200000" flipV="1">
            <a:off x="4784122"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a:extLst>
              <a:ext uri="{FF2B5EF4-FFF2-40B4-BE49-F238E27FC236}">
                <a16:creationId xmlns:a16="http://schemas.microsoft.com/office/drawing/2014/main" id="{33D81001-D852-161A-7686-5FAE10AE12DC}"/>
              </a:ext>
            </a:extLst>
          </p:cNvPr>
          <p:cNvCxnSpPr>
            <a:cxnSpLocks/>
          </p:cNvCxnSpPr>
          <p:nvPr/>
        </p:nvCxnSpPr>
        <p:spPr>
          <a:xfrm flipV="1">
            <a:off x="4793880"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9EF96196-3BAE-7299-0D44-15170825F8E3}"/>
              </a:ext>
            </a:extLst>
          </p:cNvPr>
          <p:cNvCxnSpPr>
            <a:cxnSpLocks/>
          </p:cNvCxnSpPr>
          <p:nvPr/>
        </p:nvCxnSpPr>
        <p:spPr>
          <a:xfrm flipV="1">
            <a:off x="5157989"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2" name="Straight Connector 111">
            <a:extLst>
              <a:ext uri="{FF2B5EF4-FFF2-40B4-BE49-F238E27FC236}">
                <a16:creationId xmlns:a16="http://schemas.microsoft.com/office/drawing/2014/main" id="{F0DE6CAF-E354-CB90-7E4D-3FF7C234CE90}"/>
              </a:ext>
            </a:extLst>
          </p:cNvPr>
          <p:cNvCxnSpPr>
            <a:cxnSpLocks/>
          </p:cNvCxnSpPr>
          <p:nvPr/>
        </p:nvCxnSpPr>
        <p:spPr>
          <a:xfrm flipH="1">
            <a:off x="4818733"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BFDEC3D0-AB79-EC01-53CD-C3397C6D3477}"/>
              </a:ext>
            </a:extLst>
          </p:cNvPr>
          <p:cNvCxnSpPr>
            <a:cxnSpLocks/>
          </p:cNvCxnSpPr>
          <p:nvPr/>
        </p:nvCxnSpPr>
        <p:spPr>
          <a:xfrm flipH="1">
            <a:off x="4784122"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18" name="Oval 117">
            <a:extLst>
              <a:ext uri="{FF2B5EF4-FFF2-40B4-BE49-F238E27FC236}">
                <a16:creationId xmlns:a16="http://schemas.microsoft.com/office/drawing/2014/main" id="{8D187165-7E97-81BA-0A9F-198BD9B1319C}"/>
              </a:ext>
            </a:extLst>
          </p:cNvPr>
          <p:cNvSpPr/>
          <p:nvPr/>
        </p:nvSpPr>
        <p:spPr>
          <a:xfrm>
            <a:off x="5316625"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9" name="Oval 118">
            <a:extLst>
              <a:ext uri="{FF2B5EF4-FFF2-40B4-BE49-F238E27FC236}">
                <a16:creationId xmlns:a16="http://schemas.microsoft.com/office/drawing/2014/main" id="{01D024CD-FEF2-71F9-0FF0-0F3F9BA552E2}"/>
              </a:ext>
            </a:extLst>
          </p:cNvPr>
          <p:cNvSpPr/>
          <p:nvPr/>
        </p:nvSpPr>
        <p:spPr>
          <a:xfrm>
            <a:off x="5683514"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0" name="Oval 119">
            <a:extLst>
              <a:ext uri="{FF2B5EF4-FFF2-40B4-BE49-F238E27FC236}">
                <a16:creationId xmlns:a16="http://schemas.microsoft.com/office/drawing/2014/main" id="{F65B8414-3E53-9662-6AA1-92A278AEA448}"/>
              </a:ext>
            </a:extLst>
          </p:cNvPr>
          <p:cNvSpPr/>
          <p:nvPr/>
        </p:nvSpPr>
        <p:spPr>
          <a:xfrm>
            <a:off x="5316625"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21" name="Oval 120">
            <a:extLst>
              <a:ext uri="{FF2B5EF4-FFF2-40B4-BE49-F238E27FC236}">
                <a16:creationId xmlns:a16="http://schemas.microsoft.com/office/drawing/2014/main" id="{C2C02BEC-5D0A-8897-17D8-B5A2F96B684E}"/>
              </a:ext>
            </a:extLst>
          </p:cNvPr>
          <p:cNvSpPr/>
          <p:nvPr/>
        </p:nvSpPr>
        <p:spPr>
          <a:xfrm>
            <a:off x="5680119"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22" name="Straight Connector 121">
            <a:extLst>
              <a:ext uri="{FF2B5EF4-FFF2-40B4-BE49-F238E27FC236}">
                <a16:creationId xmlns:a16="http://schemas.microsoft.com/office/drawing/2014/main" id="{D9CCE777-0D4C-B964-0AF0-9AF9E56AE0B0}"/>
              </a:ext>
            </a:extLst>
          </p:cNvPr>
          <p:cNvCxnSpPr>
            <a:cxnSpLocks/>
          </p:cNvCxnSpPr>
          <p:nvPr/>
        </p:nvCxnSpPr>
        <p:spPr>
          <a:xfrm flipV="1">
            <a:off x="5366863"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2AF291C4-B03F-8AF9-B63A-D526F68CFFB1}"/>
              </a:ext>
            </a:extLst>
          </p:cNvPr>
          <p:cNvCxnSpPr>
            <a:cxnSpLocks/>
          </p:cNvCxnSpPr>
          <p:nvPr/>
        </p:nvCxnSpPr>
        <p:spPr>
          <a:xfrm rot="16200000" flipV="1">
            <a:off x="5354715"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4" name="Straight Connector 123">
            <a:extLst>
              <a:ext uri="{FF2B5EF4-FFF2-40B4-BE49-F238E27FC236}">
                <a16:creationId xmlns:a16="http://schemas.microsoft.com/office/drawing/2014/main" id="{B2046C4C-5874-345A-F012-6969C3CABF15}"/>
              </a:ext>
            </a:extLst>
          </p:cNvPr>
          <p:cNvCxnSpPr>
            <a:cxnSpLocks/>
          </p:cNvCxnSpPr>
          <p:nvPr/>
        </p:nvCxnSpPr>
        <p:spPr>
          <a:xfrm flipV="1">
            <a:off x="5364473"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5" name="Straight Connector 124">
            <a:extLst>
              <a:ext uri="{FF2B5EF4-FFF2-40B4-BE49-F238E27FC236}">
                <a16:creationId xmlns:a16="http://schemas.microsoft.com/office/drawing/2014/main" id="{B2F37F20-BDE3-7011-C142-44DB3C3BF379}"/>
              </a:ext>
            </a:extLst>
          </p:cNvPr>
          <p:cNvCxnSpPr>
            <a:cxnSpLocks/>
          </p:cNvCxnSpPr>
          <p:nvPr/>
        </p:nvCxnSpPr>
        <p:spPr>
          <a:xfrm flipV="1">
            <a:off x="5728582"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6" name="Straight Connector 125">
            <a:extLst>
              <a:ext uri="{FF2B5EF4-FFF2-40B4-BE49-F238E27FC236}">
                <a16:creationId xmlns:a16="http://schemas.microsoft.com/office/drawing/2014/main" id="{DE3ACE22-6C1A-13AB-EA58-12400B1E1702}"/>
              </a:ext>
            </a:extLst>
          </p:cNvPr>
          <p:cNvCxnSpPr>
            <a:cxnSpLocks/>
          </p:cNvCxnSpPr>
          <p:nvPr/>
        </p:nvCxnSpPr>
        <p:spPr>
          <a:xfrm flipH="1">
            <a:off x="5389326"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7" name="Straight Connector 126">
            <a:extLst>
              <a:ext uri="{FF2B5EF4-FFF2-40B4-BE49-F238E27FC236}">
                <a16:creationId xmlns:a16="http://schemas.microsoft.com/office/drawing/2014/main" id="{964256EB-DC24-FBFC-99E1-7734028D071E}"/>
              </a:ext>
            </a:extLst>
          </p:cNvPr>
          <p:cNvCxnSpPr>
            <a:cxnSpLocks/>
          </p:cNvCxnSpPr>
          <p:nvPr/>
        </p:nvCxnSpPr>
        <p:spPr>
          <a:xfrm flipH="1">
            <a:off x="5354715"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8" name="Straight Connector 127">
            <a:extLst>
              <a:ext uri="{FF2B5EF4-FFF2-40B4-BE49-F238E27FC236}">
                <a16:creationId xmlns:a16="http://schemas.microsoft.com/office/drawing/2014/main" id="{BB02D5E9-BD16-0984-15E8-2F9BC2322A23}"/>
              </a:ext>
            </a:extLst>
          </p:cNvPr>
          <p:cNvCxnSpPr>
            <a:cxnSpLocks/>
          </p:cNvCxnSpPr>
          <p:nvPr/>
        </p:nvCxnSpPr>
        <p:spPr>
          <a:xfrm flipV="1">
            <a:off x="5358418"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9" name="Straight Connector 128">
            <a:extLst>
              <a:ext uri="{FF2B5EF4-FFF2-40B4-BE49-F238E27FC236}">
                <a16:creationId xmlns:a16="http://schemas.microsoft.com/office/drawing/2014/main" id="{A699BADB-3087-8E6C-0985-48AF47B6945E}"/>
              </a:ext>
            </a:extLst>
          </p:cNvPr>
          <p:cNvCxnSpPr>
            <a:cxnSpLocks/>
          </p:cNvCxnSpPr>
          <p:nvPr/>
        </p:nvCxnSpPr>
        <p:spPr>
          <a:xfrm rot="16200000" flipV="1">
            <a:off x="5552919"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30" name="Oval 129">
            <a:extLst>
              <a:ext uri="{FF2B5EF4-FFF2-40B4-BE49-F238E27FC236}">
                <a16:creationId xmlns:a16="http://schemas.microsoft.com/office/drawing/2014/main" id="{6A0C3341-0C2A-39AC-3749-911B77200102}"/>
              </a:ext>
            </a:extLst>
          </p:cNvPr>
          <p:cNvSpPr/>
          <p:nvPr/>
        </p:nvSpPr>
        <p:spPr>
          <a:xfrm>
            <a:off x="5499321"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66728416-D95C-7D7D-9326-53B1505594EE}"/>
              </a:ext>
            </a:extLst>
          </p:cNvPr>
          <p:cNvSpPr/>
          <p:nvPr/>
        </p:nvSpPr>
        <p:spPr>
          <a:xfrm>
            <a:off x="5887218"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2" name="Oval 131">
            <a:extLst>
              <a:ext uri="{FF2B5EF4-FFF2-40B4-BE49-F238E27FC236}">
                <a16:creationId xmlns:a16="http://schemas.microsoft.com/office/drawing/2014/main" id="{4D549711-299F-D81A-E5CB-52C4BE2B78E4}"/>
              </a:ext>
            </a:extLst>
          </p:cNvPr>
          <p:cNvSpPr/>
          <p:nvPr/>
        </p:nvSpPr>
        <p:spPr>
          <a:xfrm>
            <a:off x="6254107"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 name="Oval 132">
            <a:extLst>
              <a:ext uri="{FF2B5EF4-FFF2-40B4-BE49-F238E27FC236}">
                <a16:creationId xmlns:a16="http://schemas.microsoft.com/office/drawing/2014/main" id="{FB60D273-7557-F8EB-F832-ADA15DDA9996}"/>
              </a:ext>
            </a:extLst>
          </p:cNvPr>
          <p:cNvSpPr/>
          <p:nvPr/>
        </p:nvSpPr>
        <p:spPr>
          <a:xfrm>
            <a:off x="5887218"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34" name="Oval 133">
            <a:extLst>
              <a:ext uri="{FF2B5EF4-FFF2-40B4-BE49-F238E27FC236}">
                <a16:creationId xmlns:a16="http://schemas.microsoft.com/office/drawing/2014/main" id="{77F8AFC6-0898-6033-7D08-195419BC4509}"/>
              </a:ext>
            </a:extLst>
          </p:cNvPr>
          <p:cNvSpPr/>
          <p:nvPr/>
        </p:nvSpPr>
        <p:spPr>
          <a:xfrm>
            <a:off x="6250712"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35" name="Straight Connector 134">
            <a:extLst>
              <a:ext uri="{FF2B5EF4-FFF2-40B4-BE49-F238E27FC236}">
                <a16:creationId xmlns:a16="http://schemas.microsoft.com/office/drawing/2014/main" id="{A7B9A8EF-80CA-F4D7-C073-327B0DFB9792}"/>
              </a:ext>
            </a:extLst>
          </p:cNvPr>
          <p:cNvCxnSpPr>
            <a:cxnSpLocks/>
          </p:cNvCxnSpPr>
          <p:nvPr/>
        </p:nvCxnSpPr>
        <p:spPr>
          <a:xfrm flipV="1">
            <a:off x="5942496" y="2696254"/>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7" name="Straight Connector 136">
            <a:extLst>
              <a:ext uri="{FF2B5EF4-FFF2-40B4-BE49-F238E27FC236}">
                <a16:creationId xmlns:a16="http://schemas.microsoft.com/office/drawing/2014/main" id="{5D96E96B-6259-FF2B-898D-C0DB6A3D0E90}"/>
              </a:ext>
            </a:extLst>
          </p:cNvPr>
          <p:cNvCxnSpPr>
            <a:cxnSpLocks/>
          </p:cNvCxnSpPr>
          <p:nvPr/>
        </p:nvCxnSpPr>
        <p:spPr>
          <a:xfrm flipV="1">
            <a:off x="5935066"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8" name="Straight Connector 137">
            <a:extLst>
              <a:ext uri="{FF2B5EF4-FFF2-40B4-BE49-F238E27FC236}">
                <a16:creationId xmlns:a16="http://schemas.microsoft.com/office/drawing/2014/main" id="{C865B579-F321-1CF2-8D2B-410897ACACE5}"/>
              </a:ext>
            </a:extLst>
          </p:cNvPr>
          <p:cNvCxnSpPr>
            <a:cxnSpLocks/>
          </p:cNvCxnSpPr>
          <p:nvPr/>
        </p:nvCxnSpPr>
        <p:spPr>
          <a:xfrm flipV="1">
            <a:off x="6299175"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9" name="Straight Connector 138">
            <a:extLst>
              <a:ext uri="{FF2B5EF4-FFF2-40B4-BE49-F238E27FC236}">
                <a16:creationId xmlns:a16="http://schemas.microsoft.com/office/drawing/2014/main" id="{E759C308-0FAF-645C-BCED-29AD11286589}"/>
              </a:ext>
            </a:extLst>
          </p:cNvPr>
          <p:cNvCxnSpPr>
            <a:cxnSpLocks/>
          </p:cNvCxnSpPr>
          <p:nvPr/>
        </p:nvCxnSpPr>
        <p:spPr>
          <a:xfrm flipH="1">
            <a:off x="5959919"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1" name="Straight Connector 140">
            <a:extLst>
              <a:ext uri="{FF2B5EF4-FFF2-40B4-BE49-F238E27FC236}">
                <a16:creationId xmlns:a16="http://schemas.microsoft.com/office/drawing/2014/main" id="{57225781-FBC5-95C6-98E1-CF85C1B33EE6}"/>
              </a:ext>
            </a:extLst>
          </p:cNvPr>
          <p:cNvCxnSpPr>
            <a:cxnSpLocks/>
          </p:cNvCxnSpPr>
          <p:nvPr/>
        </p:nvCxnSpPr>
        <p:spPr>
          <a:xfrm flipV="1">
            <a:off x="5929011"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42" name="Straight Connector 141">
            <a:extLst>
              <a:ext uri="{FF2B5EF4-FFF2-40B4-BE49-F238E27FC236}">
                <a16:creationId xmlns:a16="http://schemas.microsoft.com/office/drawing/2014/main" id="{17D74BB7-C9E5-FECF-F5F9-2C7C2FC5A2FD}"/>
              </a:ext>
            </a:extLst>
          </p:cNvPr>
          <p:cNvCxnSpPr>
            <a:cxnSpLocks/>
          </p:cNvCxnSpPr>
          <p:nvPr/>
        </p:nvCxnSpPr>
        <p:spPr>
          <a:xfrm rot="16200000" flipV="1">
            <a:off x="6123512"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43" name="Oval 142">
            <a:extLst>
              <a:ext uri="{FF2B5EF4-FFF2-40B4-BE49-F238E27FC236}">
                <a16:creationId xmlns:a16="http://schemas.microsoft.com/office/drawing/2014/main" id="{3C1FB421-F880-BF62-D038-47B3D7E0C6AE}"/>
              </a:ext>
            </a:extLst>
          </p:cNvPr>
          <p:cNvSpPr/>
          <p:nvPr/>
        </p:nvSpPr>
        <p:spPr>
          <a:xfrm>
            <a:off x="6069914"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4" name="Oval 143">
            <a:extLst>
              <a:ext uri="{FF2B5EF4-FFF2-40B4-BE49-F238E27FC236}">
                <a16:creationId xmlns:a16="http://schemas.microsoft.com/office/drawing/2014/main" id="{7298819B-8B21-D4F4-ADF4-F7B6C42130F5}"/>
              </a:ext>
            </a:extLst>
          </p:cNvPr>
          <p:cNvSpPr/>
          <p:nvPr/>
        </p:nvSpPr>
        <p:spPr>
          <a:xfrm>
            <a:off x="6457811"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5" name="Oval 144">
            <a:extLst>
              <a:ext uri="{FF2B5EF4-FFF2-40B4-BE49-F238E27FC236}">
                <a16:creationId xmlns:a16="http://schemas.microsoft.com/office/drawing/2014/main" id="{C043BA34-32D0-1808-ECD5-514EB5C34BDC}"/>
              </a:ext>
            </a:extLst>
          </p:cNvPr>
          <p:cNvSpPr/>
          <p:nvPr/>
        </p:nvSpPr>
        <p:spPr>
          <a:xfrm>
            <a:off x="6824700"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6" name="Oval 145">
            <a:extLst>
              <a:ext uri="{FF2B5EF4-FFF2-40B4-BE49-F238E27FC236}">
                <a16:creationId xmlns:a16="http://schemas.microsoft.com/office/drawing/2014/main" id="{BD1479AB-00B6-23EB-C32D-744BB1EA3106}"/>
              </a:ext>
            </a:extLst>
          </p:cNvPr>
          <p:cNvSpPr/>
          <p:nvPr/>
        </p:nvSpPr>
        <p:spPr>
          <a:xfrm>
            <a:off x="6457811"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47" name="Oval 146">
            <a:extLst>
              <a:ext uri="{FF2B5EF4-FFF2-40B4-BE49-F238E27FC236}">
                <a16:creationId xmlns:a16="http://schemas.microsoft.com/office/drawing/2014/main" id="{7792B757-3625-62DB-B0BC-4500C9240A41}"/>
              </a:ext>
            </a:extLst>
          </p:cNvPr>
          <p:cNvSpPr/>
          <p:nvPr/>
        </p:nvSpPr>
        <p:spPr>
          <a:xfrm>
            <a:off x="6821305"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50" name="Straight Connector 149">
            <a:extLst>
              <a:ext uri="{FF2B5EF4-FFF2-40B4-BE49-F238E27FC236}">
                <a16:creationId xmlns:a16="http://schemas.microsoft.com/office/drawing/2014/main" id="{CB9D6291-63B2-1DB9-C21E-B893FDF00CD7}"/>
              </a:ext>
            </a:extLst>
          </p:cNvPr>
          <p:cNvCxnSpPr>
            <a:cxnSpLocks/>
          </p:cNvCxnSpPr>
          <p:nvPr/>
        </p:nvCxnSpPr>
        <p:spPr>
          <a:xfrm flipV="1">
            <a:off x="6505659"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1" name="Straight Connector 150">
            <a:extLst>
              <a:ext uri="{FF2B5EF4-FFF2-40B4-BE49-F238E27FC236}">
                <a16:creationId xmlns:a16="http://schemas.microsoft.com/office/drawing/2014/main" id="{E864E4E7-C8B6-8C26-F9D4-852AE4BD3B51}"/>
              </a:ext>
            </a:extLst>
          </p:cNvPr>
          <p:cNvCxnSpPr>
            <a:cxnSpLocks/>
          </p:cNvCxnSpPr>
          <p:nvPr/>
        </p:nvCxnSpPr>
        <p:spPr>
          <a:xfrm flipV="1">
            <a:off x="6869768"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2" name="Straight Connector 151">
            <a:extLst>
              <a:ext uri="{FF2B5EF4-FFF2-40B4-BE49-F238E27FC236}">
                <a16:creationId xmlns:a16="http://schemas.microsoft.com/office/drawing/2014/main" id="{DE7B809C-D886-A235-E29D-3D5B1E780D67}"/>
              </a:ext>
            </a:extLst>
          </p:cNvPr>
          <p:cNvCxnSpPr>
            <a:cxnSpLocks/>
          </p:cNvCxnSpPr>
          <p:nvPr/>
        </p:nvCxnSpPr>
        <p:spPr>
          <a:xfrm flipH="1">
            <a:off x="6530512"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3" name="Straight Connector 152">
            <a:extLst>
              <a:ext uri="{FF2B5EF4-FFF2-40B4-BE49-F238E27FC236}">
                <a16:creationId xmlns:a16="http://schemas.microsoft.com/office/drawing/2014/main" id="{D4A51DBE-683A-691A-65E6-128F42B47D63}"/>
              </a:ext>
            </a:extLst>
          </p:cNvPr>
          <p:cNvCxnSpPr>
            <a:cxnSpLocks/>
          </p:cNvCxnSpPr>
          <p:nvPr/>
        </p:nvCxnSpPr>
        <p:spPr>
          <a:xfrm flipH="1">
            <a:off x="6495901" y="2874585"/>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4" name="Straight Connector 153">
            <a:extLst>
              <a:ext uri="{FF2B5EF4-FFF2-40B4-BE49-F238E27FC236}">
                <a16:creationId xmlns:a16="http://schemas.microsoft.com/office/drawing/2014/main" id="{5BB96F83-D1E8-A024-E120-0116C1E4281D}"/>
              </a:ext>
            </a:extLst>
          </p:cNvPr>
          <p:cNvCxnSpPr>
            <a:cxnSpLocks/>
          </p:cNvCxnSpPr>
          <p:nvPr/>
        </p:nvCxnSpPr>
        <p:spPr>
          <a:xfrm flipV="1">
            <a:off x="6499604"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55" name="Straight Connector 154">
            <a:extLst>
              <a:ext uri="{FF2B5EF4-FFF2-40B4-BE49-F238E27FC236}">
                <a16:creationId xmlns:a16="http://schemas.microsoft.com/office/drawing/2014/main" id="{41FE0CE7-C0B2-29D9-211F-C4B82614F657}"/>
              </a:ext>
            </a:extLst>
          </p:cNvPr>
          <p:cNvCxnSpPr>
            <a:cxnSpLocks/>
          </p:cNvCxnSpPr>
          <p:nvPr/>
        </p:nvCxnSpPr>
        <p:spPr>
          <a:xfrm rot="16200000" flipV="1">
            <a:off x="6694105"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56" name="Oval 155">
            <a:extLst>
              <a:ext uri="{FF2B5EF4-FFF2-40B4-BE49-F238E27FC236}">
                <a16:creationId xmlns:a16="http://schemas.microsoft.com/office/drawing/2014/main" id="{6FAAF2AC-748D-D62D-5E38-E18EEBC5CFFE}"/>
              </a:ext>
            </a:extLst>
          </p:cNvPr>
          <p:cNvSpPr/>
          <p:nvPr/>
        </p:nvSpPr>
        <p:spPr>
          <a:xfrm>
            <a:off x="6640507"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7" name="Oval 156">
            <a:extLst>
              <a:ext uri="{FF2B5EF4-FFF2-40B4-BE49-F238E27FC236}">
                <a16:creationId xmlns:a16="http://schemas.microsoft.com/office/drawing/2014/main" id="{7FB0AC81-D743-4A97-FBD1-4D287D6CDF9C}"/>
              </a:ext>
            </a:extLst>
          </p:cNvPr>
          <p:cNvSpPr/>
          <p:nvPr/>
        </p:nvSpPr>
        <p:spPr>
          <a:xfrm>
            <a:off x="7028404" y="282732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8" name="Oval 157">
            <a:extLst>
              <a:ext uri="{FF2B5EF4-FFF2-40B4-BE49-F238E27FC236}">
                <a16:creationId xmlns:a16="http://schemas.microsoft.com/office/drawing/2014/main" id="{FE5332D7-39DA-D13E-546D-1FCEFD136C43}"/>
              </a:ext>
            </a:extLst>
          </p:cNvPr>
          <p:cNvSpPr/>
          <p:nvPr/>
        </p:nvSpPr>
        <p:spPr>
          <a:xfrm>
            <a:off x="7395293" y="2823438"/>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A0F6884B-0A06-9575-B298-3CCEEB08E102}"/>
              </a:ext>
            </a:extLst>
          </p:cNvPr>
          <p:cNvSpPr/>
          <p:nvPr/>
        </p:nvSpPr>
        <p:spPr>
          <a:xfrm>
            <a:off x="7028404" y="3193651"/>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160" name="Oval 159">
            <a:extLst>
              <a:ext uri="{FF2B5EF4-FFF2-40B4-BE49-F238E27FC236}">
                <a16:creationId xmlns:a16="http://schemas.microsoft.com/office/drawing/2014/main" id="{B5F570D5-FC08-3D5B-1EE2-6F274468CBE4}"/>
              </a:ext>
            </a:extLst>
          </p:cNvPr>
          <p:cNvSpPr/>
          <p:nvPr/>
        </p:nvSpPr>
        <p:spPr>
          <a:xfrm>
            <a:off x="7391898" y="3193650"/>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400"/>
          </a:p>
        </p:txBody>
      </p:sp>
      <p:cxnSp>
        <p:nvCxnSpPr>
          <p:cNvPr id="161" name="Straight Connector 160">
            <a:extLst>
              <a:ext uri="{FF2B5EF4-FFF2-40B4-BE49-F238E27FC236}">
                <a16:creationId xmlns:a16="http://schemas.microsoft.com/office/drawing/2014/main" id="{07381E75-7C34-6950-9590-9DC6F4F3EDCF}"/>
              </a:ext>
            </a:extLst>
          </p:cNvPr>
          <p:cNvCxnSpPr>
            <a:cxnSpLocks/>
          </p:cNvCxnSpPr>
          <p:nvPr/>
        </p:nvCxnSpPr>
        <p:spPr>
          <a:xfrm flipV="1">
            <a:off x="7078642" y="2865587"/>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2" name="Straight Connector 161">
            <a:extLst>
              <a:ext uri="{FF2B5EF4-FFF2-40B4-BE49-F238E27FC236}">
                <a16:creationId xmlns:a16="http://schemas.microsoft.com/office/drawing/2014/main" id="{1B613E94-0651-1B19-7CCF-236261B3D468}"/>
              </a:ext>
            </a:extLst>
          </p:cNvPr>
          <p:cNvCxnSpPr>
            <a:cxnSpLocks/>
          </p:cNvCxnSpPr>
          <p:nvPr/>
        </p:nvCxnSpPr>
        <p:spPr>
          <a:xfrm rot="16200000" flipV="1">
            <a:off x="7066494" y="2858353"/>
            <a:ext cx="361720" cy="3617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3" name="Straight Connector 162">
            <a:extLst>
              <a:ext uri="{FF2B5EF4-FFF2-40B4-BE49-F238E27FC236}">
                <a16:creationId xmlns:a16="http://schemas.microsoft.com/office/drawing/2014/main" id="{C5C9AB81-99DC-B456-DBA0-30DF19DED3C4}"/>
              </a:ext>
            </a:extLst>
          </p:cNvPr>
          <p:cNvCxnSpPr>
            <a:cxnSpLocks/>
          </p:cNvCxnSpPr>
          <p:nvPr/>
        </p:nvCxnSpPr>
        <p:spPr>
          <a:xfrm flipV="1">
            <a:off x="7076252" y="2874585"/>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4" name="Straight Connector 163">
            <a:extLst>
              <a:ext uri="{FF2B5EF4-FFF2-40B4-BE49-F238E27FC236}">
                <a16:creationId xmlns:a16="http://schemas.microsoft.com/office/drawing/2014/main" id="{683E2C4B-B34E-5636-BED9-3E9D0AC02DDD}"/>
              </a:ext>
            </a:extLst>
          </p:cNvPr>
          <p:cNvCxnSpPr>
            <a:cxnSpLocks/>
          </p:cNvCxnSpPr>
          <p:nvPr/>
        </p:nvCxnSpPr>
        <p:spPr>
          <a:xfrm flipV="1">
            <a:off x="7440361" y="2865587"/>
            <a:ext cx="0" cy="378954"/>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5" name="Straight Connector 164">
            <a:extLst>
              <a:ext uri="{FF2B5EF4-FFF2-40B4-BE49-F238E27FC236}">
                <a16:creationId xmlns:a16="http://schemas.microsoft.com/office/drawing/2014/main" id="{99CE56B6-9EF1-D525-21A3-E6FFF275A4F3}"/>
              </a:ext>
            </a:extLst>
          </p:cNvPr>
          <p:cNvCxnSpPr>
            <a:cxnSpLocks/>
          </p:cNvCxnSpPr>
          <p:nvPr/>
        </p:nvCxnSpPr>
        <p:spPr>
          <a:xfrm flipH="1">
            <a:off x="7101105" y="3236832"/>
            <a:ext cx="355154" cy="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7" name="Straight Connector 166">
            <a:extLst>
              <a:ext uri="{FF2B5EF4-FFF2-40B4-BE49-F238E27FC236}">
                <a16:creationId xmlns:a16="http://schemas.microsoft.com/office/drawing/2014/main" id="{0AE2F513-B249-2370-264B-E595D00191FA}"/>
              </a:ext>
            </a:extLst>
          </p:cNvPr>
          <p:cNvCxnSpPr>
            <a:cxnSpLocks/>
          </p:cNvCxnSpPr>
          <p:nvPr/>
        </p:nvCxnSpPr>
        <p:spPr>
          <a:xfrm flipV="1">
            <a:off x="7070197" y="2698366"/>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68" name="Straight Connector 167">
            <a:extLst>
              <a:ext uri="{FF2B5EF4-FFF2-40B4-BE49-F238E27FC236}">
                <a16:creationId xmlns:a16="http://schemas.microsoft.com/office/drawing/2014/main" id="{4C7C464C-338E-0397-3407-C7F829547726}"/>
              </a:ext>
            </a:extLst>
          </p:cNvPr>
          <p:cNvCxnSpPr>
            <a:cxnSpLocks/>
          </p:cNvCxnSpPr>
          <p:nvPr/>
        </p:nvCxnSpPr>
        <p:spPr>
          <a:xfrm rot="16200000" flipV="1">
            <a:off x="7264698" y="2694413"/>
            <a:ext cx="167220" cy="16722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
        <p:nvSpPr>
          <p:cNvPr id="169" name="Oval 168">
            <a:extLst>
              <a:ext uri="{FF2B5EF4-FFF2-40B4-BE49-F238E27FC236}">
                <a16:creationId xmlns:a16="http://schemas.microsoft.com/office/drawing/2014/main" id="{18C57FE8-A459-4BC5-D9A9-EAAC90F9D7C0}"/>
              </a:ext>
            </a:extLst>
          </p:cNvPr>
          <p:cNvSpPr/>
          <p:nvPr/>
        </p:nvSpPr>
        <p:spPr>
          <a:xfrm>
            <a:off x="7211100" y="2650783"/>
            <a:ext cx="87313" cy="87313"/>
          </a:xfrm>
          <a:prstGeom prst="ellipse">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73" name="Straight Connector 172">
            <a:extLst>
              <a:ext uri="{FF2B5EF4-FFF2-40B4-BE49-F238E27FC236}">
                <a16:creationId xmlns:a16="http://schemas.microsoft.com/office/drawing/2014/main" id="{DBE27B40-33EE-751A-3A06-84FC31F4F3C2}"/>
              </a:ext>
            </a:extLst>
          </p:cNvPr>
          <p:cNvCxnSpPr>
            <a:cxnSpLocks/>
          </p:cNvCxnSpPr>
          <p:nvPr/>
        </p:nvCxnSpPr>
        <p:spPr>
          <a:xfrm>
            <a:off x="6114761" y="2695495"/>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4" name="Straight Connector 193">
            <a:extLst>
              <a:ext uri="{FF2B5EF4-FFF2-40B4-BE49-F238E27FC236}">
                <a16:creationId xmlns:a16="http://schemas.microsoft.com/office/drawing/2014/main" id="{37D35CE0-BE9D-8524-2B8F-56F3069F3744}"/>
              </a:ext>
            </a:extLst>
          </p:cNvPr>
          <p:cNvCxnSpPr>
            <a:cxnSpLocks/>
          </p:cNvCxnSpPr>
          <p:nvPr/>
        </p:nvCxnSpPr>
        <p:spPr>
          <a:xfrm flipV="1">
            <a:off x="6513931" y="2708198"/>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5" name="Straight Connector 194">
            <a:extLst>
              <a:ext uri="{FF2B5EF4-FFF2-40B4-BE49-F238E27FC236}">
                <a16:creationId xmlns:a16="http://schemas.microsoft.com/office/drawing/2014/main" id="{FD1AE621-938A-B7B5-64CF-0C8230795261}"/>
              </a:ext>
            </a:extLst>
          </p:cNvPr>
          <p:cNvCxnSpPr>
            <a:cxnSpLocks/>
          </p:cNvCxnSpPr>
          <p:nvPr/>
        </p:nvCxnSpPr>
        <p:spPr>
          <a:xfrm>
            <a:off x="6686196" y="2707439"/>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6" name="Straight Connector 195">
            <a:extLst>
              <a:ext uri="{FF2B5EF4-FFF2-40B4-BE49-F238E27FC236}">
                <a16:creationId xmlns:a16="http://schemas.microsoft.com/office/drawing/2014/main" id="{9952929E-5F6C-3B88-0D73-D4F4426043CE}"/>
              </a:ext>
            </a:extLst>
          </p:cNvPr>
          <p:cNvCxnSpPr>
            <a:cxnSpLocks/>
          </p:cNvCxnSpPr>
          <p:nvPr/>
        </p:nvCxnSpPr>
        <p:spPr>
          <a:xfrm flipV="1">
            <a:off x="7080222" y="2691491"/>
            <a:ext cx="169933" cy="546212"/>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97" name="Straight Connector 196">
            <a:extLst>
              <a:ext uri="{FF2B5EF4-FFF2-40B4-BE49-F238E27FC236}">
                <a16:creationId xmlns:a16="http://schemas.microsoft.com/office/drawing/2014/main" id="{EC30C0E2-99FF-4AF4-8F3A-28A5C23A5E63}"/>
              </a:ext>
            </a:extLst>
          </p:cNvPr>
          <p:cNvCxnSpPr>
            <a:cxnSpLocks/>
          </p:cNvCxnSpPr>
          <p:nvPr/>
        </p:nvCxnSpPr>
        <p:spPr>
          <a:xfrm>
            <a:off x="7252487" y="2690732"/>
            <a:ext cx="180975" cy="546100"/>
          </a:xfrm>
          <a:prstGeom prst="line">
            <a:avLst/>
          </a:prstGeom>
          <a:ln>
            <a:solidFill>
              <a:schemeClr val="tx1"/>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29449546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60427</TotalTime>
  <Words>2645</Words>
  <Application>Microsoft Macintosh PowerPoint</Application>
  <PresentationFormat>Widescreen</PresentationFormat>
  <Paragraphs>377</Paragraphs>
  <Slides>37</Slides>
  <Notes>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37</vt:i4>
      </vt:variant>
    </vt:vector>
  </HeadingPairs>
  <TitlesOfParts>
    <vt:vector size="46" baseType="lpstr">
      <vt:lpstr>Aptos</vt:lpstr>
      <vt:lpstr>Aptos Display</vt:lpstr>
      <vt:lpstr>Aptos Narrow</vt:lpstr>
      <vt:lpstr>Arial</vt:lpstr>
      <vt:lpstr>Consolas</vt:lpstr>
      <vt:lpstr>Monaco</vt:lpstr>
      <vt:lpstr>Times New Roman</vt:lpstr>
      <vt:lpstr>Wingdings</vt:lpstr>
      <vt:lpstr>Office Theme</vt:lpstr>
      <vt:lpstr>Managed Memory Spill Buffer</vt:lpstr>
      <vt:lpstr>Host Resident Buffer</vt:lpstr>
      <vt:lpstr>Quasi Clique Application</vt:lpstr>
      <vt:lpstr>Results - MQC</vt:lpstr>
      <vt:lpstr>Scratch Buffer</vt:lpstr>
      <vt:lpstr>Scratch Buffer</vt:lpstr>
      <vt:lpstr>Handlink Big Tasks</vt:lpstr>
      <vt:lpstr>Why CPU is much faster than GPU? </vt:lpstr>
      <vt:lpstr>Why hybrid-copy is faster than layered?</vt:lpstr>
      <vt:lpstr>Why hybrid-drop is slower than layered?</vt:lpstr>
      <vt:lpstr>Why hybrid is slower than layered? (SM)</vt:lpstr>
      <vt:lpstr>Why hybrid is slower than layered? (SM)</vt:lpstr>
      <vt:lpstr>PowerPoint Presentation</vt:lpstr>
      <vt:lpstr>MC Application </vt:lpstr>
      <vt:lpstr>Experiments with large values of \eta</vt:lpstr>
      <vt:lpstr>MC Application </vt:lpstr>
      <vt:lpstr>MC Application</vt:lpstr>
      <vt:lpstr>Dataset Selection Reminder </vt:lpstr>
      <vt:lpstr>Dataset Selection Reminder </vt:lpstr>
      <vt:lpstr>Dataset Selection Reminder </vt:lpstr>
      <vt:lpstr>Dataset Selection Reminder </vt:lpstr>
      <vt:lpstr>Dataset Reminder</vt:lpstr>
      <vt:lpstr>Datasets for QC</vt:lpstr>
      <vt:lpstr>SM Application</vt:lpstr>
      <vt:lpstr>MQC Application</vt:lpstr>
      <vt:lpstr>MQC Adaptive GPU Chunk</vt:lpstr>
      <vt:lpstr>Host Buffer</vt:lpstr>
      <vt:lpstr>Buffer Reservation – System </vt:lpstr>
      <vt:lpstr>Buffer Reservation – App </vt:lpstr>
      <vt:lpstr>Why OOM-Fixed version of G2-AIMD Faster?</vt:lpstr>
      <vt:lpstr>Why G2-AIMD is Faster </vt:lpstr>
      <vt:lpstr>Scratch Buffers</vt:lpstr>
      <vt:lpstr>Handling Big Tasks</vt:lpstr>
      <vt:lpstr>PowerPoint Presentation</vt:lpstr>
      <vt:lpstr>PowerPoint Presentation</vt:lpstr>
      <vt:lpstr>PowerPoint Presentation</vt:lpstr>
      <vt:lpstr>Queries for SM</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Ahmad, Akhlaque</dc:creator>
  <cp:lastModifiedBy>Ahmad, Akhlaque</cp:lastModifiedBy>
  <cp:revision>28</cp:revision>
  <dcterms:created xsi:type="dcterms:W3CDTF">2026-04-20T02:32:18Z</dcterms:created>
  <dcterms:modified xsi:type="dcterms:W3CDTF">2026-08-21T15:30:54Z</dcterms:modified>
</cp:coreProperties>
</file>