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91" r:id="rId24"/>
    <p:sldId id="275" r:id="rId25"/>
    <p:sldId id="281" r:id="rId26"/>
    <p:sldId id="283" r:id="rId27"/>
    <p:sldId id="258" r:id="rId28"/>
    <p:sldId id="276" r:id="rId29"/>
    <p:sldId id="277" r:id="rId30"/>
    <p:sldId id="292" r:id="rId31"/>
    <p:sldId id="282" r:id="rId32"/>
    <p:sldId id="300" r:id="rId33"/>
    <p:sldId id="301" r:id="rId34"/>
    <p:sldId id="278" r:id="rId35"/>
    <p:sldId id="279" r:id="rId36"/>
    <p:sldId id="293" r:id="rId37"/>
    <p:sldId id="294" r:id="rId38"/>
    <p:sldId id="299" r:id="rId39"/>
    <p:sldId id="29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56"/>
    <p:restoredTop sz="96512"/>
  </p:normalViewPr>
  <p:slideViewPr>
    <p:cSldViewPr snapToGrid="0">
      <p:cViewPr varScale="1">
        <p:scale>
          <a:sx n="135" d="100"/>
          <a:sy n="135" d="100"/>
        </p:scale>
        <p:origin x="2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8/25/26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8/25/26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0E587-2136-19AE-BB08-5E7EA51DB52B}"/>
              </a:ext>
            </a:extLst>
          </p:cNvPr>
          <p:cNvSpPr>
            <a:spLocks noGrp="1"/>
          </p:cNvSpPr>
          <p:nvPr>
            <p:ph type="title"/>
          </p:nvPr>
        </p:nvSpPr>
        <p:spPr/>
        <p:txBody>
          <a:bodyPr/>
          <a:lstStyle/>
          <a:p>
            <a:r>
              <a:rPr lang="en-US" dirty="0"/>
              <a:t>Why OOM-Fixed version of G2-AIMD Faster?</a:t>
            </a:r>
          </a:p>
        </p:txBody>
      </p:sp>
      <p:graphicFrame>
        <p:nvGraphicFramePr>
          <p:cNvPr id="4" name="Content Placeholder 3">
            <a:extLst>
              <a:ext uri="{FF2B5EF4-FFF2-40B4-BE49-F238E27FC236}">
                <a16:creationId xmlns:a16="http://schemas.microsoft.com/office/drawing/2014/main" id="{29B8652E-5AB9-2D13-5A7B-FCD28C20BB62}"/>
              </a:ext>
            </a:extLst>
          </p:cNvPr>
          <p:cNvGraphicFramePr>
            <a:graphicFrameLocks noGrp="1"/>
          </p:cNvGraphicFramePr>
          <p:nvPr>
            <p:ph idx="1"/>
            <p:extLst>
              <p:ext uri="{D42A27DB-BD31-4B8C-83A1-F6EECF244321}">
                <p14:modId xmlns:p14="http://schemas.microsoft.com/office/powerpoint/2010/main" val="4254775755"/>
              </p:ext>
            </p:extLst>
          </p:nvPr>
        </p:nvGraphicFramePr>
        <p:xfrm>
          <a:off x="5390708" y="5600436"/>
          <a:ext cx="3728483" cy="892439"/>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713271382"/>
                    </a:ext>
                  </a:extLst>
                </a:gridCol>
                <a:gridCol w="1786270">
                  <a:extLst>
                    <a:ext uri="{9D8B030D-6E8A-4147-A177-3AD203B41FA5}">
                      <a16:colId xmlns:a16="http://schemas.microsoft.com/office/drawing/2014/main" val="4145633645"/>
                    </a:ext>
                  </a:extLst>
                </a:gridCol>
                <a:gridCol w="723013">
                  <a:extLst>
                    <a:ext uri="{9D8B030D-6E8A-4147-A177-3AD203B41FA5}">
                      <a16:colId xmlns:a16="http://schemas.microsoft.com/office/drawing/2014/main" val="2927860622"/>
                    </a:ext>
                  </a:extLst>
                </a:gridCol>
              </a:tblGrid>
              <a:tr h="320017">
                <a:tc>
                  <a:txBody>
                    <a:bodyPr/>
                    <a:lstStyle/>
                    <a:p>
                      <a:pPr algn="l" fontAlgn="b">
                        <a:buNone/>
                      </a:pPr>
                      <a:r>
                        <a:rPr lang="en-US" sz="1300" b="1" u="none" strike="noStrike" dirty="0">
                          <a:effectLst/>
                        </a:rPr>
                        <a:t>Dataset</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 (OOM-Fixed)</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a:t>
                      </a:r>
                      <a:endParaRPr lang="en-US" sz="1300" b="1" i="0" u="none" strike="noStrike" dirty="0">
                        <a:solidFill>
                          <a:srgbClr val="FFFFFF"/>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2770345006"/>
                  </a:ext>
                </a:extLst>
              </a:tr>
              <a:tr h="286211">
                <a:tc>
                  <a:txBody>
                    <a:bodyPr/>
                    <a:lstStyle/>
                    <a:p>
                      <a:pPr algn="l" fontAlgn="b">
                        <a:buNone/>
                      </a:pPr>
                      <a:r>
                        <a:rPr lang="en-US" sz="1300" u="none" strike="noStrike">
                          <a:effectLst/>
                        </a:rPr>
                        <a:t>wikipedia_link_it</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33.91</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33.8</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1645920416"/>
                  </a:ext>
                </a:extLst>
              </a:tr>
              <a:tr h="286211">
                <a:tc>
                  <a:txBody>
                    <a:bodyPr/>
                    <a:lstStyle/>
                    <a:p>
                      <a:pPr algn="l" fontAlgn="b">
                        <a:buNone/>
                      </a:pPr>
                      <a:r>
                        <a:rPr lang="en-US" sz="1300" u="none" strike="noStrike">
                          <a:effectLst/>
                        </a:rPr>
                        <a:t>sx-stackoverflow</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21.52</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71.7</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971046385"/>
                  </a:ext>
                </a:extLst>
              </a:tr>
            </a:tbl>
          </a:graphicData>
        </a:graphic>
      </p:graphicFrame>
      <p:sp>
        <p:nvSpPr>
          <p:cNvPr id="5" name="Content Placeholder 2">
            <a:extLst>
              <a:ext uri="{FF2B5EF4-FFF2-40B4-BE49-F238E27FC236}">
                <a16:creationId xmlns:a16="http://schemas.microsoft.com/office/drawing/2014/main" id="{5FD46B0C-AED5-0170-9290-B59A9BC46EAD}"/>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Both versions stop expanding when append can no longer safely write.</a:t>
            </a:r>
          </a:p>
          <a:p>
            <a:pPr marL="0" indent="0">
              <a:buNone/>
            </a:pPr>
            <a:r>
              <a:rPr lang="en-US" dirty="0"/>
              <a:t>Difference:</a:t>
            </a:r>
          </a:p>
          <a:p>
            <a:pPr lvl="1"/>
            <a:r>
              <a:rPr lang="en-US" dirty="0"/>
              <a:t>G2-AIMD: overflow is set early, after a threshold, e.g. 90%.</a:t>
            </a:r>
          </a:p>
          <a:p>
            <a:pPr lvl="1"/>
            <a:r>
              <a:rPr lang="en-US" dirty="0"/>
              <a:t>G2-AIMD OOM-Fixed: overflow is set only when append returns an invalid write location.</a:t>
            </a:r>
          </a:p>
          <a:p>
            <a:pPr marL="0" indent="0">
              <a:buNone/>
            </a:pPr>
            <a:r>
              <a:rPr lang="en-US" dirty="0"/>
              <a:t>So OOM-Fixed may avoid premature failed iterations, making it faster.</a:t>
            </a:r>
          </a:p>
        </p:txBody>
      </p:sp>
    </p:spTree>
    <p:extLst>
      <p:ext uri="{BB962C8B-B14F-4D97-AF65-F5344CB8AC3E}">
        <p14:creationId xmlns:p14="http://schemas.microsoft.com/office/powerpoint/2010/main" val="2060020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7708261" y="427741"/>
            <a:ext cx="4285265" cy="1200329"/>
          </a:xfrm>
          <a:prstGeom prst="rect">
            <a:avLst/>
          </a:prstGeom>
          <a:noFill/>
        </p:spPr>
        <p:txBody>
          <a:bodyPr wrap="square" rtlCol="0">
            <a:spAutoFit/>
          </a:bodyPr>
          <a:lstStyle/>
          <a:p>
            <a:r>
              <a:rPr lang="en-US" b="1" dirty="0">
                <a:solidFill>
                  <a:srgbClr val="C00000"/>
                </a:solidFill>
              </a:rPr>
              <a:t>Not a valid statement!!</a:t>
            </a:r>
          </a:p>
          <a:p>
            <a:r>
              <a:rPr lang="en-US" b="1" dirty="0">
                <a:solidFill>
                  <a:srgbClr val="C00000"/>
                </a:solidFill>
              </a:rPr>
              <a:t>Checked with a simplified system where only device buffer is used and there was no overflow for dataset</a:t>
            </a:r>
          </a:p>
        </p:txBody>
      </p:sp>
    </p:spTree>
    <p:extLst>
      <p:ext uri="{BB962C8B-B14F-4D97-AF65-F5344CB8AC3E}">
        <p14:creationId xmlns:p14="http://schemas.microsoft.com/office/powerpoint/2010/main" val="70167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7E6D5-C13B-ABA3-AB7C-D12C7374BFDC}"/>
              </a:ext>
            </a:extLst>
          </p:cNvPr>
          <p:cNvSpPr>
            <a:spLocks noGrp="1"/>
          </p:cNvSpPr>
          <p:nvPr>
            <p:ph type="title"/>
          </p:nvPr>
        </p:nvSpPr>
        <p:spPr/>
        <p:txBody>
          <a:bodyPr/>
          <a:lstStyle/>
          <a:p>
            <a:r>
              <a:rPr lang="en-US" dirty="0"/>
              <a:t>QC Task</a:t>
            </a:r>
          </a:p>
        </p:txBody>
      </p:sp>
      <p:pic>
        <p:nvPicPr>
          <p:cNvPr id="4" name="Content Placeholder 3">
            <a:extLst>
              <a:ext uri="{FF2B5EF4-FFF2-40B4-BE49-F238E27FC236}">
                <a16:creationId xmlns:a16="http://schemas.microsoft.com/office/drawing/2014/main" id="{AF4CDF9A-4B61-08FC-4F2D-FFD1C32EA981}"/>
              </a:ext>
            </a:extLst>
          </p:cNvPr>
          <p:cNvPicPr>
            <a:picLocks noGrp="1" noChangeAspect="1"/>
          </p:cNvPicPr>
          <p:nvPr>
            <p:ph idx="1"/>
          </p:nvPr>
        </p:nvPicPr>
        <p:blipFill>
          <a:blip r:embed="rId2"/>
          <a:stretch>
            <a:fillRect/>
          </a:stretch>
        </p:blipFill>
        <p:spPr>
          <a:xfrm>
            <a:off x="1154849" y="1915090"/>
            <a:ext cx="3340100" cy="3606800"/>
          </a:xfrm>
          <a:prstGeom prst="rect">
            <a:avLst/>
          </a:prstGeom>
        </p:spPr>
      </p:pic>
      <p:sp>
        <p:nvSpPr>
          <p:cNvPr id="5" name="TextBox 4">
            <a:extLst>
              <a:ext uri="{FF2B5EF4-FFF2-40B4-BE49-F238E27FC236}">
                <a16:creationId xmlns:a16="http://schemas.microsoft.com/office/drawing/2014/main" id="{CC379DAD-AD90-0C8D-5DAD-5A0693CE354E}"/>
              </a:ext>
            </a:extLst>
          </p:cNvPr>
          <p:cNvSpPr txBox="1"/>
          <p:nvPr/>
        </p:nvSpPr>
        <p:spPr>
          <a:xfrm>
            <a:off x="5656083" y="2224726"/>
            <a:ext cx="4600280" cy="646331"/>
          </a:xfrm>
          <a:prstGeom prst="rect">
            <a:avLst/>
          </a:prstGeom>
          <a:noFill/>
        </p:spPr>
        <p:txBody>
          <a:bodyPr wrap="square" rtlCol="0">
            <a:spAutoFit/>
          </a:bodyPr>
          <a:lstStyle/>
          <a:p>
            <a:r>
              <a:rPr lang="en-US" dirty="0"/>
              <a:t>This is the task structure used by both original and current  implementation.</a:t>
            </a:r>
          </a:p>
        </p:txBody>
      </p:sp>
    </p:spTree>
    <p:extLst>
      <p:ext uri="{BB962C8B-B14F-4D97-AF65-F5344CB8AC3E}">
        <p14:creationId xmlns:p14="http://schemas.microsoft.com/office/powerpoint/2010/main" val="32638414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4D47B-08FA-4C4B-2A7F-6C4FBEF1BD3C}"/>
              </a:ext>
            </a:extLst>
          </p:cNvPr>
          <p:cNvSpPr>
            <a:spLocks noGrp="1"/>
          </p:cNvSpPr>
          <p:nvPr>
            <p:ph type="title"/>
          </p:nvPr>
        </p:nvSpPr>
        <p:spPr/>
        <p:txBody>
          <a:bodyPr/>
          <a:lstStyle/>
          <a:p>
            <a:r>
              <a:rPr lang="en-US" dirty="0"/>
              <a:t>Task Expansion</a:t>
            </a:r>
          </a:p>
        </p:txBody>
      </p:sp>
      <p:pic>
        <p:nvPicPr>
          <p:cNvPr id="5" name="Content Placeholder 4">
            <a:extLst>
              <a:ext uri="{FF2B5EF4-FFF2-40B4-BE49-F238E27FC236}">
                <a16:creationId xmlns:a16="http://schemas.microsoft.com/office/drawing/2014/main" id="{0981A931-398B-F352-0F3E-468753DC57D0}"/>
              </a:ext>
            </a:extLst>
          </p:cNvPr>
          <p:cNvPicPr>
            <a:picLocks noGrp="1" noChangeAspect="1"/>
          </p:cNvPicPr>
          <p:nvPr>
            <p:ph idx="1"/>
          </p:nvPr>
        </p:nvPicPr>
        <p:blipFill>
          <a:blip r:embed="rId2"/>
          <a:stretch>
            <a:fillRect/>
          </a:stretch>
        </p:blipFill>
        <p:spPr>
          <a:xfrm>
            <a:off x="838200" y="1571102"/>
            <a:ext cx="4818366" cy="4351338"/>
          </a:xfrm>
          <a:prstGeom prst="rect">
            <a:avLst/>
          </a:prstGeom>
        </p:spPr>
      </p:pic>
      <p:sp>
        <p:nvSpPr>
          <p:cNvPr id="6" name="TextBox 5">
            <a:extLst>
              <a:ext uri="{FF2B5EF4-FFF2-40B4-BE49-F238E27FC236}">
                <a16:creationId xmlns:a16="http://schemas.microsoft.com/office/drawing/2014/main" id="{66D68B21-CB79-B85D-88F3-3C7A08F2F10A}"/>
              </a:ext>
            </a:extLst>
          </p:cNvPr>
          <p:cNvSpPr txBox="1"/>
          <p:nvPr/>
        </p:nvSpPr>
        <p:spPr>
          <a:xfrm>
            <a:off x="5656566" y="1847654"/>
            <a:ext cx="5797001" cy="3139321"/>
          </a:xfrm>
          <a:prstGeom prst="rect">
            <a:avLst/>
          </a:prstGeom>
          <a:noFill/>
        </p:spPr>
        <p:txBody>
          <a:bodyPr wrap="square" rtlCol="0">
            <a:spAutoFit/>
          </a:bodyPr>
          <a:lstStyle/>
          <a:p>
            <a:r>
              <a:rPr lang="en-US" dirty="0"/>
              <a:t>In the original implementation all of these allocations are static, which can easily overflow as graph size become larger. This is the reason why program crashes for many graphs. </a:t>
            </a:r>
          </a:p>
          <a:p>
            <a:endParaRPr lang="en-US" dirty="0"/>
          </a:p>
          <a:p>
            <a:r>
              <a:rPr lang="en-US" dirty="0"/>
              <a:t>In our implementation we have </a:t>
            </a:r>
            <a:r>
              <a:rPr lang="en-US" dirty="0" err="1"/>
              <a:t>Brd</a:t>
            </a:r>
            <a:r>
              <a:rPr lang="en-US" dirty="0"/>
              <a:t>, </a:t>
            </a:r>
            <a:r>
              <a:rPr lang="en-US" dirty="0" err="1"/>
              <a:t>Bwr</a:t>
            </a:r>
            <a:r>
              <a:rPr lang="en-US" dirty="0"/>
              <a:t>, H which can better handle expansion.</a:t>
            </a:r>
          </a:p>
          <a:p>
            <a:endParaRPr lang="en-US" dirty="0"/>
          </a:p>
          <a:p>
            <a:r>
              <a:rPr lang="en-US" dirty="0"/>
              <a:t>For temporary intersection and pruning operations, it uses a per warp buffer explained in next slide. </a:t>
            </a:r>
          </a:p>
          <a:p>
            <a:endParaRPr lang="en-US" dirty="0"/>
          </a:p>
        </p:txBody>
      </p:sp>
    </p:spTree>
    <p:extLst>
      <p:ext uri="{BB962C8B-B14F-4D97-AF65-F5344CB8AC3E}">
        <p14:creationId xmlns:p14="http://schemas.microsoft.com/office/powerpoint/2010/main" val="183731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B16930B-40FA-AC1C-60D8-3E3E52F28092}"/>
              </a:ext>
            </a:extLst>
          </p:cNvPr>
          <p:cNvSpPr txBox="1"/>
          <p:nvPr/>
        </p:nvSpPr>
        <p:spPr>
          <a:xfrm>
            <a:off x="170543" y="1701209"/>
            <a:ext cx="3551274" cy="923330"/>
          </a:xfrm>
          <a:prstGeom prst="rect">
            <a:avLst/>
          </a:prstGeom>
          <a:noFill/>
        </p:spPr>
        <p:txBody>
          <a:bodyPr wrap="square" rtlCol="0">
            <a:spAutoFit/>
          </a:bodyPr>
          <a:lstStyle/>
          <a:p>
            <a:r>
              <a:rPr lang="en-US" dirty="0"/>
              <a:t>now, the warps are not reading directly from host, rather this is copied in bulk. </a:t>
            </a:r>
          </a:p>
        </p:txBody>
      </p:sp>
      <p:pic>
        <p:nvPicPr>
          <p:cNvPr id="3" name="Picture 2">
            <a:extLst>
              <a:ext uri="{FF2B5EF4-FFF2-40B4-BE49-F238E27FC236}">
                <a16:creationId xmlns:a16="http://schemas.microsoft.com/office/drawing/2014/main" id="{4620263E-4E94-789C-36F3-9EF57605F190}"/>
              </a:ext>
            </a:extLst>
          </p:cNvPr>
          <p:cNvPicPr>
            <a:picLocks noChangeAspect="1"/>
          </p:cNvPicPr>
          <p:nvPr/>
        </p:nvPicPr>
        <p:blipFill>
          <a:blip r:embed="rId2"/>
          <a:stretch>
            <a:fillRect/>
          </a:stretch>
        </p:blipFill>
        <p:spPr>
          <a:xfrm>
            <a:off x="5328122" y="-60960"/>
            <a:ext cx="6464808" cy="6858000"/>
          </a:xfrm>
          <a:prstGeom prst="rect">
            <a:avLst/>
          </a:prstGeom>
        </p:spPr>
      </p:pic>
      <p:sp>
        <p:nvSpPr>
          <p:cNvPr id="8" name="Cross 7">
            <a:extLst>
              <a:ext uri="{FF2B5EF4-FFF2-40B4-BE49-F238E27FC236}">
                <a16:creationId xmlns:a16="http://schemas.microsoft.com/office/drawing/2014/main" id="{E3DAC028-3F4B-2201-A02B-2A35ACC1D474}"/>
              </a:ext>
            </a:extLst>
          </p:cNvPr>
          <p:cNvSpPr/>
          <p:nvPr/>
        </p:nvSpPr>
        <p:spPr>
          <a:xfrm rot="2703491">
            <a:off x="6810104" y="3560663"/>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ross 8">
            <a:extLst>
              <a:ext uri="{FF2B5EF4-FFF2-40B4-BE49-F238E27FC236}">
                <a16:creationId xmlns:a16="http://schemas.microsoft.com/office/drawing/2014/main" id="{0CB1D70A-3D66-DFA0-6A01-A6FDAE079F23}"/>
              </a:ext>
            </a:extLst>
          </p:cNvPr>
          <p:cNvSpPr/>
          <p:nvPr/>
        </p:nvSpPr>
        <p:spPr>
          <a:xfrm rot="2703491">
            <a:off x="9261567" y="540252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11649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33E2C-E62C-544D-DAD5-404923F4500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1155FC0-06CE-0A69-D19B-D6E8A6BAAC54}"/>
              </a:ext>
            </a:extLst>
          </p:cNvPr>
          <p:cNvSpPr txBox="1"/>
          <p:nvPr/>
        </p:nvSpPr>
        <p:spPr>
          <a:xfrm>
            <a:off x="7418404" y="1313712"/>
            <a:ext cx="4773596" cy="3693319"/>
          </a:xfrm>
          <a:prstGeom prst="rect">
            <a:avLst/>
          </a:prstGeom>
          <a:noFill/>
        </p:spPr>
        <p:txBody>
          <a:bodyPr wrap="square" rtlCol="0">
            <a:spAutoFit/>
          </a:bodyPr>
          <a:lstStyle/>
          <a:p>
            <a:r>
              <a:rPr lang="en-US" dirty="0"/>
              <a:t>Previously, it was [start, mid, end) because mid was used in SM app to store prefix information.</a:t>
            </a:r>
          </a:p>
          <a:p>
            <a:endParaRPr lang="en-US" dirty="0"/>
          </a:p>
          <a:p>
            <a:endParaRPr lang="en-US" dirty="0"/>
          </a:p>
          <a:p>
            <a:r>
              <a:rPr lang="en-US" dirty="0"/>
              <a:t>Now the offsets are truly [start, end). </a:t>
            </a:r>
          </a:p>
          <a:p>
            <a:r>
              <a:rPr lang="en-US" dirty="0"/>
              <a:t>The mid is moved to subgraph. The first element of subgraph is the mid point, e.g.:</a:t>
            </a:r>
          </a:p>
          <a:p>
            <a:endParaRPr lang="en-US" dirty="0"/>
          </a:p>
          <a:p>
            <a:r>
              <a:rPr lang="en-US" dirty="0"/>
              <a:t>[2, s1, s2, c1, c2, c3, … ]   </a:t>
            </a:r>
          </a:p>
          <a:p>
            <a:endParaRPr lang="en-US" dirty="0"/>
          </a:p>
          <a:p>
            <a:r>
              <a:rPr lang="en-US" dirty="0"/>
              <a:t>indicates 2 elements (s1, s2) are the partial match, and remaining are the candidates</a:t>
            </a:r>
          </a:p>
        </p:txBody>
      </p:sp>
      <p:pic>
        <p:nvPicPr>
          <p:cNvPr id="4" name="Picture 3">
            <a:extLst>
              <a:ext uri="{FF2B5EF4-FFF2-40B4-BE49-F238E27FC236}">
                <a16:creationId xmlns:a16="http://schemas.microsoft.com/office/drawing/2014/main" id="{07E94065-4C0F-E50A-B72E-C3A7C8BB97FA}"/>
              </a:ext>
            </a:extLst>
          </p:cNvPr>
          <p:cNvPicPr>
            <a:picLocks noChangeAspect="1"/>
          </p:cNvPicPr>
          <p:nvPr/>
        </p:nvPicPr>
        <p:blipFill>
          <a:blip r:embed="rId2"/>
          <a:stretch>
            <a:fillRect/>
          </a:stretch>
        </p:blipFill>
        <p:spPr>
          <a:xfrm>
            <a:off x="677745" y="-139337"/>
            <a:ext cx="6464808" cy="6858000"/>
          </a:xfrm>
          <a:prstGeom prst="rect">
            <a:avLst/>
          </a:prstGeom>
        </p:spPr>
      </p:pic>
      <p:sp>
        <p:nvSpPr>
          <p:cNvPr id="7" name="Cross 6">
            <a:extLst>
              <a:ext uri="{FF2B5EF4-FFF2-40B4-BE49-F238E27FC236}">
                <a16:creationId xmlns:a16="http://schemas.microsoft.com/office/drawing/2014/main" id="{45D8CFE2-0A6E-B812-BE90-90B3FD44E966}"/>
              </a:ext>
            </a:extLst>
          </p:cNvPr>
          <p:cNvSpPr/>
          <p:nvPr/>
        </p:nvSpPr>
        <p:spPr>
          <a:xfrm rot="2703491">
            <a:off x="2159727" y="348228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ross 7">
            <a:extLst>
              <a:ext uri="{FF2B5EF4-FFF2-40B4-BE49-F238E27FC236}">
                <a16:creationId xmlns:a16="http://schemas.microsoft.com/office/drawing/2014/main" id="{10BBB2EB-BFE8-D1DC-28A3-73FC310C1949}"/>
              </a:ext>
            </a:extLst>
          </p:cNvPr>
          <p:cNvSpPr/>
          <p:nvPr/>
        </p:nvSpPr>
        <p:spPr>
          <a:xfrm rot="2703491">
            <a:off x="4611190" y="5324149"/>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A2CD0DFE-4C14-2009-B874-CD411A72A9A5}"/>
              </a:ext>
            </a:extLst>
          </p:cNvPr>
          <p:cNvCxnSpPr/>
          <p:nvPr/>
        </p:nvCxnSpPr>
        <p:spPr>
          <a:xfrm flipV="1">
            <a:off x="2477589" y="1676400"/>
            <a:ext cx="4940815" cy="351608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465314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78FD8-3338-BEA4-3B41-C9C62283F198}"/>
              </a:ext>
            </a:extLst>
          </p:cNvPr>
          <p:cNvSpPr>
            <a:spLocks noGrp="1"/>
          </p:cNvSpPr>
          <p:nvPr>
            <p:ph type="title"/>
          </p:nvPr>
        </p:nvSpPr>
        <p:spPr/>
        <p:txBody>
          <a:bodyPr/>
          <a:lstStyle/>
          <a:p>
            <a:endParaRPr lang="en-US"/>
          </a:p>
        </p:txBody>
      </p:sp>
      <p:sp>
        <p:nvSpPr>
          <p:cNvPr id="7" name="Content Placeholder 6">
            <a:extLst>
              <a:ext uri="{FF2B5EF4-FFF2-40B4-BE49-F238E27FC236}">
                <a16:creationId xmlns:a16="http://schemas.microsoft.com/office/drawing/2014/main" id="{08BE59CE-AE00-A964-9D21-5D915148266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278305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9B77-8C9A-8E46-9A65-4487986EB18A}"/>
              </a:ext>
            </a:extLst>
          </p:cNvPr>
          <p:cNvSpPr>
            <a:spLocks noGrp="1"/>
          </p:cNvSpPr>
          <p:nvPr>
            <p:ph type="title"/>
          </p:nvPr>
        </p:nvSpPr>
        <p:spPr>
          <a:xfrm>
            <a:off x="735683" y="264275"/>
            <a:ext cx="10515600" cy="1325563"/>
          </a:xfrm>
        </p:spPr>
        <p:txBody>
          <a:bodyPr/>
          <a:lstStyle/>
          <a:p>
            <a:r>
              <a:rPr lang="en-US" dirty="0"/>
              <a:t>Queries for SM</a:t>
            </a:r>
          </a:p>
        </p:txBody>
      </p:sp>
      <p:sp>
        <p:nvSpPr>
          <p:cNvPr id="9" name="TextBox 8">
            <a:extLst>
              <a:ext uri="{FF2B5EF4-FFF2-40B4-BE49-F238E27FC236}">
                <a16:creationId xmlns:a16="http://schemas.microsoft.com/office/drawing/2014/main" id="{BE94B52E-4BEC-396D-590F-3ADBC66076AE}"/>
              </a:ext>
            </a:extLst>
          </p:cNvPr>
          <p:cNvSpPr txBox="1"/>
          <p:nvPr/>
        </p:nvSpPr>
        <p:spPr>
          <a:xfrm>
            <a:off x="4755693"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P1</a:t>
            </a:r>
          </a:p>
        </p:txBody>
      </p:sp>
      <p:sp>
        <p:nvSpPr>
          <p:cNvPr id="10" name="TextBox 9">
            <a:extLst>
              <a:ext uri="{FF2B5EF4-FFF2-40B4-BE49-F238E27FC236}">
                <a16:creationId xmlns:a16="http://schemas.microsoft.com/office/drawing/2014/main" id="{F470D6FC-BD7E-A34C-741C-C654C438331C}"/>
              </a:ext>
            </a:extLst>
          </p:cNvPr>
          <p:cNvSpPr txBox="1"/>
          <p:nvPr/>
        </p:nvSpPr>
        <p:spPr>
          <a:xfrm>
            <a:off x="5352165"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P2</a:t>
            </a:r>
          </a:p>
        </p:txBody>
      </p:sp>
      <p:sp>
        <p:nvSpPr>
          <p:cNvPr id="11" name="TextBox 10">
            <a:extLst>
              <a:ext uri="{FF2B5EF4-FFF2-40B4-BE49-F238E27FC236}">
                <a16:creationId xmlns:a16="http://schemas.microsoft.com/office/drawing/2014/main" id="{5B90695E-AA2E-5782-6F26-85E755E9D93A}"/>
              </a:ext>
            </a:extLst>
          </p:cNvPr>
          <p:cNvSpPr txBox="1"/>
          <p:nvPr/>
        </p:nvSpPr>
        <p:spPr>
          <a:xfrm>
            <a:off x="5947228"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P3</a:t>
            </a:r>
          </a:p>
        </p:txBody>
      </p:sp>
      <p:sp>
        <p:nvSpPr>
          <p:cNvPr id="12" name="TextBox 11">
            <a:extLst>
              <a:ext uri="{FF2B5EF4-FFF2-40B4-BE49-F238E27FC236}">
                <a16:creationId xmlns:a16="http://schemas.microsoft.com/office/drawing/2014/main" id="{094E7582-6303-F225-2540-A985CBA1427D}"/>
              </a:ext>
            </a:extLst>
          </p:cNvPr>
          <p:cNvSpPr txBox="1"/>
          <p:nvPr/>
        </p:nvSpPr>
        <p:spPr>
          <a:xfrm>
            <a:off x="6521179"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P4</a:t>
            </a:r>
          </a:p>
        </p:txBody>
      </p:sp>
      <p:sp>
        <p:nvSpPr>
          <p:cNvPr id="13" name="TextBox 12">
            <a:extLst>
              <a:ext uri="{FF2B5EF4-FFF2-40B4-BE49-F238E27FC236}">
                <a16:creationId xmlns:a16="http://schemas.microsoft.com/office/drawing/2014/main" id="{3512F24E-735C-DA27-65D0-DB68766F1953}"/>
              </a:ext>
            </a:extLst>
          </p:cNvPr>
          <p:cNvSpPr txBox="1"/>
          <p:nvPr/>
        </p:nvSpPr>
        <p:spPr>
          <a:xfrm>
            <a:off x="7086011"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P5</a:t>
            </a:r>
          </a:p>
        </p:txBody>
      </p:sp>
      <p:sp>
        <p:nvSpPr>
          <p:cNvPr id="101" name="Oval 100">
            <a:extLst>
              <a:ext uri="{FF2B5EF4-FFF2-40B4-BE49-F238E27FC236}">
                <a16:creationId xmlns:a16="http://schemas.microsoft.com/office/drawing/2014/main" id="{2A59C34E-8923-A0F5-647A-71CA45FF1289}"/>
              </a:ext>
            </a:extLst>
          </p:cNvPr>
          <p:cNvSpPr/>
          <p:nvPr/>
        </p:nvSpPr>
        <p:spPr>
          <a:xfrm>
            <a:off x="4746032"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946153F5-D9F5-A9C9-24A4-FF3673C75063}"/>
              </a:ext>
            </a:extLst>
          </p:cNvPr>
          <p:cNvSpPr/>
          <p:nvPr/>
        </p:nvSpPr>
        <p:spPr>
          <a:xfrm>
            <a:off x="5112921"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F2A9376B-9883-C0E8-21AE-628BBC20097B}"/>
              </a:ext>
            </a:extLst>
          </p:cNvPr>
          <p:cNvSpPr/>
          <p:nvPr/>
        </p:nvSpPr>
        <p:spPr>
          <a:xfrm>
            <a:off x="4746032"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4" name="Oval 103">
            <a:extLst>
              <a:ext uri="{FF2B5EF4-FFF2-40B4-BE49-F238E27FC236}">
                <a16:creationId xmlns:a16="http://schemas.microsoft.com/office/drawing/2014/main" id="{B0DA270A-7C2B-F78A-EEB3-04FCA7430387}"/>
              </a:ext>
            </a:extLst>
          </p:cNvPr>
          <p:cNvSpPr/>
          <p:nvPr/>
        </p:nvSpPr>
        <p:spPr>
          <a:xfrm>
            <a:off x="5109526"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06" name="Straight Connector 105">
            <a:extLst>
              <a:ext uri="{FF2B5EF4-FFF2-40B4-BE49-F238E27FC236}">
                <a16:creationId xmlns:a16="http://schemas.microsoft.com/office/drawing/2014/main" id="{538BDFA9-B153-CE33-0049-CA4B23415B6F}"/>
              </a:ext>
            </a:extLst>
          </p:cNvPr>
          <p:cNvCxnSpPr>
            <a:cxnSpLocks/>
          </p:cNvCxnSpPr>
          <p:nvPr/>
        </p:nvCxnSpPr>
        <p:spPr>
          <a:xfrm rot="16200000" flipV="1">
            <a:off x="4784122"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a:extLst>
              <a:ext uri="{FF2B5EF4-FFF2-40B4-BE49-F238E27FC236}">
                <a16:creationId xmlns:a16="http://schemas.microsoft.com/office/drawing/2014/main" id="{33D81001-D852-161A-7686-5FAE10AE12DC}"/>
              </a:ext>
            </a:extLst>
          </p:cNvPr>
          <p:cNvCxnSpPr>
            <a:cxnSpLocks/>
          </p:cNvCxnSpPr>
          <p:nvPr/>
        </p:nvCxnSpPr>
        <p:spPr>
          <a:xfrm flipV="1">
            <a:off x="4793880"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9EF96196-3BAE-7299-0D44-15170825F8E3}"/>
              </a:ext>
            </a:extLst>
          </p:cNvPr>
          <p:cNvCxnSpPr>
            <a:cxnSpLocks/>
          </p:cNvCxnSpPr>
          <p:nvPr/>
        </p:nvCxnSpPr>
        <p:spPr>
          <a:xfrm flipV="1">
            <a:off x="5157989"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F0DE6CAF-E354-CB90-7E4D-3FF7C234CE90}"/>
              </a:ext>
            </a:extLst>
          </p:cNvPr>
          <p:cNvCxnSpPr>
            <a:cxnSpLocks/>
          </p:cNvCxnSpPr>
          <p:nvPr/>
        </p:nvCxnSpPr>
        <p:spPr>
          <a:xfrm flipH="1">
            <a:off x="4818733"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BFDEC3D0-AB79-EC01-53CD-C3397C6D3477}"/>
              </a:ext>
            </a:extLst>
          </p:cNvPr>
          <p:cNvCxnSpPr>
            <a:cxnSpLocks/>
          </p:cNvCxnSpPr>
          <p:nvPr/>
        </p:nvCxnSpPr>
        <p:spPr>
          <a:xfrm flipH="1">
            <a:off x="4784122"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8D187165-7E97-81BA-0A9F-198BD9B1319C}"/>
              </a:ext>
            </a:extLst>
          </p:cNvPr>
          <p:cNvSpPr/>
          <p:nvPr/>
        </p:nvSpPr>
        <p:spPr>
          <a:xfrm>
            <a:off x="5316625"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1D024CD-FEF2-71F9-0FF0-0F3F9BA552E2}"/>
              </a:ext>
            </a:extLst>
          </p:cNvPr>
          <p:cNvSpPr/>
          <p:nvPr/>
        </p:nvSpPr>
        <p:spPr>
          <a:xfrm>
            <a:off x="5683514"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F65B8414-3E53-9662-6AA1-92A278AEA448}"/>
              </a:ext>
            </a:extLst>
          </p:cNvPr>
          <p:cNvSpPr/>
          <p:nvPr/>
        </p:nvSpPr>
        <p:spPr>
          <a:xfrm>
            <a:off x="5316625"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1" name="Oval 120">
            <a:extLst>
              <a:ext uri="{FF2B5EF4-FFF2-40B4-BE49-F238E27FC236}">
                <a16:creationId xmlns:a16="http://schemas.microsoft.com/office/drawing/2014/main" id="{C2C02BEC-5D0A-8897-17D8-B5A2F96B684E}"/>
              </a:ext>
            </a:extLst>
          </p:cNvPr>
          <p:cNvSpPr/>
          <p:nvPr/>
        </p:nvSpPr>
        <p:spPr>
          <a:xfrm>
            <a:off x="5680119"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22" name="Straight Connector 121">
            <a:extLst>
              <a:ext uri="{FF2B5EF4-FFF2-40B4-BE49-F238E27FC236}">
                <a16:creationId xmlns:a16="http://schemas.microsoft.com/office/drawing/2014/main" id="{D9CCE777-0D4C-B964-0AF0-9AF9E56AE0B0}"/>
              </a:ext>
            </a:extLst>
          </p:cNvPr>
          <p:cNvCxnSpPr>
            <a:cxnSpLocks/>
          </p:cNvCxnSpPr>
          <p:nvPr/>
        </p:nvCxnSpPr>
        <p:spPr>
          <a:xfrm flipV="1">
            <a:off x="5366863" y="2865587"/>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2AF291C4-B03F-8AF9-B63A-D526F68CFFB1}"/>
              </a:ext>
            </a:extLst>
          </p:cNvPr>
          <p:cNvCxnSpPr>
            <a:cxnSpLocks/>
          </p:cNvCxnSpPr>
          <p:nvPr/>
        </p:nvCxnSpPr>
        <p:spPr>
          <a:xfrm rot="16200000" flipV="1">
            <a:off x="5354715"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B2046C4C-5874-345A-F012-6969C3CABF15}"/>
              </a:ext>
            </a:extLst>
          </p:cNvPr>
          <p:cNvCxnSpPr>
            <a:cxnSpLocks/>
          </p:cNvCxnSpPr>
          <p:nvPr/>
        </p:nvCxnSpPr>
        <p:spPr>
          <a:xfrm flipV="1">
            <a:off x="5364473"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B2F37F20-BDE3-7011-C142-44DB3C3BF379}"/>
              </a:ext>
            </a:extLst>
          </p:cNvPr>
          <p:cNvCxnSpPr>
            <a:cxnSpLocks/>
          </p:cNvCxnSpPr>
          <p:nvPr/>
        </p:nvCxnSpPr>
        <p:spPr>
          <a:xfrm flipV="1">
            <a:off x="5728582"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DE3ACE22-6C1A-13AB-EA58-12400B1E1702}"/>
              </a:ext>
            </a:extLst>
          </p:cNvPr>
          <p:cNvCxnSpPr>
            <a:cxnSpLocks/>
          </p:cNvCxnSpPr>
          <p:nvPr/>
        </p:nvCxnSpPr>
        <p:spPr>
          <a:xfrm flipH="1">
            <a:off x="5389326"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64256EB-DC24-FBFC-99E1-7734028D071E}"/>
              </a:ext>
            </a:extLst>
          </p:cNvPr>
          <p:cNvCxnSpPr>
            <a:cxnSpLocks/>
          </p:cNvCxnSpPr>
          <p:nvPr/>
        </p:nvCxnSpPr>
        <p:spPr>
          <a:xfrm flipH="1">
            <a:off x="5354715"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BB02D5E9-BD16-0984-15E8-2F9BC2322A23}"/>
              </a:ext>
            </a:extLst>
          </p:cNvPr>
          <p:cNvCxnSpPr>
            <a:cxnSpLocks/>
          </p:cNvCxnSpPr>
          <p:nvPr/>
        </p:nvCxnSpPr>
        <p:spPr>
          <a:xfrm flipV="1">
            <a:off x="5358418"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A699BADB-3087-8E6C-0985-48AF47B6945E}"/>
              </a:ext>
            </a:extLst>
          </p:cNvPr>
          <p:cNvCxnSpPr>
            <a:cxnSpLocks/>
          </p:cNvCxnSpPr>
          <p:nvPr/>
        </p:nvCxnSpPr>
        <p:spPr>
          <a:xfrm rot="16200000" flipV="1">
            <a:off x="5552919"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30" name="Oval 129">
            <a:extLst>
              <a:ext uri="{FF2B5EF4-FFF2-40B4-BE49-F238E27FC236}">
                <a16:creationId xmlns:a16="http://schemas.microsoft.com/office/drawing/2014/main" id="{6A0C3341-0C2A-39AC-3749-911B77200102}"/>
              </a:ext>
            </a:extLst>
          </p:cNvPr>
          <p:cNvSpPr/>
          <p:nvPr/>
        </p:nvSpPr>
        <p:spPr>
          <a:xfrm>
            <a:off x="5499321"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66728416-D95C-7D7D-9326-53B1505594EE}"/>
              </a:ext>
            </a:extLst>
          </p:cNvPr>
          <p:cNvSpPr/>
          <p:nvPr/>
        </p:nvSpPr>
        <p:spPr>
          <a:xfrm>
            <a:off x="5887218"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4D549711-299F-D81A-E5CB-52C4BE2B78E4}"/>
              </a:ext>
            </a:extLst>
          </p:cNvPr>
          <p:cNvSpPr/>
          <p:nvPr/>
        </p:nvSpPr>
        <p:spPr>
          <a:xfrm>
            <a:off x="6254107"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FB60D273-7557-F8EB-F832-ADA15DDA9996}"/>
              </a:ext>
            </a:extLst>
          </p:cNvPr>
          <p:cNvSpPr/>
          <p:nvPr/>
        </p:nvSpPr>
        <p:spPr>
          <a:xfrm>
            <a:off x="5887218"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4" name="Oval 133">
            <a:extLst>
              <a:ext uri="{FF2B5EF4-FFF2-40B4-BE49-F238E27FC236}">
                <a16:creationId xmlns:a16="http://schemas.microsoft.com/office/drawing/2014/main" id="{77F8AFC6-0898-6033-7D08-195419BC4509}"/>
              </a:ext>
            </a:extLst>
          </p:cNvPr>
          <p:cNvSpPr/>
          <p:nvPr/>
        </p:nvSpPr>
        <p:spPr>
          <a:xfrm>
            <a:off x="6250712"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5" name="Straight Connector 134">
            <a:extLst>
              <a:ext uri="{FF2B5EF4-FFF2-40B4-BE49-F238E27FC236}">
                <a16:creationId xmlns:a16="http://schemas.microsoft.com/office/drawing/2014/main" id="{A7B9A8EF-80CA-F4D7-C073-327B0DFB9792}"/>
              </a:ext>
            </a:extLst>
          </p:cNvPr>
          <p:cNvCxnSpPr>
            <a:cxnSpLocks/>
          </p:cNvCxnSpPr>
          <p:nvPr/>
        </p:nvCxnSpPr>
        <p:spPr>
          <a:xfrm flipV="1">
            <a:off x="5942496" y="2696254"/>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7" name="Straight Connector 136">
            <a:extLst>
              <a:ext uri="{FF2B5EF4-FFF2-40B4-BE49-F238E27FC236}">
                <a16:creationId xmlns:a16="http://schemas.microsoft.com/office/drawing/2014/main" id="{5D96E96B-6259-FF2B-898D-C0DB6A3D0E90}"/>
              </a:ext>
            </a:extLst>
          </p:cNvPr>
          <p:cNvCxnSpPr>
            <a:cxnSpLocks/>
          </p:cNvCxnSpPr>
          <p:nvPr/>
        </p:nvCxnSpPr>
        <p:spPr>
          <a:xfrm flipV="1">
            <a:off x="5935066"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8" name="Straight Connector 137">
            <a:extLst>
              <a:ext uri="{FF2B5EF4-FFF2-40B4-BE49-F238E27FC236}">
                <a16:creationId xmlns:a16="http://schemas.microsoft.com/office/drawing/2014/main" id="{C865B579-F321-1CF2-8D2B-410897ACACE5}"/>
              </a:ext>
            </a:extLst>
          </p:cNvPr>
          <p:cNvCxnSpPr>
            <a:cxnSpLocks/>
          </p:cNvCxnSpPr>
          <p:nvPr/>
        </p:nvCxnSpPr>
        <p:spPr>
          <a:xfrm flipV="1">
            <a:off x="6299175"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9" name="Straight Connector 138">
            <a:extLst>
              <a:ext uri="{FF2B5EF4-FFF2-40B4-BE49-F238E27FC236}">
                <a16:creationId xmlns:a16="http://schemas.microsoft.com/office/drawing/2014/main" id="{E759C308-0FAF-645C-BCED-29AD11286589}"/>
              </a:ext>
            </a:extLst>
          </p:cNvPr>
          <p:cNvCxnSpPr>
            <a:cxnSpLocks/>
          </p:cNvCxnSpPr>
          <p:nvPr/>
        </p:nvCxnSpPr>
        <p:spPr>
          <a:xfrm flipH="1">
            <a:off x="5959919"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57225781-FBC5-95C6-98E1-CF85C1B33EE6}"/>
              </a:ext>
            </a:extLst>
          </p:cNvPr>
          <p:cNvCxnSpPr>
            <a:cxnSpLocks/>
          </p:cNvCxnSpPr>
          <p:nvPr/>
        </p:nvCxnSpPr>
        <p:spPr>
          <a:xfrm flipV="1">
            <a:off x="5929011"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17D74BB7-C9E5-FECF-F5F9-2C7C2FC5A2FD}"/>
              </a:ext>
            </a:extLst>
          </p:cNvPr>
          <p:cNvCxnSpPr>
            <a:cxnSpLocks/>
          </p:cNvCxnSpPr>
          <p:nvPr/>
        </p:nvCxnSpPr>
        <p:spPr>
          <a:xfrm rot="16200000" flipV="1">
            <a:off x="6123512"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43" name="Oval 142">
            <a:extLst>
              <a:ext uri="{FF2B5EF4-FFF2-40B4-BE49-F238E27FC236}">
                <a16:creationId xmlns:a16="http://schemas.microsoft.com/office/drawing/2014/main" id="{3C1FB421-F880-BF62-D038-47B3D7E0C6AE}"/>
              </a:ext>
            </a:extLst>
          </p:cNvPr>
          <p:cNvSpPr/>
          <p:nvPr/>
        </p:nvSpPr>
        <p:spPr>
          <a:xfrm>
            <a:off x="6069914"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7298819B-8B21-D4F4-ADF4-F7B6C42130F5}"/>
              </a:ext>
            </a:extLst>
          </p:cNvPr>
          <p:cNvSpPr/>
          <p:nvPr/>
        </p:nvSpPr>
        <p:spPr>
          <a:xfrm>
            <a:off x="6457811"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C043BA34-32D0-1808-ECD5-514EB5C34BDC}"/>
              </a:ext>
            </a:extLst>
          </p:cNvPr>
          <p:cNvSpPr/>
          <p:nvPr/>
        </p:nvSpPr>
        <p:spPr>
          <a:xfrm>
            <a:off x="6824700"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BD1479AB-00B6-23EB-C32D-744BB1EA3106}"/>
              </a:ext>
            </a:extLst>
          </p:cNvPr>
          <p:cNvSpPr/>
          <p:nvPr/>
        </p:nvSpPr>
        <p:spPr>
          <a:xfrm>
            <a:off x="6457811"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47" name="Oval 146">
            <a:extLst>
              <a:ext uri="{FF2B5EF4-FFF2-40B4-BE49-F238E27FC236}">
                <a16:creationId xmlns:a16="http://schemas.microsoft.com/office/drawing/2014/main" id="{7792B757-3625-62DB-B0BC-4500C9240A41}"/>
              </a:ext>
            </a:extLst>
          </p:cNvPr>
          <p:cNvSpPr/>
          <p:nvPr/>
        </p:nvSpPr>
        <p:spPr>
          <a:xfrm>
            <a:off x="6821305"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50" name="Straight Connector 149">
            <a:extLst>
              <a:ext uri="{FF2B5EF4-FFF2-40B4-BE49-F238E27FC236}">
                <a16:creationId xmlns:a16="http://schemas.microsoft.com/office/drawing/2014/main" id="{CB9D6291-63B2-1DB9-C21E-B893FDF00CD7}"/>
              </a:ext>
            </a:extLst>
          </p:cNvPr>
          <p:cNvCxnSpPr>
            <a:cxnSpLocks/>
          </p:cNvCxnSpPr>
          <p:nvPr/>
        </p:nvCxnSpPr>
        <p:spPr>
          <a:xfrm flipV="1">
            <a:off x="6505659"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E864E4E7-C8B6-8C26-F9D4-852AE4BD3B51}"/>
              </a:ext>
            </a:extLst>
          </p:cNvPr>
          <p:cNvCxnSpPr>
            <a:cxnSpLocks/>
          </p:cNvCxnSpPr>
          <p:nvPr/>
        </p:nvCxnSpPr>
        <p:spPr>
          <a:xfrm flipV="1">
            <a:off x="6869768"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DE7B809C-D886-A235-E29D-3D5B1E780D67}"/>
              </a:ext>
            </a:extLst>
          </p:cNvPr>
          <p:cNvCxnSpPr>
            <a:cxnSpLocks/>
          </p:cNvCxnSpPr>
          <p:nvPr/>
        </p:nvCxnSpPr>
        <p:spPr>
          <a:xfrm flipH="1">
            <a:off x="6530512"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D4A51DBE-683A-691A-65E6-128F42B47D63}"/>
              </a:ext>
            </a:extLst>
          </p:cNvPr>
          <p:cNvCxnSpPr>
            <a:cxnSpLocks/>
          </p:cNvCxnSpPr>
          <p:nvPr/>
        </p:nvCxnSpPr>
        <p:spPr>
          <a:xfrm flipH="1">
            <a:off x="6495901"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5BB96F83-D1E8-A024-E120-0116C1E4281D}"/>
              </a:ext>
            </a:extLst>
          </p:cNvPr>
          <p:cNvCxnSpPr>
            <a:cxnSpLocks/>
          </p:cNvCxnSpPr>
          <p:nvPr/>
        </p:nvCxnSpPr>
        <p:spPr>
          <a:xfrm flipV="1">
            <a:off x="6499604"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41FE0CE7-C0B2-29D9-211F-C4B82614F657}"/>
              </a:ext>
            </a:extLst>
          </p:cNvPr>
          <p:cNvCxnSpPr>
            <a:cxnSpLocks/>
          </p:cNvCxnSpPr>
          <p:nvPr/>
        </p:nvCxnSpPr>
        <p:spPr>
          <a:xfrm rot="16200000" flipV="1">
            <a:off x="6694105"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56" name="Oval 155">
            <a:extLst>
              <a:ext uri="{FF2B5EF4-FFF2-40B4-BE49-F238E27FC236}">
                <a16:creationId xmlns:a16="http://schemas.microsoft.com/office/drawing/2014/main" id="{6FAAF2AC-748D-D62D-5E38-E18EEBC5CFFE}"/>
              </a:ext>
            </a:extLst>
          </p:cNvPr>
          <p:cNvSpPr/>
          <p:nvPr/>
        </p:nvSpPr>
        <p:spPr>
          <a:xfrm>
            <a:off x="6640507"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7FB0AC81-D743-4A97-FBD1-4D287D6CDF9C}"/>
              </a:ext>
            </a:extLst>
          </p:cNvPr>
          <p:cNvSpPr/>
          <p:nvPr/>
        </p:nvSpPr>
        <p:spPr>
          <a:xfrm>
            <a:off x="7028404"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FE5332D7-39DA-D13E-546D-1FCEFD136C43}"/>
              </a:ext>
            </a:extLst>
          </p:cNvPr>
          <p:cNvSpPr/>
          <p:nvPr/>
        </p:nvSpPr>
        <p:spPr>
          <a:xfrm>
            <a:off x="7395293"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A0F6884B-0A06-9575-B298-3CCEEB08E102}"/>
              </a:ext>
            </a:extLst>
          </p:cNvPr>
          <p:cNvSpPr/>
          <p:nvPr/>
        </p:nvSpPr>
        <p:spPr>
          <a:xfrm>
            <a:off x="7028404"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0" name="Oval 159">
            <a:extLst>
              <a:ext uri="{FF2B5EF4-FFF2-40B4-BE49-F238E27FC236}">
                <a16:creationId xmlns:a16="http://schemas.microsoft.com/office/drawing/2014/main" id="{B5F570D5-FC08-3D5B-1EE2-6F274468CBE4}"/>
              </a:ext>
            </a:extLst>
          </p:cNvPr>
          <p:cNvSpPr/>
          <p:nvPr/>
        </p:nvSpPr>
        <p:spPr>
          <a:xfrm>
            <a:off x="7391898"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61" name="Straight Connector 160">
            <a:extLst>
              <a:ext uri="{FF2B5EF4-FFF2-40B4-BE49-F238E27FC236}">
                <a16:creationId xmlns:a16="http://schemas.microsoft.com/office/drawing/2014/main" id="{07381E75-7C34-6950-9590-9DC6F4F3EDCF}"/>
              </a:ext>
            </a:extLst>
          </p:cNvPr>
          <p:cNvCxnSpPr>
            <a:cxnSpLocks/>
          </p:cNvCxnSpPr>
          <p:nvPr/>
        </p:nvCxnSpPr>
        <p:spPr>
          <a:xfrm flipV="1">
            <a:off x="7078642" y="2865587"/>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1B613E94-0651-1B19-7CCF-236261B3D468}"/>
              </a:ext>
            </a:extLst>
          </p:cNvPr>
          <p:cNvCxnSpPr>
            <a:cxnSpLocks/>
          </p:cNvCxnSpPr>
          <p:nvPr/>
        </p:nvCxnSpPr>
        <p:spPr>
          <a:xfrm rot="16200000" flipV="1">
            <a:off x="7066494"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C5C9AB81-99DC-B456-DBA0-30DF19DED3C4}"/>
              </a:ext>
            </a:extLst>
          </p:cNvPr>
          <p:cNvCxnSpPr>
            <a:cxnSpLocks/>
          </p:cNvCxnSpPr>
          <p:nvPr/>
        </p:nvCxnSpPr>
        <p:spPr>
          <a:xfrm flipV="1">
            <a:off x="7076252"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683E2C4B-B34E-5636-BED9-3E9D0AC02DDD}"/>
              </a:ext>
            </a:extLst>
          </p:cNvPr>
          <p:cNvCxnSpPr>
            <a:cxnSpLocks/>
          </p:cNvCxnSpPr>
          <p:nvPr/>
        </p:nvCxnSpPr>
        <p:spPr>
          <a:xfrm flipV="1">
            <a:off x="7440361"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99CE56B6-9EF1-D525-21A3-E6FFF275A4F3}"/>
              </a:ext>
            </a:extLst>
          </p:cNvPr>
          <p:cNvCxnSpPr>
            <a:cxnSpLocks/>
          </p:cNvCxnSpPr>
          <p:nvPr/>
        </p:nvCxnSpPr>
        <p:spPr>
          <a:xfrm flipH="1">
            <a:off x="7101105"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0AE2F513-B249-2370-264B-E595D00191FA}"/>
              </a:ext>
            </a:extLst>
          </p:cNvPr>
          <p:cNvCxnSpPr>
            <a:cxnSpLocks/>
          </p:cNvCxnSpPr>
          <p:nvPr/>
        </p:nvCxnSpPr>
        <p:spPr>
          <a:xfrm flipV="1">
            <a:off x="7070197"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8" name="Straight Connector 167">
            <a:extLst>
              <a:ext uri="{FF2B5EF4-FFF2-40B4-BE49-F238E27FC236}">
                <a16:creationId xmlns:a16="http://schemas.microsoft.com/office/drawing/2014/main" id="{4C7C464C-338E-0397-3407-C7F829547726}"/>
              </a:ext>
            </a:extLst>
          </p:cNvPr>
          <p:cNvCxnSpPr>
            <a:cxnSpLocks/>
          </p:cNvCxnSpPr>
          <p:nvPr/>
        </p:nvCxnSpPr>
        <p:spPr>
          <a:xfrm rot="16200000" flipV="1">
            <a:off x="7264698"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69" name="Oval 168">
            <a:extLst>
              <a:ext uri="{FF2B5EF4-FFF2-40B4-BE49-F238E27FC236}">
                <a16:creationId xmlns:a16="http://schemas.microsoft.com/office/drawing/2014/main" id="{18C57FE8-A459-4BC5-D9A9-EAAC90F9D7C0}"/>
              </a:ext>
            </a:extLst>
          </p:cNvPr>
          <p:cNvSpPr/>
          <p:nvPr/>
        </p:nvSpPr>
        <p:spPr>
          <a:xfrm>
            <a:off x="7211100"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172">
            <a:extLst>
              <a:ext uri="{FF2B5EF4-FFF2-40B4-BE49-F238E27FC236}">
                <a16:creationId xmlns:a16="http://schemas.microsoft.com/office/drawing/2014/main" id="{DBE27B40-33EE-751A-3A06-84FC31F4F3C2}"/>
              </a:ext>
            </a:extLst>
          </p:cNvPr>
          <p:cNvCxnSpPr>
            <a:cxnSpLocks/>
          </p:cNvCxnSpPr>
          <p:nvPr/>
        </p:nvCxnSpPr>
        <p:spPr>
          <a:xfrm>
            <a:off x="6114761" y="2695495"/>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37D35CE0-BE9D-8524-2B8F-56F3069F3744}"/>
              </a:ext>
            </a:extLst>
          </p:cNvPr>
          <p:cNvCxnSpPr>
            <a:cxnSpLocks/>
          </p:cNvCxnSpPr>
          <p:nvPr/>
        </p:nvCxnSpPr>
        <p:spPr>
          <a:xfrm flipV="1">
            <a:off x="6513931" y="2708198"/>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FD1AE621-938A-B7B5-64CF-0C8230795261}"/>
              </a:ext>
            </a:extLst>
          </p:cNvPr>
          <p:cNvCxnSpPr>
            <a:cxnSpLocks/>
          </p:cNvCxnSpPr>
          <p:nvPr/>
        </p:nvCxnSpPr>
        <p:spPr>
          <a:xfrm>
            <a:off x="6686196" y="2707439"/>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952929E-5F6C-3B88-0D73-D4F4426043CE}"/>
              </a:ext>
            </a:extLst>
          </p:cNvPr>
          <p:cNvCxnSpPr>
            <a:cxnSpLocks/>
          </p:cNvCxnSpPr>
          <p:nvPr/>
        </p:nvCxnSpPr>
        <p:spPr>
          <a:xfrm flipV="1">
            <a:off x="7080222" y="2691491"/>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EC30C0E2-99FF-4AF4-8F3A-28A5C23A5E63}"/>
              </a:ext>
            </a:extLst>
          </p:cNvPr>
          <p:cNvCxnSpPr>
            <a:cxnSpLocks/>
          </p:cNvCxnSpPr>
          <p:nvPr/>
        </p:nvCxnSpPr>
        <p:spPr>
          <a:xfrm>
            <a:off x="7252487" y="2690732"/>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944954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60446</TotalTime>
  <Words>2728</Words>
  <Application>Microsoft Macintosh PowerPoint</Application>
  <PresentationFormat>Widescreen</PresentationFormat>
  <Paragraphs>385</Paragraphs>
  <Slides>39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39</vt:i4>
      </vt:variant>
    </vt:vector>
  </HeadingPairs>
  <TitlesOfParts>
    <vt:vector size="48" baseType="lpstr">
      <vt:lpstr>Aptos</vt:lpstr>
      <vt:lpstr>Aptos Display</vt:lpstr>
      <vt:lpstr>Aptos Narrow</vt:lpstr>
      <vt:lpstr>Arial</vt:lpstr>
      <vt:lpstr>Consolas</vt:lpstr>
      <vt:lpstr>Monaco</vt:lpstr>
      <vt:lpstr>Times New Roman</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OOM-Fixed version of G2-AIMD Faster?</vt:lpstr>
      <vt:lpstr>Why G2-AIMD is Faster </vt:lpstr>
      <vt:lpstr>QC Task</vt:lpstr>
      <vt:lpstr>Task Expansion</vt:lpstr>
      <vt:lpstr>Scratch Buffers</vt:lpstr>
      <vt:lpstr>Handling Big Tasks</vt:lpstr>
      <vt:lpstr>PowerPoint Presentation</vt:lpstr>
      <vt:lpstr>PowerPoint Presentation</vt:lpstr>
      <vt:lpstr>PowerPoint Presentation</vt:lpstr>
      <vt:lpstr>Queries for SM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30</cp:revision>
  <dcterms:created xsi:type="dcterms:W3CDTF">2026-04-20T02:32:18Z</dcterms:created>
  <dcterms:modified xsi:type="dcterms:W3CDTF">2026-08-25T20:51:50Z</dcterms:modified>
</cp:coreProperties>
</file>