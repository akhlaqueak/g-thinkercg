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6" r:id="rId6"/>
    <p:sldId id="267" r:id="rId7"/>
    <p:sldId id="268" r:id="rId8"/>
    <p:sldId id="262" r:id="rId9"/>
    <p:sldId id="263" r:id="rId10"/>
    <p:sldId id="264" r:id="rId11"/>
    <p:sldId id="265" r:id="rId12"/>
    <p:sldId id="271" r:id="rId13"/>
    <p:sldId id="272" r:id="rId14"/>
    <p:sldId id="273" r:id="rId15"/>
    <p:sldId id="284" r:id="rId16"/>
    <p:sldId id="274" r:id="rId17"/>
    <p:sldId id="280" r:id="rId18"/>
    <p:sldId id="285" r:id="rId19"/>
    <p:sldId id="287" r:id="rId20"/>
    <p:sldId id="288" r:id="rId21"/>
    <p:sldId id="289" r:id="rId22"/>
    <p:sldId id="290" r:id="rId23"/>
    <p:sldId id="291" r:id="rId24"/>
    <p:sldId id="275" r:id="rId25"/>
    <p:sldId id="281" r:id="rId26"/>
    <p:sldId id="283" r:id="rId27"/>
    <p:sldId id="258" r:id="rId28"/>
    <p:sldId id="276" r:id="rId29"/>
    <p:sldId id="277" r:id="rId30"/>
    <p:sldId id="292" r:id="rId31"/>
    <p:sldId id="282" r:id="rId32"/>
    <p:sldId id="278" r:id="rId33"/>
    <p:sldId id="279" r:id="rId34"/>
    <p:sldId id="293" r:id="rId35"/>
    <p:sldId id="294" r:id="rId36"/>
    <p:sldId id="298"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925"/>
    <p:restoredTop sz="96512"/>
  </p:normalViewPr>
  <p:slideViewPr>
    <p:cSldViewPr snapToGrid="0">
      <p:cViewPr>
        <p:scale>
          <a:sx n="75" d="100"/>
          <a:sy n="75" d="100"/>
        </p:scale>
        <p:origin x="2608" y="1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6" name="Rectangle 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48B0D-AF69-96DE-08CC-BB0DE9568724}"/>
              </a:ext>
            </a:extLst>
          </p:cNvPr>
          <p:cNvSpPr>
            <a:spLocks noGrp="1"/>
          </p:cNvSpPr>
          <p:nvPr>
            <p:ph type="title"/>
          </p:nvPr>
        </p:nvSpPr>
        <p:spPr>
          <a:xfrm>
            <a:off x="1043631" y="809898"/>
            <a:ext cx="10173010" cy="1554480"/>
          </a:xfrm>
        </p:spPr>
        <p:txBody>
          <a:bodyPr anchor="ctr">
            <a:normAutofit/>
          </a:bodyPr>
          <a:lstStyle/>
          <a:p>
            <a:r>
              <a:rPr lang="en-US" sz="4800"/>
              <a:t>Results - MQC</a:t>
            </a:r>
            <a:endParaRPr lang="en-US" sz="4800" dirty="0"/>
          </a:p>
        </p:txBody>
      </p:sp>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6">
            <a:extLst>
              <a:ext uri="{FF2B5EF4-FFF2-40B4-BE49-F238E27FC236}">
                <a16:creationId xmlns:a16="http://schemas.microsoft.com/office/drawing/2014/main" id="{24799DED-BE63-3006-EA39-C74B5E392FA1}"/>
              </a:ext>
            </a:extLst>
          </p:cNvPr>
          <p:cNvGraphicFramePr>
            <a:graphicFrameLocks noGrp="1"/>
          </p:cNvGraphicFramePr>
          <p:nvPr>
            <p:ph idx="1"/>
            <p:extLst>
              <p:ext uri="{D42A27DB-BD31-4B8C-83A1-F6EECF244321}">
                <p14:modId xmlns:p14="http://schemas.microsoft.com/office/powerpoint/2010/main" val="2172828120"/>
              </p:ext>
            </p:extLst>
          </p:nvPr>
        </p:nvGraphicFramePr>
        <p:xfrm>
          <a:off x="904602" y="3063421"/>
          <a:ext cx="10378445" cy="3118103"/>
        </p:xfrm>
        <a:graphic>
          <a:graphicData uri="http://schemas.openxmlformats.org/drawingml/2006/table">
            <a:tbl>
              <a:tblPr/>
              <a:tblGrid>
                <a:gridCol w="1132150">
                  <a:extLst>
                    <a:ext uri="{9D8B030D-6E8A-4147-A177-3AD203B41FA5}">
                      <a16:colId xmlns:a16="http://schemas.microsoft.com/office/drawing/2014/main" val="2713897327"/>
                    </a:ext>
                  </a:extLst>
                </a:gridCol>
                <a:gridCol w="903797">
                  <a:extLst>
                    <a:ext uri="{9D8B030D-6E8A-4147-A177-3AD203B41FA5}">
                      <a16:colId xmlns:a16="http://schemas.microsoft.com/office/drawing/2014/main" val="2150304406"/>
                    </a:ext>
                  </a:extLst>
                </a:gridCol>
                <a:gridCol w="915816">
                  <a:extLst>
                    <a:ext uri="{9D8B030D-6E8A-4147-A177-3AD203B41FA5}">
                      <a16:colId xmlns:a16="http://schemas.microsoft.com/office/drawing/2014/main" val="2243225001"/>
                    </a:ext>
                  </a:extLst>
                </a:gridCol>
                <a:gridCol w="515197">
                  <a:extLst>
                    <a:ext uri="{9D8B030D-6E8A-4147-A177-3AD203B41FA5}">
                      <a16:colId xmlns:a16="http://schemas.microsoft.com/office/drawing/2014/main" val="2972052075"/>
                    </a:ext>
                  </a:extLst>
                </a:gridCol>
                <a:gridCol w="573286">
                  <a:extLst>
                    <a:ext uri="{9D8B030D-6E8A-4147-A177-3AD203B41FA5}">
                      <a16:colId xmlns:a16="http://schemas.microsoft.com/office/drawing/2014/main" val="1334432183"/>
                    </a:ext>
                  </a:extLst>
                </a:gridCol>
                <a:gridCol w="829683">
                  <a:extLst>
                    <a:ext uri="{9D8B030D-6E8A-4147-A177-3AD203B41FA5}">
                      <a16:colId xmlns:a16="http://schemas.microsoft.com/office/drawing/2014/main" val="2626238600"/>
                    </a:ext>
                  </a:extLst>
                </a:gridCol>
                <a:gridCol w="1102104">
                  <a:extLst>
                    <a:ext uri="{9D8B030D-6E8A-4147-A177-3AD203B41FA5}">
                      <a16:colId xmlns:a16="http://schemas.microsoft.com/office/drawing/2014/main" val="297224623"/>
                    </a:ext>
                  </a:extLst>
                </a:gridCol>
                <a:gridCol w="1290395">
                  <a:extLst>
                    <a:ext uri="{9D8B030D-6E8A-4147-A177-3AD203B41FA5}">
                      <a16:colId xmlns:a16="http://schemas.microsoft.com/office/drawing/2014/main" val="3163159027"/>
                    </a:ext>
                  </a:extLst>
                </a:gridCol>
                <a:gridCol w="931840">
                  <a:extLst>
                    <a:ext uri="{9D8B030D-6E8A-4147-A177-3AD203B41FA5}">
                      <a16:colId xmlns:a16="http://schemas.microsoft.com/office/drawing/2014/main" val="962728455"/>
                    </a:ext>
                  </a:extLst>
                </a:gridCol>
                <a:gridCol w="853720">
                  <a:extLst>
                    <a:ext uri="{9D8B030D-6E8A-4147-A177-3AD203B41FA5}">
                      <a16:colId xmlns:a16="http://schemas.microsoft.com/office/drawing/2014/main" val="3298218237"/>
                    </a:ext>
                  </a:extLst>
                </a:gridCol>
                <a:gridCol w="1330457">
                  <a:extLst>
                    <a:ext uri="{9D8B030D-6E8A-4147-A177-3AD203B41FA5}">
                      <a16:colId xmlns:a16="http://schemas.microsoft.com/office/drawing/2014/main" val="900833380"/>
                    </a:ext>
                  </a:extLst>
                </a:gridCol>
              </a:tblGrid>
              <a:tr h="365846">
                <a:tc>
                  <a:txBody>
                    <a:bodyPr/>
                    <a:lstStyle/>
                    <a:p>
                      <a:pPr algn="l" fontAlgn="b">
                        <a:buNone/>
                      </a:pPr>
                      <a:r>
                        <a:rPr lang="en-US" sz="2000" b="1" i="0" u="none" strike="noStrike" dirty="0">
                          <a:solidFill>
                            <a:srgbClr val="FFFFFF"/>
                          </a:solidFill>
                          <a:effectLst/>
                          <a:latin typeface="Aptos Narrow" panose="020B0004020202020204" pitchFamily="34" charset="0"/>
                        </a:rPr>
                        <a:t>dataset</a:t>
                      </a:r>
                      <a:endParaRPr lang="en-US" sz="2300" b="0" i="0" u="none" strike="noStrike" dirty="0">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V</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E</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θ</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γ</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#MQC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Gthinker</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DCFastQC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Quick+</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cu-QC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dirty="0">
                          <a:solidFill>
                            <a:srgbClr val="FFFFFF"/>
                          </a:solidFill>
                          <a:effectLst/>
                          <a:latin typeface="Aptos Narrow" panose="020B0004020202020204" pitchFamily="34" charset="0"/>
                        </a:rPr>
                        <a:t>#{</a:t>
                      </a:r>
                      <a:r>
                        <a:rPr lang="en-US" sz="2000" b="1" i="0" u="none" strike="noStrike">
                          <a:solidFill>
                            <a:srgbClr val="FFFFFF"/>
                          </a:solidFill>
                          <a:effectLst/>
                          <a:latin typeface="Aptos Narrow" panose="020B0004020202020204" pitchFamily="34" charset="0"/>
                        </a:rPr>
                        <a:t>cu-QC} </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extLst>
                  <a:ext uri="{0D108BD9-81ED-4DB2-BD59-A6C34878D82A}">
                    <a16:rowId xmlns:a16="http://schemas.microsoft.com/office/drawing/2014/main" val="3276527003"/>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ca-GrQc</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26,198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14,490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1,665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19</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2360659542"/>
                  </a:ext>
                </a:extLst>
              </a:tr>
              <a:tr h="673521">
                <a:tc>
                  <a:txBody>
                    <a:bodyPr/>
                    <a:lstStyle/>
                    <a:p>
                      <a:pPr algn="l" fontAlgn="b">
                        <a:buNone/>
                      </a:pPr>
                      <a:r>
                        <a:rPr lang="en-US" sz="2000" b="0" i="0" u="none" strike="noStrike">
                          <a:solidFill>
                            <a:srgbClr val="000000"/>
                          </a:solidFill>
                          <a:effectLst/>
                          <a:latin typeface="Aptos Narrow" panose="020B0004020202020204" pitchFamily="34" charset="0"/>
                        </a:rPr>
                        <a:t>condmat-dimacs</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39,577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175,691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7,222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432</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824619954"/>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condmat</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108,301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93,468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4,382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(4396)</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85510221"/>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enron</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36,692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183,831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200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9.7</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102.0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3.3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(200)</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141962238"/>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facebook</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4,039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88,234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104.2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282.9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352.1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 (</a:t>
                      </a:r>
                      <a:r>
                        <a:rPr lang="en-US" sz="1500" b="0" i="0" u="none" strike="noStrike" dirty="0">
                          <a:solidFill>
                            <a:srgbClr val="C00000"/>
                          </a:solidFill>
                          <a:effectLst/>
                          <a:latin typeface="Aptos Narrow" panose="020B0004020202020204" pitchFamily="34" charset="0"/>
                        </a:rPr>
                        <a:t>2)</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46766786"/>
                  </a:ext>
                </a:extLst>
              </a:tr>
            </a:tbl>
          </a:graphicData>
        </a:graphic>
      </p:graphicFrame>
    </p:spTree>
    <p:extLst>
      <p:ext uri="{BB962C8B-B14F-4D97-AF65-F5344CB8AC3E}">
        <p14:creationId xmlns:p14="http://schemas.microsoft.com/office/powerpoint/2010/main" val="2657338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19636"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868310211"/>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Tree>
    <p:extLst>
      <p:ext uri="{BB962C8B-B14F-4D97-AF65-F5344CB8AC3E}">
        <p14:creationId xmlns:p14="http://schemas.microsoft.com/office/powerpoint/2010/main" val="6985454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Tree>
    <p:extLst>
      <p:ext uri="{BB962C8B-B14F-4D97-AF65-F5344CB8AC3E}">
        <p14:creationId xmlns:p14="http://schemas.microsoft.com/office/powerpoint/2010/main" val="3476703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44550-FF5F-F747-4570-492D318B85FD}"/>
              </a:ext>
            </a:extLst>
          </p:cNvPr>
          <p:cNvSpPr>
            <a:spLocks noGrp="1"/>
          </p:cNvSpPr>
          <p:nvPr>
            <p:ph type="title"/>
          </p:nvPr>
        </p:nvSpPr>
        <p:spPr/>
        <p:txBody>
          <a:bodyPr/>
          <a:lstStyle/>
          <a:p>
            <a:r>
              <a:rPr lang="en-US" dirty="0"/>
              <a:t>Datasets for QC</a:t>
            </a:r>
          </a:p>
        </p:txBody>
      </p:sp>
      <p:sp>
        <p:nvSpPr>
          <p:cNvPr id="3" name="Content Placeholder 2">
            <a:extLst>
              <a:ext uri="{FF2B5EF4-FFF2-40B4-BE49-F238E27FC236}">
                <a16:creationId xmlns:a16="http://schemas.microsoft.com/office/drawing/2014/main" id="{0523F0E2-9CAB-CF89-EB93-6E044F6F9AB2}"/>
              </a:ext>
            </a:extLst>
          </p:cNvPr>
          <p:cNvSpPr>
            <a:spLocks noGrp="1"/>
          </p:cNvSpPr>
          <p:nvPr>
            <p:ph idx="1"/>
          </p:nvPr>
        </p:nvSpPr>
        <p:spPr/>
        <p:txBody>
          <a:bodyPr>
            <a:normAutofit fontScale="92500" lnSpcReduction="10000"/>
          </a:bodyPr>
          <a:lstStyle/>
          <a:p>
            <a:r>
              <a:rPr lang="en-US" dirty="0">
                <a:solidFill>
                  <a:srgbClr val="C00000"/>
                </a:solidFill>
              </a:rPr>
              <a:t>Make sure datasets in Table 1 run OOM. If not, then QC (with some parameters set) gives good results and can be added to Application 3. Kick out those in Table 1 that do not run OOM, but gives bad QC results.</a:t>
            </a:r>
          </a:p>
          <a:p>
            <a:endParaRPr lang="en-US" dirty="0">
              <a:solidFill>
                <a:schemeClr val="accent1"/>
              </a:solidFill>
            </a:endParaRPr>
          </a:p>
          <a:p>
            <a:r>
              <a:rPr lang="en-US" dirty="0"/>
              <a:t>All datasets in </a:t>
            </a:r>
            <a:r>
              <a:rPr lang="en-US" b="1" dirty="0"/>
              <a:t>Table 1</a:t>
            </a:r>
            <a:r>
              <a:rPr lang="en-US" dirty="0"/>
              <a:t> ran out of memory (OOM) when using the QC dataset format (2-hop neighbors). For many datasets, the output file could not even be generated because its size would reach terabytes (TBs). Only the following datasets could be generated:</a:t>
            </a:r>
          </a:p>
          <a:p>
            <a:pPr lvl="1"/>
            <a:r>
              <a:rPr lang="en-US" dirty="0">
                <a:solidFill>
                  <a:schemeClr val="accent1"/>
                </a:solidFill>
              </a:rPr>
              <a:t>310G </a:t>
            </a:r>
            <a:r>
              <a:rPr lang="en-US" dirty="0" err="1">
                <a:solidFill>
                  <a:schemeClr val="accent1"/>
                </a:solidFill>
              </a:rPr>
              <a:t>wikipedia_link_sh</a:t>
            </a:r>
            <a:endParaRPr lang="en-US" dirty="0">
              <a:solidFill>
                <a:schemeClr val="accent1"/>
              </a:solidFill>
            </a:endParaRPr>
          </a:p>
          <a:p>
            <a:pPr lvl="1"/>
            <a:r>
              <a:rPr lang="en-US" dirty="0">
                <a:solidFill>
                  <a:schemeClr val="accent1"/>
                </a:solidFill>
              </a:rPr>
              <a:t>623G </a:t>
            </a:r>
            <a:r>
              <a:rPr lang="en-US" dirty="0" err="1">
                <a:solidFill>
                  <a:schemeClr val="accent1"/>
                </a:solidFill>
              </a:rPr>
              <a:t>wikipedia_link_sr</a:t>
            </a:r>
            <a:endParaRPr lang="en-US" dirty="0">
              <a:solidFill>
                <a:schemeClr val="accent1"/>
              </a:solidFill>
            </a:endParaRPr>
          </a:p>
          <a:p>
            <a:pPr lvl="1"/>
            <a:r>
              <a:rPr lang="en-US" dirty="0">
                <a:solidFill>
                  <a:schemeClr val="accent1"/>
                </a:solidFill>
              </a:rPr>
              <a:t>1.8T </a:t>
            </a:r>
            <a:r>
              <a:rPr lang="en-US" dirty="0" err="1">
                <a:solidFill>
                  <a:schemeClr val="accent1"/>
                </a:solidFill>
              </a:rPr>
              <a:t>wikipedia_link_de</a:t>
            </a:r>
            <a:endParaRPr lang="en-US" dirty="0">
              <a:solidFill>
                <a:schemeClr val="accent1"/>
              </a:solidFill>
            </a:endParaRPr>
          </a:p>
          <a:p>
            <a:pPr lvl="1"/>
            <a:r>
              <a:rPr lang="en-US" dirty="0">
                <a:solidFill>
                  <a:schemeClr val="accent1"/>
                </a:solidFill>
              </a:rPr>
              <a:t>364G link-dynamic-</a:t>
            </a:r>
            <a:r>
              <a:rPr lang="en-US" dirty="0" err="1">
                <a:solidFill>
                  <a:schemeClr val="accent1"/>
                </a:solidFill>
              </a:rPr>
              <a:t>frwiki</a:t>
            </a:r>
            <a:endParaRPr lang="en-US" dirty="0">
              <a:solidFill>
                <a:schemeClr val="accent1"/>
              </a:solidFill>
            </a:endParaRPr>
          </a:p>
          <a:p>
            <a:endParaRPr lang="en-US" dirty="0"/>
          </a:p>
        </p:txBody>
      </p:sp>
    </p:spTree>
    <p:extLst>
      <p:ext uri="{BB962C8B-B14F-4D97-AF65-F5344CB8AC3E}">
        <p14:creationId xmlns:p14="http://schemas.microsoft.com/office/powerpoint/2010/main" val="175277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0E587-2136-19AE-BB08-5E7EA51DB52B}"/>
              </a:ext>
            </a:extLst>
          </p:cNvPr>
          <p:cNvSpPr>
            <a:spLocks noGrp="1"/>
          </p:cNvSpPr>
          <p:nvPr>
            <p:ph type="title"/>
          </p:nvPr>
        </p:nvSpPr>
        <p:spPr/>
        <p:txBody>
          <a:bodyPr/>
          <a:lstStyle/>
          <a:p>
            <a:r>
              <a:rPr lang="en-US" dirty="0"/>
              <a:t>Why OOM-Fixed version of G2-AIMD Faster?</a:t>
            </a:r>
          </a:p>
        </p:txBody>
      </p:sp>
      <p:graphicFrame>
        <p:nvGraphicFramePr>
          <p:cNvPr id="4" name="Content Placeholder 3">
            <a:extLst>
              <a:ext uri="{FF2B5EF4-FFF2-40B4-BE49-F238E27FC236}">
                <a16:creationId xmlns:a16="http://schemas.microsoft.com/office/drawing/2014/main" id="{29B8652E-5AB9-2D13-5A7B-FCD28C20BB62}"/>
              </a:ext>
            </a:extLst>
          </p:cNvPr>
          <p:cNvGraphicFramePr>
            <a:graphicFrameLocks noGrp="1"/>
          </p:cNvGraphicFramePr>
          <p:nvPr>
            <p:ph idx="1"/>
            <p:extLst>
              <p:ext uri="{D42A27DB-BD31-4B8C-83A1-F6EECF244321}">
                <p14:modId xmlns:p14="http://schemas.microsoft.com/office/powerpoint/2010/main" val="4254775755"/>
              </p:ext>
            </p:extLst>
          </p:nvPr>
        </p:nvGraphicFramePr>
        <p:xfrm>
          <a:off x="5390708" y="5600436"/>
          <a:ext cx="3728483" cy="892439"/>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713271382"/>
                    </a:ext>
                  </a:extLst>
                </a:gridCol>
                <a:gridCol w="1786270">
                  <a:extLst>
                    <a:ext uri="{9D8B030D-6E8A-4147-A177-3AD203B41FA5}">
                      <a16:colId xmlns:a16="http://schemas.microsoft.com/office/drawing/2014/main" val="4145633645"/>
                    </a:ext>
                  </a:extLst>
                </a:gridCol>
                <a:gridCol w="723013">
                  <a:extLst>
                    <a:ext uri="{9D8B030D-6E8A-4147-A177-3AD203B41FA5}">
                      <a16:colId xmlns:a16="http://schemas.microsoft.com/office/drawing/2014/main" val="2927860622"/>
                    </a:ext>
                  </a:extLst>
                </a:gridCol>
              </a:tblGrid>
              <a:tr h="320017">
                <a:tc>
                  <a:txBody>
                    <a:bodyPr/>
                    <a:lstStyle/>
                    <a:p>
                      <a:pPr algn="l" fontAlgn="b">
                        <a:buNone/>
                      </a:pPr>
                      <a:r>
                        <a:rPr lang="en-US" sz="1300" b="1" u="none" strike="noStrike" dirty="0">
                          <a:effectLst/>
                        </a:rPr>
                        <a:t>Dataset</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 (OOM-Fixed)</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a:t>
                      </a:r>
                      <a:endParaRPr lang="en-US" sz="1300" b="1" i="0" u="none" strike="noStrike" dirty="0">
                        <a:solidFill>
                          <a:srgbClr val="FFFFFF"/>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2770345006"/>
                  </a:ext>
                </a:extLst>
              </a:tr>
              <a:tr h="286211">
                <a:tc>
                  <a:txBody>
                    <a:bodyPr/>
                    <a:lstStyle/>
                    <a:p>
                      <a:pPr algn="l" fontAlgn="b">
                        <a:buNone/>
                      </a:pPr>
                      <a:r>
                        <a:rPr lang="en-US" sz="1300" u="none" strike="noStrike">
                          <a:effectLst/>
                        </a:rPr>
                        <a:t>wikipedia_link_it</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33.91</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33.8</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1645920416"/>
                  </a:ext>
                </a:extLst>
              </a:tr>
              <a:tr h="286211">
                <a:tc>
                  <a:txBody>
                    <a:bodyPr/>
                    <a:lstStyle/>
                    <a:p>
                      <a:pPr algn="l" fontAlgn="b">
                        <a:buNone/>
                      </a:pPr>
                      <a:r>
                        <a:rPr lang="en-US" sz="1300" u="none" strike="noStrike">
                          <a:effectLst/>
                        </a:rPr>
                        <a:t>sx-stackoverflow</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21.52</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71.7</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971046385"/>
                  </a:ext>
                </a:extLst>
              </a:tr>
            </a:tbl>
          </a:graphicData>
        </a:graphic>
      </p:graphicFrame>
      <p:sp>
        <p:nvSpPr>
          <p:cNvPr id="5" name="Content Placeholder 2">
            <a:extLst>
              <a:ext uri="{FF2B5EF4-FFF2-40B4-BE49-F238E27FC236}">
                <a16:creationId xmlns:a16="http://schemas.microsoft.com/office/drawing/2014/main" id="{5FD46B0C-AED5-0170-9290-B59A9BC46EAD}"/>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Both versions stop expanding when append can no longer safely write.</a:t>
            </a:r>
          </a:p>
          <a:p>
            <a:pPr marL="0" indent="0">
              <a:buNone/>
            </a:pPr>
            <a:r>
              <a:rPr lang="en-US" dirty="0"/>
              <a:t>Difference:</a:t>
            </a:r>
          </a:p>
          <a:p>
            <a:pPr lvl="1"/>
            <a:r>
              <a:rPr lang="en-US" dirty="0"/>
              <a:t>G2-AIMD: overflow is set early, after a threshold, e.g. 90%.</a:t>
            </a:r>
          </a:p>
          <a:p>
            <a:pPr lvl="1"/>
            <a:r>
              <a:rPr lang="en-US" dirty="0"/>
              <a:t>G2-AIMD OOM-Fixed: overflow is set only when append returns an invalid write location.</a:t>
            </a:r>
          </a:p>
          <a:p>
            <a:pPr marL="0" indent="0">
              <a:buNone/>
            </a:pPr>
            <a:r>
              <a:rPr lang="en-US" dirty="0"/>
              <a:t>So OOM-Fixed may avoid premature failed iterations, making it faster.</a:t>
            </a:r>
          </a:p>
        </p:txBody>
      </p:sp>
    </p:spTree>
    <p:extLst>
      <p:ext uri="{BB962C8B-B14F-4D97-AF65-F5344CB8AC3E}">
        <p14:creationId xmlns:p14="http://schemas.microsoft.com/office/powerpoint/2010/main" val="2060020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a:bodyPr>
          <a:lstStyle/>
          <a:p>
            <a:pPr marL="0" indent="0">
              <a:buNone/>
            </a:pPr>
            <a:r>
              <a:rPr lang="en-US" dirty="0"/>
              <a:t>In some cases, G2-AIMD outperforms GPU-hybrid even when neither system overflows.</a:t>
            </a:r>
          </a:p>
          <a:p>
            <a:pPr lvl="0"/>
            <a:r>
              <a:rPr lang="en-US" dirty="0"/>
              <a:t>G2-AIMD follows a simpler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7708261" y="427741"/>
            <a:ext cx="4285265" cy="1200329"/>
          </a:xfrm>
          <a:prstGeom prst="rect">
            <a:avLst/>
          </a:prstGeom>
          <a:noFill/>
        </p:spPr>
        <p:txBody>
          <a:bodyPr wrap="square" rtlCol="0">
            <a:spAutoFit/>
          </a:bodyPr>
          <a:lstStyle/>
          <a:p>
            <a:r>
              <a:rPr lang="en-US" b="1" dirty="0">
                <a:solidFill>
                  <a:srgbClr val="C00000"/>
                </a:solidFill>
              </a:rPr>
              <a:t>Not a valid statement!!</a:t>
            </a:r>
          </a:p>
          <a:p>
            <a:r>
              <a:rPr lang="en-US" b="1" dirty="0">
                <a:solidFill>
                  <a:srgbClr val="C00000"/>
                </a:solidFill>
              </a:rPr>
              <a:t>Checked with a simplified system where only device buffer is used and there was no overflow for dataset</a:t>
            </a:r>
          </a:p>
        </p:txBody>
      </p:sp>
    </p:spTree>
    <p:extLst>
      <p:ext uri="{BB962C8B-B14F-4D97-AF65-F5344CB8AC3E}">
        <p14:creationId xmlns:p14="http://schemas.microsoft.com/office/powerpoint/2010/main" val="70167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 or H.</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B16930B-40FA-AC1C-60D8-3E3E52F28092}"/>
              </a:ext>
            </a:extLst>
          </p:cNvPr>
          <p:cNvSpPr txBox="1"/>
          <p:nvPr/>
        </p:nvSpPr>
        <p:spPr>
          <a:xfrm>
            <a:off x="170543" y="1701209"/>
            <a:ext cx="3551274" cy="923330"/>
          </a:xfrm>
          <a:prstGeom prst="rect">
            <a:avLst/>
          </a:prstGeom>
          <a:noFill/>
        </p:spPr>
        <p:txBody>
          <a:bodyPr wrap="square" rtlCol="0">
            <a:spAutoFit/>
          </a:bodyPr>
          <a:lstStyle/>
          <a:p>
            <a:r>
              <a:rPr lang="en-US" dirty="0"/>
              <a:t>now, the warps are not reading directly from host, rather this is copied in bulk. </a:t>
            </a:r>
          </a:p>
        </p:txBody>
      </p:sp>
      <p:pic>
        <p:nvPicPr>
          <p:cNvPr id="3" name="Picture 2">
            <a:extLst>
              <a:ext uri="{FF2B5EF4-FFF2-40B4-BE49-F238E27FC236}">
                <a16:creationId xmlns:a16="http://schemas.microsoft.com/office/drawing/2014/main" id="{4620263E-4E94-789C-36F3-9EF57605F190}"/>
              </a:ext>
            </a:extLst>
          </p:cNvPr>
          <p:cNvPicPr>
            <a:picLocks noChangeAspect="1"/>
          </p:cNvPicPr>
          <p:nvPr/>
        </p:nvPicPr>
        <p:blipFill>
          <a:blip r:embed="rId2"/>
          <a:stretch>
            <a:fillRect/>
          </a:stretch>
        </p:blipFill>
        <p:spPr>
          <a:xfrm>
            <a:off x="5328122" y="-60960"/>
            <a:ext cx="6464808" cy="6858000"/>
          </a:xfrm>
          <a:prstGeom prst="rect">
            <a:avLst/>
          </a:prstGeom>
        </p:spPr>
      </p:pic>
      <p:sp>
        <p:nvSpPr>
          <p:cNvPr id="8" name="Cross 7">
            <a:extLst>
              <a:ext uri="{FF2B5EF4-FFF2-40B4-BE49-F238E27FC236}">
                <a16:creationId xmlns:a16="http://schemas.microsoft.com/office/drawing/2014/main" id="{E3DAC028-3F4B-2201-A02B-2A35ACC1D474}"/>
              </a:ext>
            </a:extLst>
          </p:cNvPr>
          <p:cNvSpPr/>
          <p:nvPr/>
        </p:nvSpPr>
        <p:spPr>
          <a:xfrm rot="2703491">
            <a:off x="6810104" y="3560663"/>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ross 8">
            <a:extLst>
              <a:ext uri="{FF2B5EF4-FFF2-40B4-BE49-F238E27FC236}">
                <a16:creationId xmlns:a16="http://schemas.microsoft.com/office/drawing/2014/main" id="{0CB1D70A-3D66-DFA0-6A01-A6FDAE079F23}"/>
              </a:ext>
            </a:extLst>
          </p:cNvPr>
          <p:cNvSpPr/>
          <p:nvPr/>
        </p:nvSpPr>
        <p:spPr>
          <a:xfrm rot="2703491">
            <a:off x="9261567" y="540252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11649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33E2C-E62C-544D-DAD5-404923F4500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1155FC0-06CE-0A69-D19B-D6E8A6BAAC54}"/>
              </a:ext>
            </a:extLst>
          </p:cNvPr>
          <p:cNvSpPr txBox="1"/>
          <p:nvPr/>
        </p:nvSpPr>
        <p:spPr>
          <a:xfrm>
            <a:off x="7418404" y="1313712"/>
            <a:ext cx="4773596" cy="3693319"/>
          </a:xfrm>
          <a:prstGeom prst="rect">
            <a:avLst/>
          </a:prstGeom>
          <a:noFill/>
        </p:spPr>
        <p:txBody>
          <a:bodyPr wrap="square" rtlCol="0">
            <a:spAutoFit/>
          </a:bodyPr>
          <a:lstStyle/>
          <a:p>
            <a:r>
              <a:rPr lang="en-US" dirty="0"/>
              <a:t>Previously, it was [start, mid, end) because mid was used in SM app to store prefix information.</a:t>
            </a:r>
          </a:p>
          <a:p>
            <a:endParaRPr lang="en-US" dirty="0"/>
          </a:p>
          <a:p>
            <a:endParaRPr lang="en-US" dirty="0"/>
          </a:p>
          <a:p>
            <a:r>
              <a:rPr lang="en-US" dirty="0"/>
              <a:t>Now the offsets are truly [start, end). </a:t>
            </a:r>
          </a:p>
          <a:p>
            <a:r>
              <a:rPr lang="en-US" dirty="0"/>
              <a:t>The mid is moved to subgraph. The first element of subgraph is the mid point, e.g.:</a:t>
            </a:r>
          </a:p>
          <a:p>
            <a:endParaRPr lang="en-US" dirty="0"/>
          </a:p>
          <a:p>
            <a:r>
              <a:rPr lang="en-US" dirty="0"/>
              <a:t>[2, s1, s2, c1, c2, c3, … ]   </a:t>
            </a:r>
          </a:p>
          <a:p>
            <a:endParaRPr lang="en-US" dirty="0"/>
          </a:p>
          <a:p>
            <a:r>
              <a:rPr lang="en-US" dirty="0"/>
              <a:t>indicates 2 elements (s1, s2) are the partial match, and remaining are the candidates</a:t>
            </a:r>
          </a:p>
        </p:txBody>
      </p:sp>
      <p:pic>
        <p:nvPicPr>
          <p:cNvPr id="4" name="Picture 3">
            <a:extLst>
              <a:ext uri="{FF2B5EF4-FFF2-40B4-BE49-F238E27FC236}">
                <a16:creationId xmlns:a16="http://schemas.microsoft.com/office/drawing/2014/main" id="{07E94065-4C0F-E50A-B72E-C3A7C8BB97FA}"/>
              </a:ext>
            </a:extLst>
          </p:cNvPr>
          <p:cNvPicPr>
            <a:picLocks noChangeAspect="1"/>
          </p:cNvPicPr>
          <p:nvPr/>
        </p:nvPicPr>
        <p:blipFill>
          <a:blip r:embed="rId2"/>
          <a:stretch>
            <a:fillRect/>
          </a:stretch>
        </p:blipFill>
        <p:spPr>
          <a:xfrm>
            <a:off x="677745" y="-139337"/>
            <a:ext cx="6464808" cy="6858000"/>
          </a:xfrm>
          <a:prstGeom prst="rect">
            <a:avLst/>
          </a:prstGeom>
        </p:spPr>
      </p:pic>
      <p:sp>
        <p:nvSpPr>
          <p:cNvPr id="7" name="Cross 6">
            <a:extLst>
              <a:ext uri="{FF2B5EF4-FFF2-40B4-BE49-F238E27FC236}">
                <a16:creationId xmlns:a16="http://schemas.microsoft.com/office/drawing/2014/main" id="{45D8CFE2-0A6E-B812-BE90-90B3FD44E966}"/>
              </a:ext>
            </a:extLst>
          </p:cNvPr>
          <p:cNvSpPr/>
          <p:nvPr/>
        </p:nvSpPr>
        <p:spPr>
          <a:xfrm rot="2703491">
            <a:off x="2159727" y="348228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ross 7">
            <a:extLst>
              <a:ext uri="{FF2B5EF4-FFF2-40B4-BE49-F238E27FC236}">
                <a16:creationId xmlns:a16="http://schemas.microsoft.com/office/drawing/2014/main" id="{10BBB2EB-BFE8-D1DC-28A3-73FC310C1949}"/>
              </a:ext>
            </a:extLst>
          </p:cNvPr>
          <p:cNvSpPr/>
          <p:nvPr/>
        </p:nvSpPr>
        <p:spPr>
          <a:xfrm rot="2703491">
            <a:off x="4611190" y="5324149"/>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A2CD0DFE-4C14-2009-B874-CD411A72A9A5}"/>
              </a:ext>
            </a:extLst>
          </p:cNvPr>
          <p:cNvCxnSpPr/>
          <p:nvPr/>
        </p:nvCxnSpPr>
        <p:spPr>
          <a:xfrm flipV="1">
            <a:off x="2477589" y="1676400"/>
            <a:ext cx="4940815" cy="351608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46531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9B77-8C9A-8E46-9A65-4487986EB18A}"/>
              </a:ext>
            </a:extLst>
          </p:cNvPr>
          <p:cNvSpPr>
            <a:spLocks noGrp="1"/>
          </p:cNvSpPr>
          <p:nvPr>
            <p:ph type="title"/>
          </p:nvPr>
        </p:nvSpPr>
        <p:spPr/>
        <p:txBody>
          <a:bodyPr/>
          <a:lstStyle/>
          <a:p>
            <a:r>
              <a:rPr lang="en-US" dirty="0"/>
              <a:t>Queries for SM</a:t>
            </a:r>
          </a:p>
        </p:txBody>
      </p:sp>
      <p:pic>
        <p:nvPicPr>
          <p:cNvPr id="4" name="Content Placeholder 4">
            <a:extLst>
              <a:ext uri="{FF2B5EF4-FFF2-40B4-BE49-F238E27FC236}">
                <a16:creationId xmlns:a16="http://schemas.microsoft.com/office/drawing/2014/main" id="{753A3F1A-171A-5C1F-13B0-006D11EBDD48}"/>
              </a:ext>
            </a:extLst>
          </p:cNvPr>
          <p:cNvPicPr>
            <a:picLocks noChangeAspect="1"/>
          </p:cNvPicPr>
          <p:nvPr/>
        </p:nvPicPr>
        <p:blipFill>
          <a:blip r:embed="rId2"/>
          <a:srcRect l="19060" t="6356" r="70586" b="61579"/>
          <a:stretch>
            <a:fillRect/>
          </a:stretch>
        </p:blipFill>
        <p:spPr>
          <a:xfrm>
            <a:off x="4113936" y="3145257"/>
            <a:ext cx="890650" cy="984147"/>
          </a:xfrm>
          <a:prstGeom prst="rect">
            <a:avLst/>
          </a:prstGeom>
        </p:spPr>
      </p:pic>
      <p:pic>
        <p:nvPicPr>
          <p:cNvPr id="5" name="Content Placeholder 4">
            <a:extLst>
              <a:ext uri="{FF2B5EF4-FFF2-40B4-BE49-F238E27FC236}">
                <a16:creationId xmlns:a16="http://schemas.microsoft.com/office/drawing/2014/main" id="{12A91F5D-C9CA-0060-71B0-CC5CD2D6BD3A}"/>
              </a:ext>
            </a:extLst>
          </p:cNvPr>
          <p:cNvPicPr>
            <a:picLocks noChangeAspect="1"/>
          </p:cNvPicPr>
          <p:nvPr/>
        </p:nvPicPr>
        <p:blipFill>
          <a:blip r:embed="rId2"/>
          <a:srcRect l="59111" t="6811" r="30535" b="61124"/>
          <a:stretch>
            <a:fillRect/>
          </a:stretch>
        </p:blipFill>
        <p:spPr>
          <a:xfrm>
            <a:off x="5102833" y="3159252"/>
            <a:ext cx="890650" cy="984147"/>
          </a:xfrm>
          <a:prstGeom prst="rect">
            <a:avLst/>
          </a:prstGeom>
        </p:spPr>
      </p:pic>
      <p:pic>
        <p:nvPicPr>
          <p:cNvPr id="6" name="Content Placeholder 4">
            <a:extLst>
              <a:ext uri="{FF2B5EF4-FFF2-40B4-BE49-F238E27FC236}">
                <a16:creationId xmlns:a16="http://schemas.microsoft.com/office/drawing/2014/main" id="{E1162B88-0B2D-A7EC-3EE8-DA86CD7BCD88}"/>
              </a:ext>
            </a:extLst>
          </p:cNvPr>
          <p:cNvPicPr>
            <a:picLocks noChangeAspect="1"/>
          </p:cNvPicPr>
          <p:nvPr/>
        </p:nvPicPr>
        <p:blipFill>
          <a:blip r:embed="rId2"/>
          <a:srcRect l="85899" t="6633" r="3747" b="61302"/>
          <a:stretch>
            <a:fillRect/>
          </a:stretch>
        </p:blipFill>
        <p:spPr>
          <a:xfrm>
            <a:off x="6091730" y="3154584"/>
            <a:ext cx="890650" cy="984147"/>
          </a:xfrm>
          <a:prstGeom prst="rect">
            <a:avLst/>
          </a:prstGeom>
        </p:spPr>
      </p:pic>
      <p:pic>
        <p:nvPicPr>
          <p:cNvPr id="7" name="Content Placeholder 4">
            <a:extLst>
              <a:ext uri="{FF2B5EF4-FFF2-40B4-BE49-F238E27FC236}">
                <a16:creationId xmlns:a16="http://schemas.microsoft.com/office/drawing/2014/main" id="{D37F5E7B-6B7A-0C83-9510-748ACFFBCF42}"/>
              </a:ext>
            </a:extLst>
          </p:cNvPr>
          <p:cNvPicPr>
            <a:picLocks noChangeAspect="1"/>
          </p:cNvPicPr>
          <p:nvPr/>
        </p:nvPicPr>
        <p:blipFill>
          <a:blip r:embed="rId2"/>
          <a:srcRect l="5544" t="50549" r="84102" b="17386"/>
          <a:stretch>
            <a:fillRect/>
          </a:stretch>
        </p:blipFill>
        <p:spPr>
          <a:xfrm>
            <a:off x="7080627" y="3131260"/>
            <a:ext cx="890650" cy="984147"/>
          </a:xfrm>
          <a:prstGeom prst="rect">
            <a:avLst/>
          </a:prstGeom>
        </p:spPr>
      </p:pic>
      <p:pic>
        <p:nvPicPr>
          <p:cNvPr id="8" name="Content Placeholder 4">
            <a:extLst>
              <a:ext uri="{FF2B5EF4-FFF2-40B4-BE49-F238E27FC236}">
                <a16:creationId xmlns:a16="http://schemas.microsoft.com/office/drawing/2014/main" id="{744AC723-38A5-18DF-3291-12A6A38B65B4}"/>
              </a:ext>
            </a:extLst>
          </p:cNvPr>
          <p:cNvPicPr>
            <a:picLocks noChangeAspect="1"/>
          </p:cNvPicPr>
          <p:nvPr/>
        </p:nvPicPr>
        <p:blipFill>
          <a:blip r:embed="rId2"/>
          <a:srcRect l="19009" t="50000" r="70637" b="17935"/>
          <a:stretch>
            <a:fillRect/>
          </a:stretch>
        </p:blipFill>
        <p:spPr>
          <a:xfrm>
            <a:off x="8069524" y="3117264"/>
            <a:ext cx="890650" cy="984147"/>
          </a:xfrm>
          <a:prstGeom prst="rect">
            <a:avLst/>
          </a:prstGeom>
        </p:spPr>
      </p:pic>
      <p:sp>
        <p:nvSpPr>
          <p:cNvPr id="9" name="TextBox 8">
            <a:extLst>
              <a:ext uri="{FF2B5EF4-FFF2-40B4-BE49-F238E27FC236}">
                <a16:creationId xmlns:a16="http://schemas.microsoft.com/office/drawing/2014/main" id="{BE94B52E-4BEC-396D-590F-3ADBC66076AE}"/>
              </a:ext>
            </a:extLst>
          </p:cNvPr>
          <p:cNvSpPr txBox="1"/>
          <p:nvPr/>
        </p:nvSpPr>
        <p:spPr>
          <a:xfrm>
            <a:off x="4338688" y="4092789"/>
            <a:ext cx="441146" cy="369332"/>
          </a:xfrm>
          <a:prstGeom prst="rect">
            <a:avLst/>
          </a:prstGeom>
          <a:noFill/>
        </p:spPr>
        <p:txBody>
          <a:bodyPr wrap="none" rtlCol="0">
            <a:spAutoFit/>
          </a:bodyPr>
          <a:lstStyle/>
          <a:p>
            <a:r>
              <a:rPr lang="en-US" dirty="0">
                <a:latin typeface="Times New Roman" panose="02020603050405020304" pitchFamily="18" charset="0"/>
                <a:cs typeface="Times New Roman" panose="02020603050405020304" pitchFamily="18" charset="0"/>
              </a:rPr>
              <a:t>P1</a:t>
            </a:r>
          </a:p>
        </p:txBody>
      </p:sp>
      <p:sp>
        <p:nvSpPr>
          <p:cNvPr id="10" name="TextBox 9">
            <a:extLst>
              <a:ext uri="{FF2B5EF4-FFF2-40B4-BE49-F238E27FC236}">
                <a16:creationId xmlns:a16="http://schemas.microsoft.com/office/drawing/2014/main" id="{F470D6FC-BD7E-A34C-741C-C654C438331C}"/>
              </a:ext>
            </a:extLst>
          </p:cNvPr>
          <p:cNvSpPr txBox="1"/>
          <p:nvPr/>
        </p:nvSpPr>
        <p:spPr>
          <a:xfrm>
            <a:off x="5333997" y="4092789"/>
            <a:ext cx="428322" cy="369332"/>
          </a:xfrm>
          <a:prstGeom prst="rect">
            <a:avLst/>
          </a:prstGeom>
          <a:noFill/>
        </p:spPr>
        <p:txBody>
          <a:bodyPr wrap="none" rtlCol="0">
            <a:spAutoFit/>
          </a:bodyPr>
          <a:lstStyle/>
          <a:p>
            <a:r>
              <a:rPr lang="en-US" dirty="0">
                <a:latin typeface="Times New Roman" panose="02020603050405020304" pitchFamily="18" charset="0"/>
                <a:cs typeface="Times New Roman" panose="02020603050405020304" pitchFamily="18" charset="0"/>
              </a:rPr>
              <a:t>P2</a:t>
            </a:r>
          </a:p>
        </p:txBody>
      </p:sp>
      <p:sp>
        <p:nvSpPr>
          <p:cNvPr id="11" name="TextBox 10">
            <a:extLst>
              <a:ext uri="{FF2B5EF4-FFF2-40B4-BE49-F238E27FC236}">
                <a16:creationId xmlns:a16="http://schemas.microsoft.com/office/drawing/2014/main" id="{5B90695E-AA2E-5782-6F26-85E755E9D93A}"/>
              </a:ext>
            </a:extLst>
          </p:cNvPr>
          <p:cNvSpPr txBox="1"/>
          <p:nvPr/>
        </p:nvSpPr>
        <p:spPr>
          <a:xfrm>
            <a:off x="6322894" y="4092789"/>
            <a:ext cx="428322" cy="369332"/>
          </a:xfrm>
          <a:prstGeom prst="rect">
            <a:avLst/>
          </a:prstGeom>
          <a:noFill/>
        </p:spPr>
        <p:txBody>
          <a:bodyPr wrap="none" rtlCol="0">
            <a:spAutoFit/>
          </a:bodyPr>
          <a:lstStyle/>
          <a:p>
            <a:r>
              <a:rPr lang="en-US" dirty="0">
                <a:latin typeface="Times New Roman" panose="02020603050405020304" pitchFamily="18" charset="0"/>
                <a:cs typeface="Times New Roman" panose="02020603050405020304" pitchFamily="18" charset="0"/>
              </a:rPr>
              <a:t>P3</a:t>
            </a:r>
          </a:p>
        </p:txBody>
      </p:sp>
      <p:sp>
        <p:nvSpPr>
          <p:cNvPr id="12" name="TextBox 11">
            <a:extLst>
              <a:ext uri="{FF2B5EF4-FFF2-40B4-BE49-F238E27FC236}">
                <a16:creationId xmlns:a16="http://schemas.microsoft.com/office/drawing/2014/main" id="{094E7582-6303-F225-2540-A985CBA1427D}"/>
              </a:ext>
            </a:extLst>
          </p:cNvPr>
          <p:cNvSpPr txBox="1"/>
          <p:nvPr/>
        </p:nvSpPr>
        <p:spPr>
          <a:xfrm>
            <a:off x="7311791" y="4092789"/>
            <a:ext cx="428322" cy="369332"/>
          </a:xfrm>
          <a:prstGeom prst="rect">
            <a:avLst/>
          </a:prstGeom>
          <a:noFill/>
        </p:spPr>
        <p:txBody>
          <a:bodyPr wrap="none" rtlCol="0">
            <a:spAutoFit/>
          </a:bodyPr>
          <a:lstStyle/>
          <a:p>
            <a:r>
              <a:rPr lang="en-US" dirty="0">
                <a:latin typeface="Times New Roman" panose="02020603050405020304" pitchFamily="18" charset="0"/>
                <a:cs typeface="Times New Roman" panose="02020603050405020304" pitchFamily="18" charset="0"/>
              </a:rPr>
              <a:t>P4</a:t>
            </a:r>
          </a:p>
        </p:txBody>
      </p:sp>
      <p:sp>
        <p:nvSpPr>
          <p:cNvPr id="13" name="TextBox 12">
            <a:extLst>
              <a:ext uri="{FF2B5EF4-FFF2-40B4-BE49-F238E27FC236}">
                <a16:creationId xmlns:a16="http://schemas.microsoft.com/office/drawing/2014/main" id="{3512F24E-735C-DA27-65D0-DB68766F1953}"/>
              </a:ext>
            </a:extLst>
          </p:cNvPr>
          <p:cNvSpPr txBox="1"/>
          <p:nvPr/>
        </p:nvSpPr>
        <p:spPr>
          <a:xfrm>
            <a:off x="8300688" y="4092789"/>
            <a:ext cx="428322" cy="369332"/>
          </a:xfrm>
          <a:prstGeom prst="rect">
            <a:avLst/>
          </a:prstGeom>
          <a:noFill/>
        </p:spPr>
        <p:txBody>
          <a:bodyPr wrap="none" rtlCol="0">
            <a:spAutoFit/>
          </a:bodyPr>
          <a:lstStyle/>
          <a:p>
            <a:r>
              <a:rPr lang="en-US" dirty="0">
                <a:latin typeface="Times New Roman" panose="02020603050405020304" pitchFamily="18" charset="0"/>
                <a:cs typeface="Times New Roman" panose="02020603050405020304" pitchFamily="18" charset="0"/>
              </a:rPr>
              <a:t>P5</a:t>
            </a:r>
          </a:p>
        </p:txBody>
      </p:sp>
    </p:spTree>
    <p:extLst>
      <p:ext uri="{BB962C8B-B14F-4D97-AF65-F5344CB8AC3E}">
        <p14:creationId xmlns:p14="http://schemas.microsoft.com/office/powerpoint/2010/main" val="22944954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54606</TotalTime>
  <Words>2645</Words>
  <Application>Microsoft Macintosh PowerPoint</Application>
  <PresentationFormat>Widescreen</PresentationFormat>
  <Paragraphs>377</Paragraphs>
  <Slides>36</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Aptos</vt:lpstr>
      <vt:lpstr>Aptos Display</vt:lpstr>
      <vt:lpstr>Aptos Narrow</vt:lpstr>
      <vt:lpstr>Arial</vt:lpstr>
      <vt:lpstr>Consolas</vt:lpstr>
      <vt:lpstr>Monaco</vt:lpstr>
      <vt:lpstr>Times New Roman</vt:lpstr>
      <vt:lpstr>Wingdings</vt:lpstr>
      <vt:lpstr>Office Theme</vt:lpstr>
      <vt:lpstr>Managed Memory Spill Buffer</vt:lpstr>
      <vt:lpstr>Host Resident Buffer</vt:lpstr>
      <vt:lpstr>Quasi Clique Application</vt:lpstr>
      <vt:lpstr>Results - MQC</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Datasets for QC</vt:lpstr>
      <vt:lpstr>SM Application</vt:lpstr>
      <vt:lpstr>MQC Application</vt:lpstr>
      <vt:lpstr>MQC Adaptive GPU Chunk</vt:lpstr>
      <vt:lpstr>Host Buffer</vt:lpstr>
      <vt:lpstr>Buffer Reservation – System </vt:lpstr>
      <vt:lpstr>Buffer Reservation – App </vt:lpstr>
      <vt:lpstr>Why OOM-Fixed version of G2-AIMD Faster?</vt:lpstr>
      <vt:lpstr>Why G2-AIMD is Faster </vt:lpstr>
      <vt:lpstr>Scratch Buffers</vt:lpstr>
      <vt:lpstr>Handling Big Tasks</vt:lpstr>
      <vt:lpstr>PowerPoint Presentation</vt:lpstr>
      <vt:lpstr>PowerPoint Presentation</vt:lpstr>
      <vt:lpstr>Queries for SM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27</cp:revision>
  <dcterms:created xsi:type="dcterms:W3CDTF">2026-04-20T02:32:18Z</dcterms:created>
  <dcterms:modified xsi:type="dcterms:W3CDTF">2026-08-17T14:30:28Z</dcterms:modified>
</cp:coreProperties>
</file>