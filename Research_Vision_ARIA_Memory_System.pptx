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beefe9f7d941ba" /><Relationship Type="http://schemas.openxmlformats.org/officeDocument/2006/relationships/extended-properties" Target="/docProps/app.xml" Id="R1de08e38f72146a3" /><Relationship Type="http://schemas.openxmlformats.org/officeDocument/2006/relationships/officeDocument" Target="/ppt/presentation.xml" Id="Rb0357e5b9bcc47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010e9d1f144359"/>
  </p:sldMasterIdLst>
  <p:notesMasterIdLst>
    <p:notesMasterId xmlns:r="http://schemas.openxmlformats.org/officeDocument/2006/relationships" r:id="Raf164f66f5114c6c"/>
  </p:notesMasterIdLst>
  <p:sldIdLst>
    <p:sldId xmlns:r="http://schemas.openxmlformats.org/officeDocument/2006/relationships" id="256" r:id="R3ddac5675b49419e"/>
    <p:sldId xmlns:r="http://schemas.openxmlformats.org/officeDocument/2006/relationships" id="257" r:id="R31fdb8eefa3a45a2"/>
    <p:sldId xmlns:r="http://schemas.openxmlformats.org/officeDocument/2006/relationships" id="258" r:id="R726c82b8ee1c4800"/>
    <p:sldId xmlns:r="http://schemas.openxmlformats.org/officeDocument/2006/relationships" id="259" r:id="Re111975e40de4de3"/>
    <p:sldId xmlns:r="http://schemas.openxmlformats.org/officeDocument/2006/relationships" id="260" r:id="Rb486693ed0594c97"/>
    <p:sldId xmlns:r="http://schemas.openxmlformats.org/officeDocument/2006/relationships" id="261" r:id="R3cae0157c46a4973"/>
    <p:sldId xmlns:r="http://schemas.openxmlformats.org/officeDocument/2006/relationships" id="262" r:id="Re7672a031b134153"/>
    <p:sldId xmlns:r="http://schemas.openxmlformats.org/officeDocument/2006/relationships" id="263" r:id="Rc81b66a2e0844f6f"/>
    <p:sldId xmlns:r="http://schemas.openxmlformats.org/officeDocument/2006/relationships" id="264" r:id="Rd842d3761f6e47dd"/>
    <p:sldId xmlns:r="http://schemas.openxmlformats.org/officeDocument/2006/relationships" id="265" r:id="R2c0de245e9234b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714a118c3646c9" /><Relationship Type="http://schemas.openxmlformats.org/officeDocument/2006/relationships/slideMaster" Target="/ppt/slideMasters/slideMaster1.xml" Id="R60010e9d1f144359" /><Relationship Type="http://schemas.openxmlformats.org/officeDocument/2006/relationships/notesMaster" Target="/ppt/notesMasters/notesMaster1.xml" Id="Raf164f66f5114c6c" /><Relationship Type="http://schemas.openxmlformats.org/officeDocument/2006/relationships/presProps" Target="/ppt/presProps.xml" Id="R1936e89951784c36" /><Relationship Type="http://schemas.openxmlformats.org/officeDocument/2006/relationships/tableStyles" Target="/ppt/tableStyles.xml" Id="R5e3e0c4d77ea4e2f" /><Relationship Type="http://schemas.openxmlformats.org/officeDocument/2006/relationships/slide" Target="/ppt/slides/slide1.xml" Id="R3ddac5675b49419e" /><Relationship Type="http://schemas.openxmlformats.org/officeDocument/2006/relationships/slide" Target="/ppt/slides/slide2.xml" Id="R31fdb8eefa3a45a2" /><Relationship Type="http://schemas.openxmlformats.org/officeDocument/2006/relationships/slide" Target="/ppt/slides/slide3.xml" Id="R726c82b8ee1c4800" /><Relationship Type="http://schemas.openxmlformats.org/officeDocument/2006/relationships/slide" Target="/ppt/slides/slide4.xml" Id="Re111975e40de4de3" /><Relationship Type="http://schemas.openxmlformats.org/officeDocument/2006/relationships/slide" Target="/ppt/slides/slide5.xml" Id="Rb486693ed0594c97" /><Relationship Type="http://schemas.openxmlformats.org/officeDocument/2006/relationships/slide" Target="/ppt/slides/slide6.xml" Id="R3cae0157c46a4973" /><Relationship Type="http://schemas.openxmlformats.org/officeDocument/2006/relationships/slide" Target="/ppt/slides/slide7.xml" Id="Re7672a031b134153" /><Relationship Type="http://schemas.openxmlformats.org/officeDocument/2006/relationships/slide" Target="/ppt/slides/slide8.xml" Id="Rc81b66a2e0844f6f" /><Relationship Type="http://schemas.openxmlformats.org/officeDocument/2006/relationships/slide" Target="/ppt/slides/slide9.xml" Id="Rd842d3761f6e47dd" /><Relationship Type="http://schemas.openxmlformats.org/officeDocument/2006/relationships/slide" Target="/ppt/slides/slide10.xml" Id="R2c0de245e9234b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bff34a9d4b4e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ac2efd3bea4cc2" /><Relationship Type="http://schemas.openxmlformats.org/officeDocument/2006/relationships/notesMaster" Target="/ppt/notesMasters/notesMaster1.xml" Id="Reb86c0489e8b43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c90ecaa81c4141" /><Relationship Type="http://schemas.openxmlformats.org/officeDocument/2006/relationships/notesMaster" Target="/ppt/notesMasters/notesMaster1.xml" Id="Ref7d78f60d1e42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5d406ca4244547" /><Relationship Type="http://schemas.openxmlformats.org/officeDocument/2006/relationships/notesMaster" Target="/ppt/notesMasters/notesMaster1.xml" Id="Rdab131c0e16547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eb50227271422a" /><Relationship Type="http://schemas.openxmlformats.org/officeDocument/2006/relationships/notesMaster" Target="/ppt/notesMasters/notesMaster1.xml" Id="R60dbc8f94a0044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133602e4d543c8" /><Relationship Type="http://schemas.openxmlformats.org/officeDocument/2006/relationships/notesMaster" Target="/ppt/notesMasters/notesMaster1.xml" Id="R12a74c117edd41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e081cd664a4af2" /><Relationship Type="http://schemas.openxmlformats.org/officeDocument/2006/relationships/notesMaster" Target="/ppt/notesMasters/notesMaster1.xml" Id="R5d301bba9ecd4e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ac8d2b0bdf4c88" /><Relationship Type="http://schemas.openxmlformats.org/officeDocument/2006/relationships/notesMaster" Target="/ppt/notesMasters/notesMaster1.xml" Id="R1973f5ff213b4b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55c57e0563455a" /><Relationship Type="http://schemas.openxmlformats.org/officeDocument/2006/relationships/notesMaster" Target="/ppt/notesMasters/notesMaster1.xml" Id="R75562812139e41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79f3771d8844e7" /><Relationship Type="http://schemas.openxmlformats.org/officeDocument/2006/relationships/notesMaster" Target="/ppt/notesMasters/notesMaster1.xml" Id="R81945fd5661e41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e50ee22e8949b4" /><Relationship Type="http://schemas.openxmlformats.org/officeDocument/2006/relationships/notesMaster" Target="/ppt/notesMasters/notesMaster1.xml" Id="Rc07b62b2041846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saying that ARIA should not be treated as a single predictive model.</a:t>
            </a:r>
          </a:p>
          <a:p xmlns:a="http://schemas.openxmlformats.org/drawingml/2006/main">
            <a:r>
              <a:t>The core thesis: ARIA is an evidence-grounded memory system that retrieves, updates, and explains prior experience as the archive evolves.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Research vision exercise prompt: /Users/akahmad/Downloads/Research Vison Exercise.docx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define the tension. If ARIA only optimizes predictive accuracy, it misses the archive use case.</a:t>
            </a:r>
          </a:p>
          <a:p xmlns:a="http://schemas.openxmlformats.org/drawingml/2006/main">
            <a:r>
              <a:t>The system needs to support multiple biomedical tasks by making evidence retrievable and 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Research vision exercise prompt: /Users/akahmad/Downloads/Research Vison Exercise.docx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central architecture claim. ARIA needs an explicit memory layer, not just an embedding model.</a:t>
            </a:r>
          </a:p>
          <a:p xmlns:a="http://schemas.openxmlformats.org/drawingml/2006/main">
            <a:r>
              <a:t>Emphasize separation of concerns: data ingestion, representation, retrieval, and updates can evolve independently.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Research vision exercise prompt: /Users/akahmad/Downloads/Research Vison Exercise.docx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layers matter: they make failure modes diagnosable.</a:t>
            </a:r>
          </a:p>
          <a:p xmlns:a="http://schemas.openxmlformats.org/drawingml/2006/main">
            <a:r>
              <a:t>Tie this to your systems background: scalable systems become research platforms when intermediate representations are explicit and reproducible.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Research vision exercise prompt: /Users/akahmad/Downloads/Research Vison Exercise.docx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can briefly mention your graph/search work: the archive is naturally a heterogeneous graph plus learned indexes.</a:t>
            </a:r>
          </a:p>
          <a:p xmlns:a="http://schemas.openxmlformats.org/drawingml/2006/main">
            <a:r>
              <a:t>Make the key point that retrieval quality must be measured at the evidence-set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Research vision exercise prompt: /Users/akahmad/Downloads/Research Vison Exercise.docx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answer the balance between stored knowledge and new information.</a:t>
            </a:r>
          </a:p>
          <a:p xmlns:a="http://schemas.openxmlformats.org/drawingml/2006/main">
            <a:r>
              <a:t>The phrase to remember: new evidence enters retrieval quickly; model behavior changes slowly.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Research vision exercise prompt: /Users/akahmad/Downloads/Research Vison Exercise.docx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required topic in the prompt. Be explicit that random train/test splits are not enough for a living archive.</a:t>
            </a:r>
          </a:p>
          <a:p xmlns:a="http://schemas.openxmlformats.org/drawingml/2006/main">
            <a:r>
              <a:t>Evaluation cadence: retrieval indexes can be evaluated weekly or monthly; representation/model updates should be gated by stronger retrospective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Research vision exercise prompt: /Users/akahmad/Downloads/Research Vison Exercise.docx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sequencing answer. Make clear what comes first and why.</a:t>
            </a:r>
          </a:p>
          <a:p xmlns:a="http://schemas.openxmlformats.org/drawingml/2006/main">
            <a:r>
              <a:t>Small team logic: build infrastructure that makes later model work cheap, measurable, and trustworthy.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Research vision exercise prompt: /Users/akahmad/Downloads/Research Vison Exercise.docx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directly responds to the prompt's instruction to state what you are setting aside.</a:t>
            </a:r>
          </a:p>
          <a:p xmlns:a="http://schemas.openxmlformats.org/drawingml/2006/main">
            <a:r>
              <a:t>The message should sound disciplined, not conservative: defer what cannot yet be measured well.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Research vision exercise prompt: /Users/akahmad/Downloads/Research Vison Exercise.docx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thesis. The platform is useful because it combines retrieval, memory, continual learning, and evaluation.</a:t>
            </a:r>
          </a:p>
          <a:p xmlns:a="http://schemas.openxmlformats.org/drawingml/2006/main">
            <a:r>
              <a:t>Invite discussion around tradeoffs: update cadence, expert-in-the-loop review, and what first biomedical use case should anchor the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Research vision exercise prompt: /Users/akahmad/Downloads/Research Vison Exercise.docx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daf0b760b4d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531ad7928647e2" /><Relationship Type="http://schemas.openxmlformats.org/officeDocument/2006/relationships/slideLayout" Target="/ppt/slideLayouts/slideLayout1.xml" Id="R7f21f470e47f4b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21f470e47f4b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bf8b5525e463f" /><Relationship Type="http://schemas.openxmlformats.org/officeDocument/2006/relationships/notesSlide" Target="/ppt/notesSlides/notesSlide1.xml" Id="Ra7944fb380514d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b6063ac734809" /><Relationship Type="http://schemas.openxmlformats.org/officeDocument/2006/relationships/notesSlide" Target="/ppt/notesSlides/notesSlide2.xml" Id="R19a65c21a67b4e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fa5189b054f7f" /><Relationship Type="http://schemas.openxmlformats.org/officeDocument/2006/relationships/notesSlide" Target="/ppt/notesSlides/notesSlide3.xml" Id="R744f7f3ced574a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bb7af78854b16" /><Relationship Type="http://schemas.openxmlformats.org/officeDocument/2006/relationships/notesSlide" Target="/ppt/notesSlides/notesSlide4.xml" Id="R828645ff33a342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c5fba111b4a50" /><Relationship Type="http://schemas.openxmlformats.org/officeDocument/2006/relationships/notesSlide" Target="/ppt/notesSlides/notesSlide5.xml" Id="R87267ec7ed0548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89b7a908e446a" /><Relationship Type="http://schemas.openxmlformats.org/officeDocument/2006/relationships/notesSlide" Target="/ppt/notesSlides/notesSlide6.xml" Id="Rd07a19b2c4cd46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65042608340a5" /><Relationship Type="http://schemas.openxmlformats.org/officeDocument/2006/relationships/notesSlide" Target="/ppt/notesSlides/notesSlide7.xml" Id="Rdf0ea8302cb74b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04c533baf4acf" /><Relationship Type="http://schemas.openxmlformats.org/officeDocument/2006/relationships/notesSlide" Target="/ppt/notesSlides/notesSlide8.xml" Id="R86b3dc38c6c648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42449e2bb4467" /><Relationship Type="http://schemas.openxmlformats.org/officeDocument/2006/relationships/notesSlide" Target="/ppt/notesSlides/notesSlide9.xml" Id="Ref65fb6dabaa48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b2107976f415a" /><Relationship Type="http://schemas.openxmlformats.org/officeDocument/2006/relationships/notesSlide" Target="/ppt/notesSlides/notesSlide10.xml" Id="R94b0dbc776ef40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627F1-A398-45FC-B829-D7880BBC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071"/>
                </a:solidFill>
              </a:defRPr>
            </a:pPr>
            <a:r>
              <a:rPr sz="1200" b="1">
                <a:solidFill>
                  <a:srgbClr val="536071"/>
                </a:solidFill>
              </a:rPr>
              <a:t>Research Scientist Interview | AI(X)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5B2CE-F176-4DCF-A02F-7A8A284E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0F19"/>
                </a:solidFill>
              </a:defRPr>
            </a:pPr>
            <a:r>
              <a:rPr sz="4200" b="1">
                <a:solidFill>
                  <a:srgbClr val="0B0F19"/>
                </a:solidFill>
              </a:rPr>
              <a:t>ARIA as an evidence-grounded memory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0FF53-0F26-4738-938B-95CF2005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7575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64E30-E0F2-4394-BAB5-137CADE2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071"/>
                </a:solidFill>
              </a:defRPr>
            </a:pPr>
            <a:r>
              <a:rPr sz="1950" b="0">
                <a:solidFill>
                  <a:srgbClr val="536071"/>
                </a:solidFill>
              </a:rPr>
              <a:t>A 20-minute research vision for retrieval, memory, continual learning, evaluation, and sequencing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9EF53-B1A1-4192-BBD6-595D0011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162050"/>
            <a:ext cx="2381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57055-37CA-4FDE-989A-72749614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95450"/>
            <a:ext cx="180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9"/>
                </a:solidFill>
              </a:defRPr>
            </a:pPr>
            <a:r>
              <a:rPr sz="2550" b="1">
                <a:solidFill>
                  <a:srgbClr val="0B0F19"/>
                </a:solidFill>
              </a:rPr>
              <a:t>Retrieval</a:t>
            </a:r>
          </a:p>
          <a:p xmlns:a="http://schemas.openxmlformats.org/drawingml/2006/main">
            <a:pPr algn="l">
              <a:defRPr sz="2550" b="1">
                <a:solidFill>
                  <a:srgbClr val="0B0F19"/>
                </a:solidFill>
              </a:defRPr>
            </a:pPr>
            <a:r>
              <a:rPr sz="2550" b="1">
                <a:solidFill>
                  <a:srgbClr val="0B0F19"/>
                </a:solidFill>
              </a:rPr>
              <a:t>Memory</a:t>
            </a:r>
          </a:p>
          <a:p xmlns:a="http://schemas.openxmlformats.org/drawingml/2006/main">
            <a:pPr algn="l">
              <a:defRPr sz="2550" b="1">
                <a:solidFill>
                  <a:srgbClr val="0B0F19"/>
                </a:solidFill>
              </a:defRPr>
            </a:pPr>
            <a:r>
              <a:rPr sz="2550" b="1">
                <a:solidFill>
                  <a:srgbClr val="0B0F19"/>
                </a:solidFill>
              </a:rPr>
              <a:t>Continual</a:t>
            </a:r>
          </a:p>
          <a:p xmlns:a="http://schemas.openxmlformats.org/drawingml/2006/main">
            <a:pPr algn="l">
              <a:defRPr sz="2550" b="1">
                <a:solidFill>
                  <a:srgbClr val="0B0F19"/>
                </a:solidFill>
              </a:defRPr>
            </a:pPr>
            <a:r>
              <a:rPr sz="2550" b="1">
                <a:solidFill>
                  <a:srgbClr val="0B0F19"/>
                </a:solidFill>
              </a:rPr>
              <a:t>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71146-DD8F-4A27-B9F3-3FA85C97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86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Topic 2</a:t>
            </a:r>
          </a:p>
        </p:txBody>
      </p:sp>
    </p:spTree>
    <p:extLst>
      <p:ext uri="{BB962C8B-B14F-4D97-AF65-F5344CB8AC3E}">
        <p14:creationId xmlns:p14="http://schemas.microsoft.com/office/powerpoint/2010/main" val="805149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C4D6D-99CC-4932-B3DF-1892B654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071"/>
                </a:solidFill>
              </a:defRPr>
            </a:pPr>
            <a:r>
              <a:rPr sz="1125" b="1">
                <a:solidFill>
                  <a:srgbClr val="536071"/>
                </a:solidFill>
              </a:rPr>
              <a:t>ARIA research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DDBE7-C433-4722-B3FD-6AC9BE02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F19"/>
                </a:solidFill>
              </a:defRPr>
            </a:pPr>
            <a:r>
              <a:rPr sz="2700" b="1">
                <a:solidFill>
                  <a:srgbClr val="0B0F19"/>
                </a:solidFill>
              </a:rPr>
              <a:t>The hard problem is not prediction alone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7736C-7677-427F-A7BE-BAFA3A4E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C5431-4502-42F0-80FD-CDAF9BEC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09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9"/>
                </a:solidFill>
              </a:defRPr>
            </a:pPr>
            <a:r>
              <a:rPr sz="2250" b="1">
                <a:solidFill>
                  <a:srgbClr val="0B0F19"/>
                </a:solidFill>
              </a:rPr>
              <a:t>ARIA must reason over a living clinical archive where evidence is heterogeneous, incomplete, temporal, and continuously changing.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B863F-F5C8-429C-9DA1-8D5340E3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352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16371-43DF-4FD8-90C7-52E53049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C30B4-D090-4DA0-A41E-A8320887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352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DD998-EAF3-4F46-84C1-C5FAFC34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Clinical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81D82-02DC-4EA5-97A2-6399D4AC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352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59761-9755-4A46-B1C5-30F0EB35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Structured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9F558-19DD-4D95-90B6-95C4E8F6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352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4DAF6-300C-40F5-A9FB-42950F59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482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Outcomes + provenance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D33C7-88F3-4343-BAC3-DF98138B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38AD6-2F55-40A2-B338-42C8DFFB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98D8D-FBA2-47D6-B4FE-E08F2CA2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546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Retrieve relevant evidence, not just similar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C1338-881A-4BF9-9E5E-3B0C632A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D2642-F85D-4677-86B8-9B62B4C8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546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Update memory without forgetting or drifting silently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A4282-EC74-46EE-BD3E-50DD948B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3D054-8856-4E4A-9254-E7CEF1D9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546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Explain answers through traceable archive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ADD1F-223F-4577-86A2-27A98A27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</a:defRPr>
            </a:pPr>
            <a:r>
              <a:rPr sz="1050" b="0">
                <a:solidFill>
                  <a:srgbClr val="53607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78541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CE770-BAE0-4828-8872-A50EF0B3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071"/>
                </a:solidFill>
              </a:defRPr>
            </a:pPr>
            <a:r>
              <a:rPr sz="1125" b="1">
                <a:solidFill>
                  <a:srgbClr val="536071"/>
                </a:solidFill>
              </a:rPr>
              <a:t>ARIA research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199E9-7555-425B-8C7A-7DF814F7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F19"/>
                </a:solidFill>
              </a:defRPr>
            </a:pPr>
            <a:r>
              <a:rPr sz="2700" b="1">
                <a:solidFill>
                  <a:srgbClr val="0B0F19"/>
                </a:solidFill>
              </a:rPr>
              <a:t>My proposal: build ARIA as an evidence-grounded memory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95F58-F0AA-4B8F-8BA0-02A4F95A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84E83-0A37-4505-A790-D734BCC0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095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D650A-324F-4C67-A7A7-E65C34AD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Ingest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853F1-CC44-46E1-9A17-83C240BE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158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71"/>
                </a:solidFill>
              </a:defRPr>
            </a:pPr>
            <a:r>
              <a:rPr sz="1275" b="0">
                <a:solidFill>
                  <a:srgbClr val="536071"/>
                </a:solidFill>
              </a:rPr>
              <a:t>Normalize multimodal cases into stable entities and events.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932C1-E455-42F2-B4BF-2BE2BD18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BADA5-EDD7-423A-9E48-F638D57B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095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DA47B-F3E3-45B8-89B7-2DC0970C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Represent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AC9A0-3FEB-48A4-B32A-294122F5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158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71"/>
                </a:solidFill>
              </a:defRPr>
            </a:pPr>
            <a:r>
              <a:rPr sz="1275" b="0">
                <a:solidFill>
                  <a:srgbClr val="536071"/>
                </a:solidFill>
              </a:rPr>
              <a:t>Maintain linked text, image, structured, and temporal views.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0D13F-4158-4C15-B618-9B31334E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4BCBF-C323-4F6E-817A-5C3E187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33600"/>
            <a:ext cx="2095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12681-C19F-4865-BC32-971DA8DF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Retrieve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B86B3-A06F-44B1-B0E4-505776B9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158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71"/>
                </a:solidFill>
              </a:defRPr>
            </a:pPr>
            <a:r>
              <a:rPr sz="1275" b="0">
                <a:solidFill>
                  <a:srgbClr val="536071"/>
                </a:solidFill>
              </a:rPr>
              <a:t>Combine semantic search, filters, graph expansion, and provenance.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9B85C-5A52-4FC4-8310-3E64A78D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43639-6598-4B43-908B-B08E9015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2095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FCC13-CA91-45B5-8178-B603C595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0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9A326-A2E2-405A-8728-50E456B3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58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71"/>
                </a:solidFill>
              </a:defRPr>
            </a:pPr>
            <a:r>
              <a:rPr sz="1275" b="0">
                <a:solidFill>
                  <a:srgbClr val="536071"/>
                </a:solidFill>
              </a:rPr>
              <a:t>Refresh indexes often; update models cautiously and measurably.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115B8-110B-4E96-9949-7BD75F82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The system should answer with evidence trails: what was retrieved, why it was relevant, and whether current behavior is improving over time.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0DD74-6352-4EF7-B833-98CE2F62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</a:defRPr>
            </a:pPr>
            <a:r>
              <a:rPr sz="1050" b="0">
                <a:solidFill>
                  <a:srgbClr val="53607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40982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C455F-E01D-4DA7-AEEF-EDECB8F7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071"/>
                </a:solidFill>
              </a:defRPr>
            </a:pPr>
            <a:r>
              <a:rPr sz="1125" b="1">
                <a:solidFill>
                  <a:srgbClr val="536071"/>
                </a:solidFill>
              </a:rPr>
              <a:t>ARIA research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39BA4-C2E9-4D2E-A2F1-10D3E94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F19"/>
                </a:solidFill>
              </a:defRPr>
            </a:pPr>
            <a:r>
              <a:rPr sz="2700" b="1">
                <a:solidFill>
                  <a:srgbClr val="0B0F19"/>
                </a:solidFill>
              </a:rPr>
              <a:t>Memory should be layered, not monolithic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A6BFF-C01A-410A-857A-7BA3C672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A2006-41BE-4496-BEA2-BE0DF1AE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828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6E9A1-BB79-464B-B1C5-BA5150F7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47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Raw archive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C06F0-45AE-4507-A0B5-04115C4B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574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1"/>
                </a:solidFill>
              </a:defRPr>
            </a:pPr>
            <a:r>
              <a:rPr sz="1350" b="0">
                <a:solidFill>
                  <a:srgbClr val="536071"/>
                </a:solidFill>
              </a:rPr>
              <a:t>Original images, notes, records,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79125-B0A7-4083-9FBB-058C50B1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763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2E075-C1A2-48FA-9B03-07F9F034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717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Normalized entities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7D6D9-EAE5-4D9A-A3E9-730C2F9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78130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1"/>
                </a:solidFill>
              </a:defRPr>
            </a:pPr>
            <a:r>
              <a:rPr sz="1350" b="0">
                <a:solidFill>
                  <a:srgbClr val="536071"/>
                </a:solidFill>
              </a:rPr>
              <a:t>Patient, encounter, finding, treatment,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202CD-8519-43F8-9C98-26372AF0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71850"/>
            <a:ext cx="6991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13EBC-A229-4D04-A415-21F50321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956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Learned 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6715E-BD09-4293-B812-CFE6FDD2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505200"/>
            <a:ext cx="441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1"/>
                </a:solidFill>
              </a:defRPr>
            </a:pPr>
            <a:r>
              <a:rPr sz="1350" b="0">
                <a:solidFill>
                  <a:srgbClr val="536071"/>
                </a:solidFill>
              </a:rPr>
              <a:t>Image/text embeddings and task-specific representations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3159E-AA06-4B74-80FB-AF41E734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95750"/>
            <a:ext cx="634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5B8AB-9D33-4531-8511-6D6EBE15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195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Evidence 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7BDF6-FBFD-4EEF-957B-BD15D86D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291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1"/>
                </a:solidFill>
              </a:defRPr>
            </a:pPr>
            <a:r>
              <a:rPr sz="1350" b="0">
                <a:solidFill>
                  <a:srgbClr val="536071"/>
                </a:solidFill>
              </a:rPr>
              <a:t>Links across entities, modalities, time, and provenance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C250B-9DAD-43D3-8774-E47C307C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9650"/>
            <a:ext cx="569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2929D-5E6C-497E-A429-AA29AD95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434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Task views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6E47E-D007-41BF-8537-675FDE7A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53000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1"/>
                </a:solidFill>
              </a:defRPr>
            </a:pPr>
            <a:r>
              <a:rPr sz="1350" b="0">
                <a:solidFill>
                  <a:srgbClr val="536071"/>
                </a:solidFill>
              </a:rPr>
              <a:t>Retrieval and reasoning views for specific applications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CC901-996B-4F6C-A95D-2DB3A31B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Design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D4CA5-E7EA-4A1D-8EEA-182DDB27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A failed retrieval should be debuggable: was the raw data missing, the entity mapping wrong, the embedding stale, or the evidence graph incomplete?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AF3E7-5AC1-42DD-8B69-971BD2FA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</a:defRPr>
            </a:pPr>
            <a:r>
              <a:rPr sz="1050" b="0">
                <a:solidFill>
                  <a:srgbClr val="53607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1328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B3F4D-8EA0-4AF1-92B5-D0205BB3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071"/>
                </a:solidFill>
              </a:defRPr>
            </a:pPr>
            <a:r>
              <a:rPr sz="1125" b="1">
                <a:solidFill>
                  <a:srgbClr val="536071"/>
                </a:solidFill>
              </a:rPr>
              <a:t>ARIA research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75B38-E313-4F61-9349-595BA6D2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F19"/>
                </a:solidFill>
              </a:defRPr>
            </a:pPr>
            <a:r>
              <a:rPr sz="2700" b="1">
                <a:solidFill>
                  <a:srgbClr val="0B0F19"/>
                </a:solidFill>
              </a:rPr>
              <a:t>Retrieval should combine similarity, structure, time, and provenance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5A6B4-FA7D-4D8F-8333-9BF72328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AAA03-9301-4137-8AFE-570FED28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F3A7C-1AC8-41AB-A9C2-33D9F7EB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Semantic retrieval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8C263-6FE3-4C58-9A23-439DFE38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F57AC-1C01-4103-B9FF-B76413CA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71"/>
                </a:solidFill>
              </a:defRPr>
            </a:pPr>
            <a:r>
              <a:rPr sz="1650" b="0">
                <a:solidFill>
                  <a:srgbClr val="536071"/>
                </a:solidFill>
              </a:rPr>
              <a:t>Find cases, images, or notes with similar learned representations.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D4388-F2A1-4781-BCB7-A4085EC5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85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216D9-4099-4520-93C8-37E7F28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Structured constraints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E628D-2B3D-4798-AB53-2DFDD02B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0B2D3-6D8D-46B5-A35B-0D7887AE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71"/>
                </a:solidFill>
              </a:defRPr>
            </a:pPr>
            <a:r>
              <a:rPr sz="1650" b="0">
                <a:solidFill>
                  <a:srgbClr val="536071"/>
                </a:solidFill>
              </a:rPr>
              <a:t>Respect cohort definitions, time windows, labels, and outcomes.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A04F6-54ED-489A-A015-E7CEB469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A282E-B6CF-464B-B134-59F270A5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Graph expansion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AFD75-AAD5-4997-BFF6-CE400B8D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E57A4-88A8-4331-B3E7-A55939C2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71"/>
                </a:solidFill>
              </a:defRPr>
            </a:pPr>
            <a:r>
              <a:rPr sz="1650" b="0">
                <a:solidFill>
                  <a:srgbClr val="536071"/>
                </a:solidFill>
              </a:rPr>
              <a:t>Move from a retrieved item to connected evidence and clinical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86996-33FC-4BD5-AA29-D52B2EBC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FC22E-781F-4314-AA98-919FF744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625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Retrieval output should be an evidence set, not a single nearest neighbor.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0A65B-242A-41F8-B726-B0751FA8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</a:defRPr>
            </a:pPr>
            <a:r>
              <a:rPr sz="1050" b="0">
                <a:solidFill>
                  <a:srgbClr val="53607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59407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B3EA1-F2A4-46D6-B4C9-81DC3A00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071"/>
                </a:solidFill>
              </a:defRPr>
            </a:pPr>
            <a:r>
              <a:rPr sz="1125" b="1">
                <a:solidFill>
                  <a:srgbClr val="536071"/>
                </a:solidFill>
              </a:rPr>
              <a:t>ARIA research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B67E1-3C62-4F93-8442-86FB28AA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F19"/>
                </a:solidFill>
              </a:defRPr>
            </a:pPr>
            <a:r>
              <a:rPr sz="2700" b="1">
                <a:solidFill>
                  <a:srgbClr val="0B0F19"/>
                </a:solidFill>
              </a:rPr>
              <a:t>Continual learning needs different update cadences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FB1B5-96D6-4FD2-A66A-A639A586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8C8BC-18DA-4D12-921B-663F2C79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Fast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4F5CB-A2AD-4D99-9E70-A59460B8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002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E60B7-345A-4BA7-8147-9A730BAF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24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Index refresh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8672E-B665-4552-91EE-77B9B633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71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071"/>
                </a:solidFill>
              </a:defRPr>
            </a:pPr>
            <a:r>
              <a:rPr sz="1500" b="0">
                <a:solidFill>
                  <a:srgbClr val="536071"/>
                </a:solidFill>
              </a:rPr>
              <a:t>New cases become retrievable quickly.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40486-9A19-4CC4-8BD3-510F8B31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Medium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02F7D-ED6B-4455-B5E9-19BAFE29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670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66E14-188F-4415-88CB-96068BE7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90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Representation calibration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224C4-B56F-4AF9-B41C-0B53ACFB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071"/>
                </a:solidFill>
              </a:defRPr>
            </a:pPr>
            <a:r>
              <a:rPr sz="1500" b="0">
                <a:solidFill>
                  <a:srgbClr val="536071"/>
                </a:solidFill>
              </a:rPr>
              <a:t>Embeddings and uncertainty are checked against recent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00005-1FEC-4E7E-875F-26301DE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Slow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B2854-7365-4DB0-B992-B5428985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33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5A0A2-ACCB-425D-8189-F01AA9E5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576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Model retraining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E61D1-0185-49F0-B981-7292B09A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05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071"/>
                </a:solidFill>
              </a:defRPr>
            </a:pPr>
            <a:r>
              <a:rPr sz="1500" b="0">
                <a:solidFill>
                  <a:srgbClr val="536071"/>
                </a:solidFill>
              </a:rPr>
              <a:t>Major model changes require gated evaluation and rollback.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C3945-B24A-41BD-9F51-11D82828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Do not let every new case rewrite the model. Let it enter memory first, then require evidence before changing learned behavior.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E4159-1580-48C4-AC2B-5882C5FD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</a:defRPr>
            </a:pPr>
            <a:r>
              <a:rPr sz="1050" b="0">
                <a:solidFill>
                  <a:srgbClr val="53607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8822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FFEF6-ADBC-4C62-88BD-896E7102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071"/>
                </a:solidFill>
              </a:defRPr>
            </a:pPr>
            <a:r>
              <a:rPr sz="1125" b="1">
                <a:solidFill>
                  <a:srgbClr val="536071"/>
                </a:solidFill>
              </a:rPr>
              <a:t>ARIA research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CED31-2568-43CB-A1A1-C939708B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F19"/>
                </a:solidFill>
              </a:defRPr>
            </a:pPr>
            <a:r>
              <a:rPr sz="2700" b="1">
                <a:solidFill>
                  <a:srgbClr val="0B0F19"/>
                </a:solidFill>
              </a:rPr>
              <a:t>ARIA should be evaluated temporally, continuously, and by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5F746-5469-40F6-A699-D7234E4A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5D491-6E1A-476E-91B4-8ABEFD9B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70D10-3F0D-4780-A572-BAB90445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594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Temporal splits: archive state at time t, test on future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2A208-940B-467B-AAE2-1B6AB529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224BC-A962-4FEA-8E70-3D24F3FB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594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Retrieval relevance: recall@k, precision@k, expert judgment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4C099-A109-44EF-A43C-DF6D6411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C7E6E-AAB5-4883-BFB2-D2C19F93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594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Clinical task utility: task metrics plus decision-support usefulness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6DCA7-2FE1-408C-B5EF-8FEBA2B6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AD80E-F05C-4015-9362-E4AAB106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594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Reliability: calibration, uncertainty, subgroup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6B346-0950-4BBE-B592-AA29064C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D8B51-4A0E-4105-82EC-C8A37197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594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Drift: embedding shift, label shift, degradation alarms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50A90-25C9-47B0-A932-2AEFB183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3429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41A55-D82E-4B45-A6FB-6303E0E8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98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Core evaluation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9A2FE-18F4-4084-997B-B0615F0C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Snapshot → benchmark → deploy index → monitor → 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804E2-99F3-43D6-9FA9-2188260B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576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228AB-BA6F-4CF1-9F21-996CA3F6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434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071"/>
                </a:solidFill>
              </a:defRPr>
            </a:pPr>
            <a:r>
              <a:rPr sz="1500" b="0">
                <a:solidFill>
                  <a:srgbClr val="536071"/>
                </a:solidFill>
              </a:rPr>
              <a:t>Improvement must beat historical performance and stability checks.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A34F6-FBDB-47A9-A8CD-51495E40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</a:defRPr>
            </a:pPr>
            <a:r>
              <a:rPr sz="1050" b="0">
                <a:solidFill>
                  <a:srgbClr val="536071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53220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CE5AC-F6E3-4341-A7E8-4C86AECE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071"/>
                </a:solidFill>
              </a:defRPr>
            </a:pPr>
            <a:r>
              <a:rPr sz="1125" b="1">
                <a:solidFill>
                  <a:srgbClr val="536071"/>
                </a:solidFill>
              </a:rPr>
              <a:t>ARIA research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DD756-93A4-41F2-9DDF-5EBF7729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F19"/>
                </a:solidFill>
              </a:defRPr>
            </a:pPr>
            <a:r>
              <a:rPr sz="2700" b="1">
                <a:solidFill>
                  <a:srgbClr val="0B0F19"/>
                </a:solidFill>
              </a:rPr>
              <a:t>First 18 months: build the research instrument before the ambitious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1190D-716D-48EF-ABC4-DD8AE04E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FDA6A-F3CB-4C84-A475-BCFB9E22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69FE7-94B8-4981-82B7-6BB88260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0–6 months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F70A6-589B-4901-AF3C-71275D23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9"/>
                </a:solidFill>
              </a:defRPr>
            </a:pPr>
            <a:r>
              <a:rPr sz="2250" b="1">
                <a:solidFill>
                  <a:srgbClr val="0B0F19"/>
                </a:solidFill>
              </a:rPr>
              <a:t>Archive + 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8178C-08C5-42F7-894A-2F55FB72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1"/>
                </a:solidFill>
              </a:defRPr>
            </a:pPr>
            <a:r>
              <a:rPr sz="1425" b="0">
                <a:solidFill>
                  <a:srgbClr val="536071"/>
                </a:solidFill>
              </a:rPr>
              <a:t>Ingestion, entity model, provenance, snapshotting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37134-E0BB-4F3C-A148-C70B994A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D8587-C846-425B-BE61-94A452E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6–12 months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AFBE7-EE62-4539-BB69-D0EC115A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9"/>
                </a:solidFill>
              </a:defRPr>
            </a:pPr>
            <a:r>
              <a:rPr sz="2250" b="1">
                <a:solidFill>
                  <a:srgbClr val="0B0F19"/>
                </a:solidFill>
              </a:rPr>
              <a:t>Hybrid retrieval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3D950-ADE9-46FA-A95E-9C5B29B9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337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1"/>
                </a:solidFill>
              </a:defRPr>
            </a:pPr>
            <a:r>
              <a:rPr sz="1425" b="0">
                <a:solidFill>
                  <a:srgbClr val="536071"/>
                </a:solidFill>
              </a:rPr>
              <a:t>Vector + structured + temporal retrieval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F73CA-EE82-40C9-9A71-A0DE844D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D871D-47B4-4DF7-B619-6F0CA96B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12–18 months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0977F-CBF6-4F6B-A0FA-9375DA37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9"/>
                </a:solidFill>
              </a:defRPr>
            </a:pPr>
            <a:r>
              <a:rPr sz="2250" b="1">
                <a:solidFill>
                  <a:srgbClr val="0B0F19"/>
                </a:solidFill>
              </a:rPr>
              <a:t>Evaluation harness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B6896-D260-4708-AA63-1ABC0B81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1"/>
                </a:solidFill>
              </a:defRPr>
            </a:pPr>
            <a:r>
              <a:rPr sz="1425" b="0">
                <a:solidFill>
                  <a:srgbClr val="536071"/>
                </a:solidFill>
              </a:rPr>
              <a:t>Temporal benchmarks, drift checks, expert review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BFDD4-D390-4346-9A00-7C15E3FC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The first deliverable is not a perfect reasoner; it is a reproducible platform that makes ARIA measurable and extensible.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7FAA5-2D2D-4854-9B97-E0B517B7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</a:defRPr>
            </a:pPr>
            <a:r>
              <a:rPr sz="1050" b="0">
                <a:solidFill>
                  <a:srgbClr val="536071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64386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C0377-0E72-441F-9920-F59BDEEE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071"/>
                </a:solidFill>
              </a:defRPr>
            </a:pPr>
            <a:r>
              <a:rPr sz="1125" b="1">
                <a:solidFill>
                  <a:srgbClr val="536071"/>
                </a:solidFill>
              </a:rPr>
              <a:t>ARIA research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A8013-0FFF-43B8-985D-689F3EC3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F19"/>
                </a:solidFill>
              </a:defRPr>
            </a:pPr>
            <a:r>
              <a:rPr sz="2700" b="1">
                <a:solidFill>
                  <a:srgbClr val="0B0F19"/>
                </a:solidFill>
              </a:rPr>
              <a:t>What I would deliberately defer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4EB4F-3690-49EF-8021-65BBC181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1E957-4CC1-4F9F-86E0-4653D25C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Autonomous model updates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3FFF6-9785-46AF-82F6-B7BBED05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145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71"/>
                </a:solidFill>
              </a:defRPr>
            </a:pPr>
            <a:r>
              <a:rPr sz="1650" b="0">
                <a:solidFill>
                  <a:srgbClr val="536071"/>
                </a:solidFill>
              </a:rPr>
              <a:t>Too risky before the evaluation harness is trusted.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8D3B9-7060-4B9E-9DD8-428DCA9F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CC3D8-10E5-4A2D-964D-96FFE115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Broad clinical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A5571-9538-4242-B564-34768F82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908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71"/>
                </a:solidFill>
              </a:defRPr>
            </a:pPr>
            <a:r>
              <a:rPr sz="1650" b="0">
                <a:solidFill>
                  <a:srgbClr val="536071"/>
                </a:solidFill>
              </a:rPr>
              <a:t>Start with retrospective and expert-in-the-loop studies.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F34BA-C8E2-40D0-AA3B-7FBBC562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0731D-DAAC-494C-ADF5-7EB8EF76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Open-ended reasoning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C0528-9879-4309-B590-0F3D6CF8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71"/>
                </a:solidFill>
              </a:defRPr>
            </a:pPr>
            <a:r>
              <a:rPr sz="1650" b="0">
                <a:solidFill>
                  <a:srgbClr val="536071"/>
                </a:solidFill>
              </a:rPr>
              <a:t>Useful later, but only after retrieval and provenance are reliable.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0F8D6-B9BE-4C3D-8913-604FC4E8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F33DF-9B7B-486C-A495-D1E1BD74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Training foundation models from scratch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090B3-4CB8-48F5-B97E-9C18AAB4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434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71"/>
                </a:solidFill>
              </a:defRPr>
            </a:pPr>
            <a:r>
              <a:rPr sz="1650" b="0">
                <a:solidFill>
                  <a:srgbClr val="536071"/>
                </a:solidFill>
              </a:rPr>
              <a:t>High cost; unclear benefit before platform baselines exist.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DB9F3-1EFD-4665-8A1E-4AC67E97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A5508-CCFE-41F0-8B0D-5D18A093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05375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009AF-F4F2-45A9-92AD-6F99B408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0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Depth over 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B311F-6FD0-451C-B6C0-F7B5B8DB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</a:defRPr>
            </a:pPr>
            <a:r>
              <a:rPr sz="1050" b="0">
                <a:solidFill>
                  <a:srgbClr val="536071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200446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E95C1-B24A-4FD1-8C3A-457588D3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36071"/>
                </a:solidFill>
              </a:defRPr>
            </a:pPr>
            <a:r>
              <a:rPr sz="1500" b="1">
                <a:solidFill>
                  <a:srgbClr val="536071"/>
                </a:solidFill>
              </a:rPr>
              <a:t>The long-term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2A62B-9244-45F9-8CAB-1DDD57EF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857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0F19"/>
                </a:solidFill>
              </a:defRPr>
            </a:pPr>
            <a:r>
              <a:rPr sz="3750" b="1">
                <a:solidFill>
                  <a:srgbClr val="0B0F19"/>
                </a:solidFill>
              </a:rPr>
              <a:t>ARIA becomes a reusable platform for evidence-grounded biomedical 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A807B-85E4-46B6-8FAE-E225FCE0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46583-3FA6-46FA-8128-F8C5A3A9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B0F19"/>
                </a:solidFill>
              </a:defRPr>
            </a:pPr>
            <a:r>
              <a:rPr sz="2250" b="0">
                <a:solidFill>
                  <a:srgbClr val="0B0F19"/>
                </a:solidFill>
              </a:rPr>
              <a:t>Every answer should carry an evidence trail: what was retrieved, why it mattered, how confident the system is, and whether behavior is improving over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A4FAE-83D2-46F4-850B-E7A1D57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9144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CF76A-2F45-40FE-870D-BF2AF086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003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Q&amp;A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4EA26-D62E-44F0-989C-29A6650D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</a:defRPr>
            </a:pPr>
            <a:r>
              <a:rPr sz="1050" b="0">
                <a:solidFill>
                  <a:srgbClr val="53607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3532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2026-08-10T23:05:45.4040000Z</dcterms:created>
  <dcterms:modified xsi:type="dcterms:W3CDTF">2026-08-10T23:05:45.4040000Z</dcterms:modified>
</coreProperties>
</file>