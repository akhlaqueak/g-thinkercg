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98" r:id="rId2"/>
    <p:sldId id="296" r:id="rId3"/>
    <p:sldId id="262" r:id="rId4"/>
    <p:sldId id="299" r:id="rId5"/>
    <p:sldId id="295" r:id="rId6"/>
    <p:sldId id="302" r:id="rId7"/>
    <p:sldId id="297" r:id="rId8"/>
    <p:sldId id="283" r:id="rId9"/>
    <p:sldId id="30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186"/>
    <p:restoredTop sz="94638"/>
  </p:normalViewPr>
  <p:slideViewPr>
    <p:cSldViewPr snapToGrid="0">
      <p:cViewPr>
        <p:scale>
          <a:sx n="134" d="100"/>
          <a:sy n="134" d="100"/>
        </p:scale>
        <p:origin x="288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C49526-E60E-6F47-95D4-135F6CAC633E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04C1CA-7DDC-3A46-8912-733879E012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189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04C1CA-7DDC-3A46-8912-733879E0125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8695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37D9D-175F-B97D-EBFD-188C1A3FAF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67A178-FC3F-6767-F0C6-67711E9E0A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5F2722-10E8-D111-593F-65945F31D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4450BA-DC77-AD0E-B748-595B223EE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E111FF-2703-4033-9B44-DAF026D5F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835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7B691-58A8-9E02-A899-11DC7FA65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F52A4E-97AA-2710-7713-7D775596B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5CA9F5-1E98-B475-8F31-7FF8701A6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76E65F-B991-A057-FD43-451D3E8B7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821E7C-2D3C-711B-6537-1B6AF3B12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4691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82F06-543C-5392-48EF-2D37CF3C3B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A6C8FB-04A1-7B53-727C-ECC1295A6D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214EEB-91A0-314C-188F-581C03272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15BA3D-522B-449F-D373-1A10A3F944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87930-C736-D4E9-8B08-32BB707B4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2971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9ECC2-069B-A95E-6759-FF21D09CE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699CE-E3FB-1960-6FC6-AF5463A493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7AC10D-6D18-7466-1B7C-E02B85070C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79644A-C96E-3C82-3C62-85C1EC90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6CC87C-BA70-7698-C017-021396179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097A6A-8821-7CDA-810A-4A6D06DA9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623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D899E-983F-35DA-9413-516C102B1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603D81-5A4A-CAD8-FC08-A8DDD22DD3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7E6BC6-A4D7-EFCA-D331-9CE2DCED59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CAD068-0330-0ED3-967F-2CE1759F29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E4FB58-D125-FC25-9048-771C306824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D42B4A-8A76-60A5-3E19-1EF27C763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F7E630-126F-8763-8E3D-3222DB9D7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9C7F414-2B3E-44BF-A0BC-FAEAD7E83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764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E4095-1CA7-CA3F-12C3-D11B2409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B24A5D-7E28-E720-6084-0AC35E2DD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81C997-5A72-25F1-15CE-36E3A49993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235F9B-5A3C-C259-5CD3-4419F7C8C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475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29B79B4-FF91-105E-88AF-2A70BDA4E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32BA2C-1F9B-E911-9350-2B354B21A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13E33-60C6-5113-A74E-47FB33A4F4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5313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382DDD-9756-31C3-BE69-09674FBD97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5AB8E-BAA5-E097-168A-BE5D4FDF8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83EC7F-61E2-8AD9-34F2-DDBD9ABFB1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D7D752-AAD1-40F9-B319-4FE081D41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9DA8F5-88F5-453C-C6B6-D25BF17E4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B6A064-C2DD-93EA-F700-50E095068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030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9098E-C3D4-13BA-A184-4A6158979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2872CC-92EC-58B4-5E07-9B86D7CC86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CFFA93-CBC8-75EB-78C1-093BCB0BD8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EEC9BE-3E51-8F97-FC11-665EAD236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AB87A1-5DE2-009A-C2A7-8416BCC9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97D6A5-FD7E-D4DB-7231-C0BCEB4D3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498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61BD7-FC21-6E45-742D-09FADCBAC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6C6813-95BC-2CCC-143A-17F75F5E2E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4212F1-D69A-71E1-1DE2-5F834F160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0458BC-12ED-4FBD-13B2-5BFF16FC4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91E848-C945-B902-6FCE-6764F13AC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632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209C34-388D-A743-6508-85A55EF8A5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9E1B32-F28F-3148-4B5D-0A70472DA8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4983BC-47E1-7072-AD54-807B5D2B7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96994B-8109-854F-EC49-58A5F287BB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DFE806-E215-4677-A224-E37FBF08C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697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8050FB-F62C-F1AB-1398-88E60AECC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41491C-F5D0-89B2-3BAC-5AA3E49921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9D451D-5416-18A9-FCE5-1C568AA573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6B1EBF-9E0E-964E-B873-EC23277E6EF1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D4AD18-8BB9-B57F-09BB-E9F87F987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FFD18F-F228-28E1-3CEC-599414B0E0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4D9338-7461-424C-95E0-AB8EA313FF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492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6E5C0-6E90-8A29-AC48-9D1C3287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96C69BE-F560-74D5-F9AB-16DE1CF796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593264"/>
              </p:ext>
            </p:extLst>
          </p:nvPr>
        </p:nvGraphicFramePr>
        <p:xfrm>
          <a:off x="1572943" y="0"/>
          <a:ext cx="5907719" cy="6792747"/>
        </p:xfrm>
        <a:graphic>
          <a:graphicData uri="http://schemas.openxmlformats.org/drawingml/2006/table">
            <a:tbl>
              <a:tblPr/>
              <a:tblGrid>
                <a:gridCol w="1698476">
                  <a:extLst>
                    <a:ext uri="{9D8B030D-6E8A-4147-A177-3AD203B41FA5}">
                      <a16:colId xmlns:a16="http://schemas.microsoft.com/office/drawing/2014/main" val="2973545624"/>
                    </a:ext>
                  </a:extLst>
                </a:gridCol>
                <a:gridCol w="4209243">
                  <a:extLst>
                    <a:ext uri="{9D8B030D-6E8A-4147-A177-3AD203B41FA5}">
                      <a16:colId xmlns:a16="http://schemas.microsoft.com/office/drawing/2014/main" val="369882124"/>
                    </a:ext>
                  </a:extLst>
                </a:gridCol>
              </a:tblGrid>
              <a:tr h="21764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Address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3373810"/>
                  </a:ext>
                </a:extLst>
              </a:tr>
              <a:tr h="194733">
                <a:tc gridSpan="2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MC and SM Graphs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8352204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soc-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sinaweibo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https://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networkrepository.com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/soc-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sinaweibo.php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4527825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web-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wikipedia_link_en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https://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networkrepository.com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/web-wikipedia-link-en13-all.php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9472566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edit-frwiki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http://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konect.cc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/networks/edit-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frwiki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5139826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edit-cebwiki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http://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konect.cc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/networks/edit-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cebwiki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1224725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svwiki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http://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konect.cc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/networks/edit-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svwiki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7600743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edit-eswiki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http://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konect.cc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/networks/edit-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eswiki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2348176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edit-dewiki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http://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konect.cc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/networks/edit-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dewiki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5274640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edit-enwiktionary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/networks/edit-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enwiktionary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2385824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wikipedia_link_sh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wikipedia_link_sh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3785015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wikipedia_link_de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wikipedia_link_de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519520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frwiktionary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/networks/edit-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frwiktionary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70724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wikipedia_link_ru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wikipedia_link_ru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2062590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wikipedia_link_fr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wikipedia_link_fr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068681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wikipedia_link_sr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wikipedia_link_sr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0130043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orkut-links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orkut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-links/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5095371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arwiki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/networks/edit-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arwiki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5985025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wikipedia_link_nl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wikipedia_link_nl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8251326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wiki-Talk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/networks/wiki-Talk/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2317441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wikipedia_link_it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wikipedia_link_it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5117475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topcats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https://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snap.stanford.edu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/data/wiki-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topcats.html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1282169"/>
                  </a:ext>
                </a:extLst>
              </a:tr>
              <a:tr h="206188">
                <a:tc gridSpan="2"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MQC Graphs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rtl="0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73222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socfb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-B-anon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https://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networkrepository.com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socfb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-B-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anon.php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152043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Flixster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https://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networkrepository.com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/soc-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flixster.php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9250399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soc-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pokec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/networks/soc-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pokec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-relationships/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7376659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Hyves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hyves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2481100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Douban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douban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558767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WordNet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/networks/wordnet-words/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8192461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slashdot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-threads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slashdot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-threads/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8893641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FB-Pages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https://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networkrepository.com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/fb-pages-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politician.php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814435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kywiktionary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/networks/edit-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kywiktionary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3598525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wikilens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-ratings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http://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konect.cc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/networks/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wikilens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-ratings/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3377910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sswiki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http://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konect.cc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/networks/edit-</a:t>
                      </a:r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sswiki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/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3572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75721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ED26F63-FE3F-B6A9-EE9C-58E6DFDFA9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9631497"/>
              </p:ext>
            </p:extLst>
          </p:nvPr>
        </p:nvGraphicFramePr>
        <p:xfrm>
          <a:off x="1223375" y="1367121"/>
          <a:ext cx="9745249" cy="4123758"/>
        </p:xfrm>
        <a:graphic>
          <a:graphicData uri="http://schemas.openxmlformats.org/drawingml/2006/table">
            <a:tbl>
              <a:tblPr/>
              <a:tblGrid>
                <a:gridCol w="1439559">
                  <a:extLst>
                    <a:ext uri="{9D8B030D-6E8A-4147-A177-3AD203B41FA5}">
                      <a16:colId xmlns:a16="http://schemas.microsoft.com/office/drawing/2014/main" val="2973545624"/>
                    </a:ext>
                  </a:extLst>
                </a:gridCol>
                <a:gridCol w="745402">
                  <a:extLst>
                    <a:ext uri="{9D8B030D-6E8A-4147-A177-3AD203B41FA5}">
                      <a16:colId xmlns:a16="http://schemas.microsoft.com/office/drawing/2014/main" val="369882124"/>
                    </a:ext>
                  </a:extLst>
                </a:gridCol>
                <a:gridCol w="745402">
                  <a:extLst>
                    <a:ext uri="{9D8B030D-6E8A-4147-A177-3AD203B41FA5}">
                      <a16:colId xmlns:a16="http://schemas.microsoft.com/office/drawing/2014/main" val="3812125455"/>
                    </a:ext>
                  </a:extLst>
                </a:gridCol>
                <a:gridCol w="752289">
                  <a:extLst>
                    <a:ext uri="{9D8B030D-6E8A-4147-A177-3AD203B41FA5}">
                      <a16:colId xmlns:a16="http://schemas.microsoft.com/office/drawing/2014/main" val="3678271647"/>
                    </a:ext>
                  </a:extLst>
                </a:gridCol>
                <a:gridCol w="713983">
                  <a:extLst>
                    <a:ext uri="{9D8B030D-6E8A-4147-A177-3AD203B41FA5}">
                      <a16:colId xmlns:a16="http://schemas.microsoft.com/office/drawing/2014/main" val="58799652"/>
                    </a:ext>
                  </a:extLst>
                </a:gridCol>
                <a:gridCol w="839244">
                  <a:extLst>
                    <a:ext uri="{9D8B030D-6E8A-4147-A177-3AD203B41FA5}">
                      <a16:colId xmlns:a16="http://schemas.microsoft.com/office/drawing/2014/main" val="4276073019"/>
                    </a:ext>
                  </a:extLst>
                </a:gridCol>
                <a:gridCol w="789140">
                  <a:extLst>
                    <a:ext uri="{9D8B030D-6E8A-4147-A177-3AD203B41FA5}">
                      <a16:colId xmlns:a16="http://schemas.microsoft.com/office/drawing/2014/main" val="2463051741"/>
                    </a:ext>
                  </a:extLst>
                </a:gridCol>
                <a:gridCol w="764088">
                  <a:extLst>
                    <a:ext uri="{9D8B030D-6E8A-4147-A177-3AD203B41FA5}">
                      <a16:colId xmlns:a16="http://schemas.microsoft.com/office/drawing/2014/main" val="1472400282"/>
                    </a:ext>
                  </a:extLst>
                </a:gridCol>
                <a:gridCol w="739035">
                  <a:extLst>
                    <a:ext uri="{9D8B030D-6E8A-4147-A177-3AD203B41FA5}">
                      <a16:colId xmlns:a16="http://schemas.microsoft.com/office/drawing/2014/main" val="3895771630"/>
                    </a:ext>
                  </a:extLst>
                </a:gridCol>
                <a:gridCol w="801666">
                  <a:extLst>
                    <a:ext uri="{9D8B030D-6E8A-4147-A177-3AD203B41FA5}">
                      <a16:colId xmlns:a16="http://schemas.microsoft.com/office/drawing/2014/main" val="1879828629"/>
                    </a:ext>
                  </a:extLst>
                </a:gridCol>
                <a:gridCol w="713983">
                  <a:extLst>
                    <a:ext uri="{9D8B030D-6E8A-4147-A177-3AD203B41FA5}">
                      <a16:colId xmlns:a16="http://schemas.microsoft.com/office/drawing/2014/main" val="849871257"/>
                    </a:ext>
                  </a:extLst>
                </a:gridCol>
                <a:gridCol w="701458">
                  <a:extLst>
                    <a:ext uri="{9D8B030D-6E8A-4147-A177-3AD203B41FA5}">
                      <a16:colId xmlns:a16="http://schemas.microsoft.com/office/drawing/2014/main" val="2931578335"/>
                    </a:ext>
                  </a:extLst>
                </a:gridCol>
              </a:tblGrid>
              <a:tr h="21764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|V|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|E|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</a:t>
                      </a:r>
                      <a:r>
                        <a:rPr lang="en-US" sz="1100" b="1" i="1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max</a:t>
                      </a:r>
                      <a:endParaRPr lang="en-US" sz="1100" b="1" i="1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-AIMD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GPU-Layered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GPU-Hybrid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CPU-Only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CPU+GPU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GH2G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CG2GH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CG2C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3373810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soc-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sinaweibo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58.66M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522.6M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278.5K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72.1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32.5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27.9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144.3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19.4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7.4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4527825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web-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wikipedia_link_en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25.92M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1086.4M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4271.3K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151.5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222.6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147.7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227.7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117.9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9472566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frwiki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8.833M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105.9M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2126.4K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112.7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90.0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60.7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306.4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48.3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5139826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cebwiki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8.483M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23.59M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8421.4K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7.74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1224725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svwiki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7.570M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43.88M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5670.0K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4.53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7600743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eswiki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5.868M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61.17M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959.3K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47.8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35.6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123.5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19.3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22348176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dewiki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5.829M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110.4M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818.2K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79.4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52.6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46.3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245.5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33.7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7.3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5274640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enwiktionary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5.813M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54.24M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3504.0K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4.8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2385824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wikipedia_link_sh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3.924M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152.9M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254.6K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483.4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483.7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481.9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450.8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127.7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3.77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3785015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wikipedia_link_de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3.604M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155.1M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434.2K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147.7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94.6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74.1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196.6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58.1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519520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frwiktionary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3.412M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26.85M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2487.1K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1.8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2.61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70724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wikipedia_link_ru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3.370M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143.9M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282.6K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156.7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86.0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73.6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200.6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42.9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2062590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wikipedia_link_fr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3.333M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200.9M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399.4K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281.4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237.1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199.8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834.2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160.5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5.2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068681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wikipedia_link_sr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3.175M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206.6M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369.6K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434.1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494.0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409.9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346.2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158.1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0130043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orkut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-links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3.072M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234.4M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33.31K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112.0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88.4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57.0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281.8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44.7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5095371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arwiki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2.940M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20.97M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916.7K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4.4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5985025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wikipedia_link_nl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2.623M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94.93M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900.4K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25.5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27.7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31.8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8251326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wiki-Talk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2.394M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9.319M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100.0K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11.5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5.9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2317441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wikipedia_link_it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2.149M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155.8M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286.6K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33.9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38.2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31.7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110.6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19.7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1.61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5.6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5117475"/>
                  </a:ext>
                </a:extLst>
              </a:tr>
              <a:tr h="20618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topcats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1.791M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50.89M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238.3K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3.0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4.5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5.0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12821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90068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8D451-66A4-3181-8DDD-496D006AA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CPU is much faster than GPU?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8397CA-74DB-C096-A33A-4A6EA1EBA1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 few vertices are very high degree in the graphs</a:t>
            </a:r>
          </a:p>
          <a:p>
            <a:r>
              <a:rPr lang="en-US" sz="2400" dirty="0"/>
              <a:t>Since a warp processes a vertex, a high degree vertex causes a warp to take a long time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71FD285-649F-C283-FF9C-C96DE1A35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2269" y="3997773"/>
            <a:ext cx="3553074" cy="24951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3094F3E-5218-67A1-ADC4-85BB2EEE09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0543" y="3997773"/>
            <a:ext cx="3559189" cy="2495102"/>
          </a:xfrm>
          <a:prstGeom prst="rect">
            <a:avLst/>
          </a:prstGeo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D7A747D-0648-D736-9FCB-0A93597A8B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1007558"/>
              </p:ext>
            </p:extLst>
          </p:nvPr>
        </p:nvGraphicFramePr>
        <p:xfrm>
          <a:off x="1479645" y="3083992"/>
          <a:ext cx="9745249" cy="607109"/>
        </p:xfrm>
        <a:graphic>
          <a:graphicData uri="http://schemas.openxmlformats.org/drawingml/2006/table">
            <a:tbl>
              <a:tblPr/>
              <a:tblGrid>
                <a:gridCol w="1439559">
                  <a:extLst>
                    <a:ext uri="{9D8B030D-6E8A-4147-A177-3AD203B41FA5}">
                      <a16:colId xmlns:a16="http://schemas.microsoft.com/office/drawing/2014/main" val="2705897248"/>
                    </a:ext>
                  </a:extLst>
                </a:gridCol>
                <a:gridCol w="745402">
                  <a:extLst>
                    <a:ext uri="{9D8B030D-6E8A-4147-A177-3AD203B41FA5}">
                      <a16:colId xmlns:a16="http://schemas.microsoft.com/office/drawing/2014/main" val="1721263717"/>
                    </a:ext>
                  </a:extLst>
                </a:gridCol>
                <a:gridCol w="745402">
                  <a:extLst>
                    <a:ext uri="{9D8B030D-6E8A-4147-A177-3AD203B41FA5}">
                      <a16:colId xmlns:a16="http://schemas.microsoft.com/office/drawing/2014/main" val="2444031767"/>
                    </a:ext>
                  </a:extLst>
                </a:gridCol>
                <a:gridCol w="752289">
                  <a:extLst>
                    <a:ext uri="{9D8B030D-6E8A-4147-A177-3AD203B41FA5}">
                      <a16:colId xmlns:a16="http://schemas.microsoft.com/office/drawing/2014/main" val="1481681977"/>
                    </a:ext>
                  </a:extLst>
                </a:gridCol>
                <a:gridCol w="713983">
                  <a:extLst>
                    <a:ext uri="{9D8B030D-6E8A-4147-A177-3AD203B41FA5}">
                      <a16:colId xmlns:a16="http://schemas.microsoft.com/office/drawing/2014/main" val="2036045544"/>
                    </a:ext>
                  </a:extLst>
                </a:gridCol>
                <a:gridCol w="839244">
                  <a:extLst>
                    <a:ext uri="{9D8B030D-6E8A-4147-A177-3AD203B41FA5}">
                      <a16:colId xmlns:a16="http://schemas.microsoft.com/office/drawing/2014/main" val="2008554162"/>
                    </a:ext>
                  </a:extLst>
                </a:gridCol>
                <a:gridCol w="789140">
                  <a:extLst>
                    <a:ext uri="{9D8B030D-6E8A-4147-A177-3AD203B41FA5}">
                      <a16:colId xmlns:a16="http://schemas.microsoft.com/office/drawing/2014/main" val="3550174167"/>
                    </a:ext>
                  </a:extLst>
                </a:gridCol>
                <a:gridCol w="764088">
                  <a:extLst>
                    <a:ext uri="{9D8B030D-6E8A-4147-A177-3AD203B41FA5}">
                      <a16:colId xmlns:a16="http://schemas.microsoft.com/office/drawing/2014/main" val="2203274177"/>
                    </a:ext>
                  </a:extLst>
                </a:gridCol>
                <a:gridCol w="739035">
                  <a:extLst>
                    <a:ext uri="{9D8B030D-6E8A-4147-A177-3AD203B41FA5}">
                      <a16:colId xmlns:a16="http://schemas.microsoft.com/office/drawing/2014/main" val="1973030620"/>
                    </a:ext>
                  </a:extLst>
                </a:gridCol>
                <a:gridCol w="801666">
                  <a:extLst>
                    <a:ext uri="{9D8B030D-6E8A-4147-A177-3AD203B41FA5}">
                      <a16:colId xmlns:a16="http://schemas.microsoft.com/office/drawing/2014/main" val="2843998701"/>
                    </a:ext>
                  </a:extLst>
                </a:gridCol>
                <a:gridCol w="713983">
                  <a:extLst>
                    <a:ext uri="{9D8B030D-6E8A-4147-A177-3AD203B41FA5}">
                      <a16:colId xmlns:a16="http://schemas.microsoft.com/office/drawing/2014/main" val="3532078579"/>
                    </a:ext>
                  </a:extLst>
                </a:gridCol>
                <a:gridCol w="701458">
                  <a:extLst>
                    <a:ext uri="{9D8B030D-6E8A-4147-A177-3AD203B41FA5}">
                      <a16:colId xmlns:a16="http://schemas.microsoft.com/office/drawing/2014/main" val="1356607101"/>
                    </a:ext>
                  </a:extLst>
                </a:gridCol>
              </a:tblGrid>
              <a:tr h="21764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|V|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|E|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b="1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</a:t>
                      </a:r>
                      <a:r>
                        <a:rPr lang="en-US" sz="1100" b="1" i="1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max</a:t>
                      </a:r>
                      <a:endParaRPr lang="en-US" sz="1100" b="1" i="1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-AIMD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GPU-Layered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GPU-Hybrid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CPU-Only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CPU+GPU</a:t>
                      </a: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GH2G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CG2GH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CG2C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2101841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cebwiki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8.483M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23.59M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8421.4K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7.74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7432270"/>
                  </a:ext>
                </a:extLst>
              </a:tr>
              <a:tr h="19473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edit-svwiki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7.570M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43.88M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5670.0K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14.1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13.3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4.7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1.2</a:t>
                      </a:r>
                    </a:p>
                  </a:txBody>
                  <a:tcPr marL="8591" marR="8591" marT="859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4.53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5911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1210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80D66C-B55A-08AA-1889-717BF13DE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Parameter Tuning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6639922-C12D-FDCB-2223-9C1CDB069D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6893870"/>
              </p:ext>
            </p:extLst>
          </p:nvPr>
        </p:nvGraphicFramePr>
        <p:xfrm>
          <a:off x="6823954" y="1690688"/>
          <a:ext cx="3834547" cy="2944880"/>
        </p:xfrm>
        <a:graphic>
          <a:graphicData uri="http://schemas.openxmlformats.org/drawingml/2006/table">
            <a:tbl>
              <a:tblPr/>
              <a:tblGrid>
                <a:gridCol w="874207">
                  <a:extLst>
                    <a:ext uri="{9D8B030D-6E8A-4147-A177-3AD203B41FA5}">
                      <a16:colId xmlns:a16="http://schemas.microsoft.com/office/drawing/2014/main" val="425418575"/>
                    </a:ext>
                  </a:extLst>
                </a:gridCol>
                <a:gridCol w="628022">
                  <a:extLst>
                    <a:ext uri="{9D8B030D-6E8A-4147-A177-3AD203B41FA5}">
                      <a16:colId xmlns:a16="http://schemas.microsoft.com/office/drawing/2014/main" val="1885157242"/>
                    </a:ext>
                  </a:extLst>
                </a:gridCol>
                <a:gridCol w="1186542">
                  <a:extLst>
                    <a:ext uri="{9D8B030D-6E8A-4147-A177-3AD203B41FA5}">
                      <a16:colId xmlns:a16="http://schemas.microsoft.com/office/drawing/2014/main" val="2854604007"/>
                    </a:ext>
                  </a:extLst>
                </a:gridCol>
                <a:gridCol w="1145776">
                  <a:extLst>
                    <a:ext uri="{9D8B030D-6E8A-4147-A177-3AD203B41FA5}">
                      <a16:colId xmlns:a16="http://schemas.microsoft.com/office/drawing/2014/main" val="777857154"/>
                    </a:ext>
                  </a:extLst>
                </a:gridCol>
              </a:tblGrid>
              <a:tr h="192024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Parameter</a:t>
                      </a:r>
                    </a:p>
                  </a:txBody>
                  <a:tcPr marL="8058" marR="8058" marT="8058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Value</a:t>
                      </a:r>
                    </a:p>
                  </a:txBody>
                  <a:tcPr marL="8058" marR="8058" marT="8058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wikipedia_link_fr</a:t>
                      </a:r>
                      <a:endParaRPr lang="en-US" sz="1200" b="1" i="0" u="none" strike="noStrike" kern="12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edit-</a:t>
                      </a:r>
                      <a:r>
                        <a:rPr lang="en-US" sz="1200" b="1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eswiki</a:t>
                      </a:r>
                      <a:endParaRPr lang="en-US" sz="1200" b="1" i="0" u="none" strike="noStrike" kern="12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+mn-cs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147334"/>
                  </a:ext>
                </a:extLst>
              </a:tr>
              <a:tr h="192024">
                <a:tc rowSpan="4">
                  <a:txBody>
                    <a:bodyPr/>
                    <a:lstStyle/>
                    <a:p>
                      <a:pPr algn="ctr" fontAlgn="b"/>
                      <a:r>
                        <a:rPr lang="el-GR" sz="12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η</a:t>
                      </a:r>
                      <a:r>
                        <a:rPr lang="en-US" sz="1200" b="0" i="1" u="none" strike="noStrike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/ </a:t>
                      </a:r>
                      <a:r>
                        <a:rPr lang="en-US" sz="12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#{warps}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8058" marR="8058" marT="805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230.3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39.5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9775542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2000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2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199.8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28.2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5810877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5000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277.1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30.8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1079832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399.0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32.3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829596"/>
                  </a:ext>
                </a:extLst>
              </a:tr>
              <a:tr h="192024">
                <a:tc rowSpan="4"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</a:t>
                      </a:r>
                    </a:p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Chunk</a:t>
                      </a:r>
                    </a:p>
                  </a:txBody>
                  <a:tcPr marL="8058" marR="8058" marT="805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208.4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34.9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299849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100</a:t>
                      </a:r>
                    </a:p>
                  </a:txBody>
                  <a:tcPr marL="8058" marR="8058" marT="8058" marB="0" anchor="b">
                    <a:lnL w="12700" cmpd="sng">
                      <a:noFill/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162.9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28.0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722319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200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160.5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19.3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9143483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500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210.8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26.1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39259488"/>
                  </a:ext>
                </a:extLst>
              </a:tr>
              <a:tr h="192024"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GPU </a:t>
                      </a:r>
                    </a:p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Chunk</a:t>
                      </a:r>
                    </a:p>
                  </a:txBody>
                  <a:tcPr marL="8058" marR="8058" marT="805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10K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187.3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26.3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9928739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100K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160.5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19.3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0972633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500K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194.0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27.0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7409835"/>
                  </a:ext>
                </a:extLst>
              </a:tr>
              <a:tr h="192024"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𝜏</a:t>
                      </a:r>
                      <a:r>
                        <a:rPr lang="en-US" sz="16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  <a:endParaRPr lang="en-US" sz="1200" b="0" i="0" u="none" strike="noStrike" baseline="-25000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58" marR="8058" marT="8058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180.2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20.1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8946404"/>
                  </a:ext>
                </a:extLst>
              </a:tr>
              <a:tr h="19202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n</a:t>
                      </a:r>
                      <a:r>
                        <a:rPr lang="en-US" sz="12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  <a:r>
                        <a:rPr lang="en-US" sz="12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 2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160.5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19.3</a:t>
                      </a:r>
                    </a:p>
                  </a:txBody>
                  <a:tcPr marL="8058" marR="8058" marT="805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0913503"/>
                  </a:ext>
                </a:extLst>
              </a:tr>
              <a:tr h="25235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n</a:t>
                      </a:r>
                      <a:r>
                        <a:rPr lang="en-US" sz="12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  <a:r>
                        <a:rPr lang="en-US" sz="1200" b="0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 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/ 4</a:t>
                      </a:r>
                    </a:p>
                  </a:txBody>
                  <a:tcPr marL="8058" marR="8058" marT="8058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203.3</a:t>
                      </a:r>
                    </a:p>
                  </a:txBody>
                  <a:tcPr marL="8058" marR="8058" marT="8058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8058" marR="8058" marT="8058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563893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29A9203-5712-8501-6B46-277CBC6B4907}"/>
              </a:ext>
            </a:extLst>
          </p:cNvPr>
          <p:cNvSpPr txBox="1"/>
          <p:nvPr/>
        </p:nvSpPr>
        <p:spPr>
          <a:xfrm>
            <a:off x="892629" y="2079171"/>
            <a:ext cx="306128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 stealing size:</a:t>
            </a:r>
          </a:p>
          <a:p>
            <a:endParaRPr lang="en-US" dirty="0"/>
          </a:p>
          <a:p>
            <a:r>
              <a:rPr lang="el-GR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η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/>
              <a:t>tasks from CPU -&gt; GPU </a:t>
            </a:r>
          </a:p>
          <a:p>
            <a:r>
              <a:rPr lang="en-US" dirty="0"/>
              <a:t>5000 tasks from GPU -&gt; CPU </a:t>
            </a:r>
          </a:p>
        </p:txBody>
      </p:sp>
    </p:spTree>
    <p:extLst>
      <p:ext uri="{BB962C8B-B14F-4D97-AF65-F5344CB8AC3E}">
        <p14:creationId xmlns:p14="http://schemas.microsoft.com/office/powerpoint/2010/main" val="386471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CDFBC40D-3C7C-FECE-AC01-1D5424AA9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1909464"/>
              </p:ext>
            </p:extLst>
          </p:nvPr>
        </p:nvGraphicFramePr>
        <p:xfrm>
          <a:off x="1812447" y="1498107"/>
          <a:ext cx="8567106" cy="3861786"/>
        </p:xfrm>
        <a:graphic>
          <a:graphicData uri="http://schemas.openxmlformats.org/drawingml/2006/table">
            <a:tbl>
              <a:tblPr/>
              <a:tblGrid>
                <a:gridCol w="906052">
                  <a:extLst>
                    <a:ext uri="{9D8B030D-6E8A-4147-A177-3AD203B41FA5}">
                      <a16:colId xmlns:a16="http://schemas.microsoft.com/office/drawing/2014/main" val="988776072"/>
                    </a:ext>
                  </a:extLst>
                </a:gridCol>
                <a:gridCol w="633046">
                  <a:extLst>
                    <a:ext uri="{9D8B030D-6E8A-4147-A177-3AD203B41FA5}">
                      <a16:colId xmlns:a16="http://schemas.microsoft.com/office/drawing/2014/main" val="2437062159"/>
                    </a:ext>
                  </a:extLst>
                </a:gridCol>
                <a:gridCol w="673239">
                  <a:extLst>
                    <a:ext uri="{9D8B030D-6E8A-4147-A177-3AD203B41FA5}">
                      <a16:colId xmlns:a16="http://schemas.microsoft.com/office/drawing/2014/main" val="2392013438"/>
                    </a:ext>
                  </a:extLst>
                </a:gridCol>
                <a:gridCol w="834014">
                  <a:extLst>
                    <a:ext uri="{9D8B030D-6E8A-4147-A177-3AD203B41FA5}">
                      <a16:colId xmlns:a16="http://schemas.microsoft.com/office/drawing/2014/main" val="2085524345"/>
                    </a:ext>
                  </a:extLst>
                </a:gridCol>
                <a:gridCol w="633046">
                  <a:extLst>
                    <a:ext uri="{9D8B030D-6E8A-4147-A177-3AD203B41FA5}">
                      <a16:colId xmlns:a16="http://schemas.microsoft.com/office/drawing/2014/main" val="280746707"/>
                    </a:ext>
                  </a:extLst>
                </a:gridCol>
                <a:gridCol w="663191">
                  <a:extLst>
                    <a:ext uri="{9D8B030D-6E8A-4147-A177-3AD203B41FA5}">
                      <a16:colId xmlns:a16="http://schemas.microsoft.com/office/drawing/2014/main" val="716709532"/>
                    </a:ext>
                  </a:extLst>
                </a:gridCol>
                <a:gridCol w="663191">
                  <a:extLst>
                    <a:ext uri="{9D8B030D-6E8A-4147-A177-3AD203B41FA5}">
                      <a16:colId xmlns:a16="http://schemas.microsoft.com/office/drawing/2014/main" val="3087816826"/>
                    </a:ext>
                  </a:extLst>
                </a:gridCol>
                <a:gridCol w="643095">
                  <a:extLst>
                    <a:ext uri="{9D8B030D-6E8A-4147-A177-3AD203B41FA5}">
                      <a16:colId xmlns:a16="http://schemas.microsoft.com/office/drawing/2014/main" val="913073786"/>
                    </a:ext>
                  </a:extLst>
                </a:gridCol>
                <a:gridCol w="643094">
                  <a:extLst>
                    <a:ext uri="{9D8B030D-6E8A-4147-A177-3AD203B41FA5}">
                      <a16:colId xmlns:a16="http://schemas.microsoft.com/office/drawing/2014/main" val="1829439586"/>
                    </a:ext>
                  </a:extLst>
                </a:gridCol>
                <a:gridCol w="602901">
                  <a:extLst>
                    <a:ext uri="{9D8B030D-6E8A-4147-A177-3AD203B41FA5}">
                      <a16:colId xmlns:a16="http://schemas.microsoft.com/office/drawing/2014/main" val="495568159"/>
                    </a:ext>
                  </a:extLst>
                </a:gridCol>
                <a:gridCol w="542611">
                  <a:extLst>
                    <a:ext uri="{9D8B030D-6E8A-4147-A177-3AD203B41FA5}">
                      <a16:colId xmlns:a16="http://schemas.microsoft.com/office/drawing/2014/main" val="2429234733"/>
                    </a:ext>
                  </a:extLst>
                </a:gridCol>
                <a:gridCol w="552660">
                  <a:extLst>
                    <a:ext uri="{9D8B030D-6E8A-4147-A177-3AD203B41FA5}">
                      <a16:colId xmlns:a16="http://schemas.microsoft.com/office/drawing/2014/main" val="1967445433"/>
                    </a:ext>
                  </a:extLst>
                </a:gridCol>
                <a:gridCol w="576966">
                  <a:extLst>
                    <a:ext uri="{9D8B030D-6E8A-4147-A177-3AD203B41FA5}">
                      <a16:colId xmlns:a16="http://schemas.microsoft.com/office/drawing/2014/main" val="227442279"/>
                    </a:ext>
                  </a:extLst>
                </a:gridCol>
              </a:tblGrid>
              <a:tr h="21394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Query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  <a:r>
                        <a:rPr lang="en-US" sz="800" b="1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-AIMD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GPU-Layered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GPU-Hybrid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CPU-Only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CPU+GPU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8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GL2G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8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CG2GL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8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CG2C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STMatch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EGSM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8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GAMMA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581072"/>
                  </a:ext>
                </a:extLst>
              </a:tr>
              <a:tr h="181857">
                <a:tc rowSpan="5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cebwiki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0.8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22.7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20.4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126.0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9127161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52.6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6171624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10.2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9.6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10.8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8985936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27.7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17.5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22.0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19.3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8951112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513.0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212.0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21.2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1511401"/>
                  </a:ext>
                </a:extLst>
              </a:tr>
              <a:tr h="181857">
                <a:tc rowSpan="5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orkut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-links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166.0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40.5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106.2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7062147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60.3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51.3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67.7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52.7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6365135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183.1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167.0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185.8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168.3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2010351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199.1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171.5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219.4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171.5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1682175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26.4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23.3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20.6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3224488"/>
                  </a:ext>
                </a:extLst>
              </a:tr>
              <a:tr h="181857">
                <a:tc rowSpan="5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arwiki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7.5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7.5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8.3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462.5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193.0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6906978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132.9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129.4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128.9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129.2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9422732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477.7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468.7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474.4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466.9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3708468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529.7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455.0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459.4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443.7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8757341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7.5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131.8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447379"/>
                  </a:ext>
                </a:extLst>
              </a:tr>
              <a:tr h="181857">
                <a:tc rowSpan="5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wiki-topcats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1016.9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764.5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29.7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7185267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5.6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118192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14.2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548949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27.6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16.0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22.5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17.6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0509644"/>
                  </a:ext>
                </a:extLst>
              </a:tr>
              <a:tr h="19255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36.4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18.3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48.4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OOM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711512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157E253-04DC-78DB-FAAD-6DEB435A473C}"/>
              </a:ext>
            </a:extLst>
          </p:cNvPr>
          <p:cNvSpPr txBox="1"/>
          <p:nvPr/>
        </p:nvSpPr>
        <p:spPr>
          <a:xfrm>
            <a:off x="8739962" y="5644137"/>
            <a:ext cx="2264735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OOT: Execution exceeds 30m</a:t>
            </a:r>
          </a:p>
          <a:p>
            <a:r>
              <a:rPr lang="en-US" sz="1100" dirty="0"/>
              <a:t>OOM: Out of Memory</a:t>
            </a:r>
            <a:endParaRPr lang="en-US" sz="11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1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: Cannot compute due to OOT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D395F8-582B-C27D-A442-D0DC6E728871}"/>
              </a:ext>
            </a:extLst>
          </p:cNvPr>
          <p:cNvSpPr txBox="1"/>
          <p:nvPr/>
        </p:nvSpPr>
        <p:spPr>
          <a:xfrm>
            <a:off x="4493476" y="624777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602EFF-A5E9-C2F3-73CB-1904EB599A4A}"/>
              </a:ext>
            </a:extLst>
          </p:cNvPr>
          <p:cNvSpPr txBox="1"/>
          <p:nvPr/>
        </p:nvSpPr>
        <p:spPr>
          <a:xfrm>
            <a:off x="5089948" y="624777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96FA37-FFAC-E43E-016D-F401E5302E80}"/>
              </a:ext>
            </a:extLst>
          </p:cNvPr>
          <p:cNvSpPr txBox="1"/>
          <p:nvPr/>
        </p:nvSpPr>
        <p:spPr>
          <a:xfrm>
            <a:off x="5685011" y="624777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AA6015-BC69-8E38-4EDB-66C674DAFF74}"/>
              </a:ext>
            </a:extLst>
          </p:cNvPr>
          <p:cNvSpPr txBox="1"/>
          <p:nvPr/>
        </p:nvSpPr>
        <p:spPr>
          <a:xfrm>
            <a:off x="6258962" y="624777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3F3955-9E3A-247A-3774-35DA23B66814}"/>
              </a:ext>
            </a:extLst>
          </p:cNvPr>
          <p:cNvSpPr txBox="1"/>
          <p:nvPr/>
        </p:nvSpPr>
        <p:spPr>
          <a:xfrm>
            <a:off x="6823794" y="624777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P5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C4BCD7D-DA90-0296-9E4B-5C233B4C420F}"/>
              </a:ext>
            </a:extLst>
          </p:cNvPr>
          <p:cNvSpPr/>
          <p:nvPr/>
        </p:nvSpPr>
        <p:spPr>
          <a:xfrm>
            <a:off x="4483815" y="582068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BDF550C-2912-87E7-3B9A-69522765804D}"/>
              </a:ext>
            </a:extLst>
          </p:cNvPr>
          <p:cNvSpPr/>
          <p:nvPr/>
        </p:nvSpPr>
        <p:spPr>
          <a:xfrm>
            <a:off x="4850704" y="581679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39DFE89-BAE0-B146-C630-CD77BF66B43F}"/>
              </a:ext>
            </a:extLst>
          </p:cNvPr>
          <p:cNvSpPr/>
          <p:nvPr/>
        </p:nvSpPr>
        <p:spPr>
          <a:xfrm>
            <a:off x="4483815" y="6187005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1F850B3-68D9-CE6D-D463-C0EBA3E21F78}"/>
              </a:ext>
            </a:extLst>
          </p:cNvPr>
          <p:cNvSpPr/>
          <p:nvPr/>
        </p:nvSpPr>
        <p:spPr>
          <a:xfrm>
            <a:off x="4847309" y="6187004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76BECC4-48EB-FE5F-1D6E-A3AA9871C4F9}"/>
              </a:ext>
            </a:extLst>
          </p:cNvPr>
          <p:cNvCxnSpPr>
            <a:cxnSpLocks/>
          </p:cNvCxnSpPr>
          <p:nvPr/>
        </p:nvCxnSpPr>
        <p:spPr>
          <a:xfrm rot="16200000" flipV="1">
            <a:off x="4521905" y="5851707"/>
            <a:ext cx="361720" cy="3617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5C66715-E4CD-A130-1A2B-828E7EEB329E}"/>
              </a:ext>
            </a:extLst>
          </p:cNvPr>
          <p:cNvCxnSpPr>
            <a:cxnSpLocks/>
          </p:cNvCxnSpPr>
          <p:nvPr/>
        </p:nvCxnSpPr>
        <p:spPr>
          <a:xfrm flipV="1">
            <a:off x="4531663" y="5867939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A411E29-9831-AF19-EB96-0CE5685C70E0}"/>
              </a:ext>
            </a:extLst>
          </p:cNvPr>
          <p:cNvCxnSpPr>
            <a:cxnSpLocks/>
          </p:cNvCxnSpPr>
          <p:nvPr/>
        </p:nvCxnSpPr>
        <p:spPr>
          <a:xfrm flipV="1">
            <a:off x="4895772" y="5858941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1D264AB-006F-EEC9-1B8D-B1EA5467E809}"/>
              </a:ext>
            </a:extLst>
          </p:cNvPr>
          <p:cNvCxnSpPr>
            <a:cxnSpLocks/>
          </p:cNvCxnSpPr>
          <p:nvPr/>
        </p:nvCxnSpPr>
        <p:spPr>
          <a:xfrm flipH="1">
            <a:off x="4556516" y="6230186"/>
            <a:ext cx="3551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7E114A6-6406-97DA-D99B-907277F97ECB}"/>
              </a:ext>
            </a:extLst>
          </p:cNvPr>
          <p:cNvCxnSpPr>
            <a:cxnSpLocks/>
          </p:cNvCxnSpPr>
          <p:nvPr/>
        </p:nvCxnSpPr>
        <p:spPr>
          <a:xfrm flipH="1">
            <a:off x="4521905" y="5863201"/>
            <a:ext cx="3551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7AC313E5-A0EE-6CC7-E62D-112BCDC4796A}"/>
              </a:ext>
            </a:extLst>
          </p:cNvPr>
          <p:cNvSpPr/>
          <p:nvPr/>
        </p:nvSpPr>
        <p:spPr>
          <a:xfrm>
            <a:off x="5054408" y="582068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FE986BF-8623-5CAD-739E-444E4880AD01}"/>
              </a:ext>
            </a:extLst>
          </p:cNvPr>
          <p:cNvSpPr/>
          <p:nvPr/>
        </p:nvSpPr>
        <p:spPr>
          <a:xfrm>
            <a:off x="5421297" y="581679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9001C0A-7751-C648-4232-A743C3DAE5E1}"/>
              </a:ext>
            </a:extLst>
          </p:cNvPr>
          <p:cNvSpPr/>
          <p:nvPr/>
        </p:nvSpPr>
        <p:spPr>
          <a:xfrm>
            <a:off x="5054408" y="6187005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875F4EF-4D34-C215-F8D0-60F0B190022B}"/>
              </a:ext>
            </a:extLst>
          </p:cNvPr>
          <p:cNvSpPr/>
          <p:nvPr/>
        </p:nvSpPr>
        <p:spPr>
          <a:xfrm>
            <a:off x="5417902" y="6187004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8324DB0-AC98-6FAE-2088-3D0DBD1F65AD}"/>
              </a:ext>
            </a:extLst>
          </p:cNvPr>
          <p:cNvCxnSpPr>
            <a:cxnSpLocks/>
          </p:cNvCxnSpPr>
          <p:nvPr/>
        </p:nvCxnSpPr>
        <p:spPr>
          <a:xfrm flipV="1">
            <a:off x="5104646" y="5858941"/>
            <a:ext cx="361720" cy="3617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6D6CCB7-BC4F-AC34-1BB8-BC274F776625}"/>
              </a:ext>
            </a:extLst>
          </p:cNvPr>
          <p:cNvCxnSpPr>
            <a:cxnSpLocks/>
          </p:cNvCxnSpPr>
          <p:nvPr/>
        </p:nvCxnSpPr>
        <p:spPr>
          <a:xfrm rot="16200000" flipV="1">
            <a:off x="5092498" y="5851707"/>
            <a:ext cx="361720" cy="3617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4DE1B59-0B4F-5C37-F0A0-1068F5C43302}"/>
              </a:ext>
            </a:extLst>
          </p:cNvPr>
          <p:cNvCxnSpPr>
            <a:cxnSpLocks/>
          </p:cNvCxnSpPr>
          <p:nvPr/>
        </p:nvCxnSpPr>
        <p:spPr>
          <a:xfrm flipV="1">
            <a:off x="5102256" y="5867939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A1EFFF79-2A20-87CF-9CCF-F686F30289F2}"/>
              </a:ext>
            </a:extLst>
          </p:cNvPr>
          <p:cNvCxnSpPr>
            <a:cxnSpLocks/>
          </p:cNvCxnSpPr>
          <p:nvPr/>
        </p:nvCxnSpPr>
        <p:spPr>
          <a:xfrm flipV="1">
            <a:off x="5466365" y="5858941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C959C80-DC63-3936-86D6-1938AB295193}"/>
              </a:ext>
            </a:extLst>
          </p:cNvPr>
          <p:cNvCxnSpPr>
            <a:cxnSpLocks/>
          </p:cNvCxnSpPr>
          <p:nvPr/>
        </p:nvCxnSpPr>
        <p:spPr>
          <a:xfrm flipH="1">
            <a:off x="5127109" y="6230186"/>
            <a:ext cx="3551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EAA2546-1A39-5CB8-ACED-1D8334ED1301}"/>
              </a:ext>
            </a:extLst>
          </p:cNvPr>
          <p:cNvCxnSpPr>
            <a:cxnSpLocks/>
          </p:cNvCxnSpPr>
          <p:nvPr/>
        </p:nvCxnSpPr>
        <p:spPr>
          <a:xfrm flipH="1">
            <a:off x="5092498" y="5863201"/>
            <a:ext cx="3551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CBF2798-E187-6A23-2695-900F7D00FE84}"/>
              </a:ext>
            </a:extLst>
          </p:cNvPr>
          <p:cNvCxnSpPr>
            <a:cxnSpLocks/>
          </p:cNvCxnSpPr>
          <p:nvPr/>
        </p:nvCxnSpPr>
        <p:spPr>
          <a:xfrm flipV="1">
            <a:off x="5096201" y="5691720"/>
            <a:ext cx="167220" cy="167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CF17DF7-93C7-10EF-4191-6D4BFFBCF52A}"/>
              </a:ext>
            </a:extLst>
          </p:cNvPr>
          <p:cNvCxnSpPr>
            <a:cxnSpLocks/>
          </p:cNvCxnSpPr>
          <p:nvPr/>
        </p:nvCxnSpPr>
        <p:spPr>
          <a:xfrm rot="16200000" flipV="1">
            <a:off x="5290702" y="5687767"/>
            <a:ext cx="167220" cy="167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77338EBD-3691-E229-B248-15D05AAAA0B6}"/>
              </a:ext>
            </a:extLst>
          </p:cNvPr>
          <p:cNvSpPr/>
          <p:nvPr/>
        </p:nvSpPr>
        <p:spPr>
          <a:xfrm>
            <a:off x="5237104" y="5644137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2E555E0-6A85-5E7B-80DC-4E71878137AD}"/>
              </a:ext>
            </a:extLst>
          </p:cNvPr>
          <p:cNvSpPr/>
          <p:nvPr/>
        </p:nvSpPr>
        <p:spPr>
          <a:xfrm>
            <a:off x="5625001" y="582068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01AA9B2-401D-E40C-FDF5-F4FC8C70F1BB}"/>
              </a:ext>
            </a:extLst>
          </p:cNvPr>
          <p:cNvSpPr/>
          <p:nvPr/>
        </p:nvSpPr>
        <p:spPr>
          <a:xfrm>
            <a:off x="5991890" y="581679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14A0675-AA15-5D83-C3DB-F642480A7EBA}"/>
              </a:ext>
            </a:extLst>
          </p:cNvPr>
          <p:cNvSpPr/>
          <p:nvPr/>
        </p:nvSpPr>
        <p:spPr>
          <a:xfrm>
            <a:off x="5625001" y="6187005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8CAA54F5-D77C-2A0B-085F-4C544EB3838A}"/>
              </a:ext>
            </a:extLst>
          </p:cNvPr>
          <p:cNvSpPr/>
          <p:nvPr/>
        </p:nvSpPr>
        <p:spPr>
          <a:xfrm>
            <a:off x="5988495" y="6187004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249C01A-7B6E-8242-DB77-D5D5BCED0AD2}"/>
              </a:ext>
            </a:extLst>
          </p:cNvPr>
          <p:cNvCxnSpPr>
            <a:cxnSpLocks/>
          </p:cNvCxnSpPr>
          <p:nvPr/>
        </p:nvCxnSpPr>
        <p:spPr>
          <a:xfrm flipV="1">
            <a:off x="5680279" y="5689608"/>
            <a:ext cx="169933" cy="5462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0468240-CB1B-67D8-99B3-B30A3A047743}"/>
              </a:ext>
            </a:extLst>
          </p:cNvPr>
          <p:cNvCxnSpPr>
            <a:cxnSpLocks/>
          </p:cNvCxnSpPr>
          <p:nvPr/>
        </p:nvCxnSpPr>
        <p:spPr>
          <a:xfrm flipV="1">
            <a:off x="5672849" y="5867939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F39DD0A-AA5E-76B9-1EEB-CF63B4DF426E}"/>
              </a:ext>
            </a:extLst>
          </p:cNvPr>
          <p:cNvCxnSpPr>
            <a:cxnSpLocks/>
          </p:cNvCxnSpPr>
          <p:nvPr/>
        </p:nvCxnSpPr>
        <p:spPr>
          <a:xfrm flipV="1">
            <a:off x="6036958" y="5858941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D055F4F-0AB6-04C5-D51F-B11BADE95CFC}"/>
              </a:ext>
            </a:extLst>
          </p:cNvPr>
          <p:cNvCxnSpPr>
            <a:cxnSpLocks/>
          </p:cNvCxnSpPr>
          <p:nvPr/>
        </p:nvCxnSpPr>
        <p:spPr>
          <a:xfrm flipH="1">
            <a:off x="5697702" y="6230186"/>
            <a:ext cx="3551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9B67BC1A-CD6C-1C2D-6A3D-A8D5E52E73D8}"/>
              </a:ext>
            </a:extLst>
          </p:cNvPr>
          <p:cNvCxnSpPr>
            <a:cxnSpLocks/>
          </p:cNvCxnSpPr>
          <p:nvPr/>
        </p:nvCxnSpPr>
        <p:spPr>
          <a:xfrm flipV="1">
            <a:off x="5666794" y="5691720"/>
            <a:ext cx="167220" cy="167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FFC0BE3-41D7-45D6-A358-B0DB472DE0F7}"/>
              </a:ext>
            </a:extLst>
          </p:cNvPr>
          <p:cNvCxnSpPr>
            <a:cxnSpLocks/>
          </p:cNvCxnSpPr>
          <p:nvPr/>
        </p:nvCxnSpPr>
        <p:spPr>
          <a:xfrm rot="16200000" flipV="1">
            <a:off x="5861295" y="5687767"/>
            <a:ext cx="167220" cy="167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>
            <a:extLst>
              <a:ext uri="{FF2B5EF4-FFF2-40B4-BE49-F238E27FC236}">
                <a16:creationId xmlns:a16="http://schemas.microsoft.com/office/drawing/2014/main" id="{DB2E45C6-F9B3-8B20-2FC9-F1965991CBF5}"/>
              </a:ext>
            </a:extLst>
          </p:cNvPr>
          <p:cNvSpPr/>
          <p:nvPr/>
        </p:nvSpPr>
        <p:spPr>
          <a:xfrm>
            <a:off x="5807697" y="5644137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689E2411-1191-DD33-705F-D8B6E71DF5D9}"/>
              </a:ext>
            </a:extLst>
          </p:cNvPr>
          <p:cNvSpPr/>
          <p:nvPr/>
        </p:nvSpPr>
        <p:spPr>
          <a:xfrm>
            <a:off x="6195594" y="582068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061D67D4-C2B3-EE25-0D25-543539A400D6}"/>
              </a:ext>
            </a:extLst>
          </p:cNvPr>
          <p:cNvSpPr/>
          <p:nvPr/>
        </p:nvSpPr>
        <p:spPr>
          <a:xfrm>
            <a:off x="6562483" y="581679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14C80696-E750-A2F9-6610-83594E5A639D}"/>
              </a:ext>
            </a:extLst>
          </p:cNvPr>
          <p:cNvSpPr/>
          <p:nvPr/>
        </p:nvSpPr>
        <p:spPr>
          <a:xfrm>
            <a:off x="6195594" y="6187005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D681C506-3917-FC81-6421-32EA63CD9C26}"/>
              </a:ext>
            </a:extLst>
          </p:cNvPr>
          <p:cNvSpPr/>
          <p:nvPr/>
        </p:nvSpPr>
        <p:spPr>
          <a:xfrm>
            <a:off x="6559088" y="6187004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198575D-D7A4-BA51-4D44-F0462E9312F2}"/>
              </a:ext>
            </a:extLst>
          </p:cNvPr>
          <p:cNvCxnSpPr>
            <a:cxnSpLocks/>
          </p:cNvCxnSpPr>
          <p:nvPr/>
        </p:nvCxnSpPr>
        <p:spPr>
          <a:xfrm flipV="1">
            <a:off x="6243442" y="5867939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0AAC386-246F-26D1-1DB3-B7CFA2CC1186}"/>
              </a:ext>
            </a:extLst>
          </p:cNvPr>
          <p:cNvCxnSpPr>
            <a:cxnSpLocks/>
          </p:cNvCxnSpPr>
          <p:nvPr/>
        </p:nvCxnSpPr>
        <p:spPr>
          <a:xfrm flipV="1">
            <a:off x="6607551" y="5858941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01673BC-E290-32F8-36A6-1FBAC288A0F8}"/>
              </a:ext>
            </a:extLst>
          </p:cNvPr>
          <p:cNvCxnSpPr>
            <a:cxnSpLocks/>
          </p:cNvCxnSpPr>
          <p:nvPr/>
        </p:nvCxnSpPr>
        <p:spPr>
          <a:xfrm flipH="1">
            <a:off x="6268295" y="6230186"/>
            <a:ext cx="3551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CAC9D8A9-D187-3FAC-0D10-CD4614ED3558}"/>
              </a:ext>
            </a:extLst>
          </p:cNvPr>
          <p:cNvCxnSpPr>
            <a:cxnSpLocks/>
          </p:cNvCxnSpPr>
          <p:nvPr/>
        </p:nvCxnSpPr>
        <p:spPr>
          <a:xfrm flipH="1">
            <a:off x="6233684" y="5863201"/>
            <a:ext cx="3551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0814AD2-9E30-826A-4F5B-1C7D332D325D}"/>
              </a:ext>
            </a:extLst>
          </p:cNvPr>
          <p:cNvCxnSpPr>
            <a:cxnSpLocks/>
          </p:cNvCxnSpPr>
          <p:nvPr/>
        </p:nvCxnSpPr>
        <p:spPr>
          <a:xfrm flipV="1">
            <a:off x="6237387" y="5691720"/>
            <a:ext cx="167220" cy="167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558AAB5-E995-22FA-A8BE-70D8E29615BA}"/>
              </a:ext>
            </a:extLst>
          </p:cNvPr>
          <p:cNvCxnSpPr>
            <a:cxnSpLocks/>
          </p:cNvCxnSpPr>
          <p:nvPr/>
        </p:nvCxnSpPr>
        <p:spPr>
          <a:xfrm rot="16200000" flipV="1">
            <a:off x="6431888" y="5687767"/>
            <a:ext cx="167220" cy="167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ED6B855C-4FA7-A5F4-E322-C3F3D86A4C39}"/>
              </a:ext>
            </a:extLst>
          </p:cNvPr>
          <p:cNvSpPr/>
          <p:nvPr/>
        </p:nvSpPr>
        <p:spPr>
          <a:xfrm>
            <a:off x="6378290" y="5644137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F4327324-FBCE-D9E2-A137-E9F16A46C250}"/>
              </a:ext>
            </a:extLst>
          </p:cNvPr>
          <p:cNvSpPr/>
          <p:nvPr/>
        </p:nvSpPr>
        <p:spPr>
          <a:xfrm>
            <a:off x="6766187" y="582068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4B866459-E4BD-0133-2C50-D3AA52920529}"/>
              </a:ext>
            </a:extLst>
          </p:cNvPr>
          <p:cNvSpPr/>
          <p:nvPr/>
        </p:nvSpPr>
        <p:spPr>
          <a:xfrm>
            <a:off x="7133076" y="5816792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B250C67A-468C-966A-7CCF-80C9BEE9D92F}"/>
              </a:ext>
            </a:extLst>
          </p:cNvPr>
          <p:cNvSpPr/>
          <p:nvPr/>
        </p:nvSpPr>
        <p:spPr>
          <a:xfrm>
            <a:off x="6766187" y="6187005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5B17DFF0-2311-A828-F042-06585783A045}"/>
              </a:ext>
            </a:extLst>
          </p:cNvPr>
          <p:cNvSpPr/>
          <p:nvPr/>
        </p:nvSpPr>
        <p:spPr>
          <a:xfrm>
            <a:off x="7129681" y="6187004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5F08BE6-FEB2-BABB-D45C-B00EEB0A7373}"/>
              </a:ext>
            </a:extLst>
          </p:cNvPr>
          <p:cNvCxnSpPr>
            <a:cxnSpLocks/>
          </p:cNvCxnSpPr>
          <p:nvPr/>
        </p:nvCxnSpPr>
        <p:spPr>
          <a:xfrm flipV="1">
            <a:off x="6816425" y="5858941"/>
            <a:ext cx="361720" cy="3617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A55457E1-1CAF-98C7-B797-5682A3206F8A}"/>
              </a:ext>
            </a:extLst>
          </p:cNvPr>
          <p:cNvCxnSpPr>
            <a:cxnSpLocks/>
          </p:cNvCxnSpPr>
          <p:nvPr/>
        </p:nvCxnSpPr>
        <p:spPr>
          <a:xfrm rot="16200000" flipV="1">
            <a:off x="6804277" y="5851707"/>
            <a:ext cx="361720" cy="3617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0DBB7542-9B4E-50BB-32EC-F58A0AC4B7DF}"/>
              </a:ext>
            </a:extLst>
          </p:cNvPr>
          <p:cNvCxnSpPr>
            <a:cxnSpLocks/>
          </p:cNvCxnSpPr>
          <p:nvPr/>
        </p:nvCxnSpPr>
        <p:spPr>
          <a:xfrm flipV="1">
            <a:off x="6814035" y="5867939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392D0E4-8DD3-2466-0B96-5068403A3949}"/>
              </a:ext>
            </a:extLst>
          </p:cNvPr>
          <p:cNvCxnSpPr>
            <a:cxnSpLocks/>
          </p:cNvCxnSpPr>
          <p:nvPr/>
        </p:nvCxnSpPr>
        <p:spPr>
          <a:xfrm flipV="1">
            <a:off x="7178144" y="5858941"/>
            <a:ext cx="0" cy="37895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D9BFE43A-4EE2-6090-C66E-1DB9FC138BF1}"/>
              </a:ext>
            </a:extLst>
          </p:cNvPr>
          <p:cNvCxnSpPr>
            <a:cxnSpLocks/>
          </p:cNvCxnSpPr>
          <p:nvPr/>
        </p:nvCxnSpPr>
        <p:spPr>
          <a:xfrm flipH="1">
            <a:off x="6838888" y="6230186"/>
            <a:ext cx="3551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8CC22CC4-E749-DA20-2448-B831E3BAB5F4}"/>
              </a:ext>
            </a:extLst>
          </p:cNvPr>
          <p:cNvCxnSpPr>
            <a:cxnSpLocks/>
          </p:cNvCxnSpPr>
          <p:nvPr/>
        </p:nvCxnSpPr>
        <p:spPr>
          <a:xfrm flipV="1">
            <a:off x="6807980" y="5691720"/>
            <a:ext cx="167220" cy="167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66485258-0AAD-D784-74E1-CB2307DC6CFD}"/>
              </a:ext>
            </a:extLst>
          </p:cNvPr>
          <p:cNvCxnSpPr>
            <a:cxnSpLocks/>
          </p:cNvCxnSpPr>
          <p:nvPr/>
        </p:nvCxnSpPr>
        <p:spPr>
          <a:xfrm rot="16200000" flipV="1">
            <a:off x="7002481" y="5687767"/>
            <a:ext cx="167220" cy="167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>
            <a:extLst>
              <a:ext uri="{FF2B5EF4-FFF2-40B4-BE49-F238E27FC236}">
                <a16:creationId xmlns:a16="http://schemas.microsoft.com/office/drawing/2014/main" id="{D3480437-6ACC-87BF-131A-1B4C40C1492F}"/>
              </a:ext>
            </a:extLst>
          </p:cNvPr>
          <p:cNvSpPr/>
          <p:nvPr/>
        </p:nvSpPr>
        <p:spPr>
          <a:xfrm>
            <a:off x="6948883" y="5644137"/>
            <a:ext cx="87313" cy="873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5382E579-1391-BF90-18B6-15785F3A20C2}"/>
              </a:ext>
            </a:extLst>
          </p:cNvPr>
          <p:cNvCxnSpPr>
            <a:cxnSpLocks/>
          </p:cNvCxnSpPr>
          <p:nvPr/>
        </p:nvCxnSpPr>
        <p:spPr>
          <a:xfrm>
            <a:off x="5852544" y="5688849"/>
            <a:ext cx="180975" cy="5461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F736FD64-FFA0-76CA-23CC-98117B4224C0}"/>
              </a:ext>
            </a:extLst>
          </p:cNvPr>
          <p:cNvCxnSpPr>
            <a:cxnSpLocks/>
          </p:cNvCxnSpPr>
          <p:nvPr/>
        </p:nvCxnSpPr>
        <p:spPr>
          <a:xfrm flipV="1">
            <a:off x="6251714" y="5701552"/>
            <a:ext cx="169933" cy="5462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DAF4CC79-A4F2-7588-1E95-9B62C57EB148}"/>
              </a:ext>
            </a:extLst>
          </p:cNvPr>
          <p:cNvCxnSpPr>
            <a:cxnSpLocks/>
          </p:cNvCxnSpPr>
          <p:nvPr/>
        </p:nvCxnSpPr>
        <p:spPr>
          <a:xfrm>
            <a:off x="6423979" y="5700793"/>
            <a:ext cx="180975" cy="5461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774F83D-328C-15F0-1653-A0FA9345517E}"/>
              </a:ext>
            </a:extLst>
          </p:cNvPr>
          <p:cNvCxnSpPr>
            <a:cxnSpLocks/>
          </p:cNvCxnSpPr>
          <p:nvPr/>
        </p:nvCxnSpPr>
        <p:spPr>
          <a:xfrm flipV="1">
            <a:off x="6818005" y="5684845"/>
            <a:ext cx="169933" cy="5462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9181113-F6B5-81F7-A1CE-E361455C9FA8}"/>
              </a:ext>
            </a:extLst>
          </p:cNvPr>
          <p:cNvCxnSpPr>
            <a:cxnSpLocks/>
          </p:cNvCxnSpPr>
          <p:nvPr/>
        </p:nvCxnSpPr>
        <p:spPr>
          <a:xfrm>
            <a:off x="6990270" y="5684086"/>
            <a:ext cx="180975" cy="5461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74729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694E6-0E17-52A0-03A5-EF56DF520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1DC4F3FA-75D3-E9C9-80CB-A600116419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7593299"/>
              </p:ext>
            </p:extLst>
          </p:nvPr>
        </p:nvGraphicFramePr>
        <p:xfrm>
          <a:off x="3924301" y="1498107"/>
          <a:ext cx="4029074" cy="3861786"/>
        </p:xfrm>
        <a:graphic>
          <a:graphicData uri="http://schemas.openxmlformats.org/drawingml/2006/table">
            <a:tbl>
              <a:tblPr/>
              <a:tblGrid>
                <a:gridCol w="771524">
                  <a:extLst>
                    <a:ext uri="{9D8B030D-6E8A-4147-A177-3AD203B41FA5}">
                      <a16:colId xmlns:a16="http://schemas.microsoft.com/office/drawing/2014/main" val="988776072"/>
                    </a:ext>
                  </a:extLst>
                </a:gridCol>
                <a:gridCol w="561975">
                  <a:extLst>
                    <a:ext uri="{9D8B030D-6E8A-4147-A177-3AD203B41FA5}">
                      <a16:colId xmlns:a16="http://schemas.microsoft.com/office/drawing/2014/main" val="2437062159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2392013438"/>
                    </a:ext>
                  </a:extLst>
                </a:gridCol>
                <a:gridCol w="485775">
                  <a:extLst>
                    <a:ext uri="{9D8B030D-6E8A-4147-A177-3AD203B41FA5}">
                      <a16:colId xmlns:a16="http://schemas.microsoft.com/office/drawing/2014/main" val="2085524345"/>
                    </a:ext>
                  </a:extLst>
                </a:gridCol>
                <a:gridCol w="523875">
                  <a:extLst>
                    <a:ext uri="{9D8B030D-6E8A-4147-A177-3AD203B41FA5}">
                      <a16:colId xmlns:a16="http://schemas.microsoft.com/office/drawing/2014/main" val="1603842784"/>
                    </a:ext>
                  </a:extLst>
                </a:gridCol>
                <a:gridCol w="542925">
                  <a:extLst>
                    <a:ext uri="{9D8B030D-6E8A-4147-A177-3AD203B41FA5}">
                      <a16:colId xmlns:a16="http://schemas.microsoft.com/office/drawing/2014/main" val="3906416217"/>
                    </a:ext>
                  </a:extLst>
                </a:gridCol>
                <a:gridCol w="600075">
                  <a:extLst>
                    <a:ext uri="{9D8B030D-6E8A-4147-A177-3AD203B41FA5}">
                      <a16:colId xmlns:a16="http://schemas.microsoft.com/office/drawing/2014/main" val="1691313759"/>
                    </a:ext>
                  </a:extLst>
                </a:gridCol>
              </a:tblGrid>
              <a:tr h="213949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Query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581072"/>
                  </a:ext>
                </a:extLst>
              </a:tr>
              <a:tr h="181857">
                <a:tc rowSpan="5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0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cebwiki</a:t>
                      </a:r>
                      <a:endParaRPr lang="en-US" sz="10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7.19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6.81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15.69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9127161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P2</a:t>
                      </a:r>
                    </a:p>
                  </a:txBody>
                  <a:tcPr marL="8023" marR="8023" marT="8023" marB="0" anchor="b">
                    <a:lnL w="12700" cmpd="sng">
                      <a:noFill/>
                      <a:prstDash val="soli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5.39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8.69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15.68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21.86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6171624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11.17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10.31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20.69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34.94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8985936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21.18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86.9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22.22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67.73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8951112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10.21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14.54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1511401"/>
                  </a:ext>
                </a:extLst>
              </a:tr>
              <a:tr h="181857">
                <a:tc rowSpan="5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orkut</a:t>
                      </a:r>
                      <a:r>
                        <a:rPr lang="en-US" sz="10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-links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7.65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15.02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18.27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29.44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7062147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54.48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58.33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63.66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66.25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6365135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168.3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173.9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181.2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184.6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187.4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2010351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171.5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176.9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185.7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199.6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1682175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24.92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43.48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3224488"/>
                  </a:ext>
                </a:extLst>
              </a:tr>
              <a:tr h="181857">
                <a:tc rowSpan="5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0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arwiki</a:t>
                      </a:r>
                      <a:endParaRPr lang="en-US" sz="10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12.69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21.41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26.87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29.02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6906978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129.2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129.7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133.5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134.8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131.6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9422732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466.9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477.1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483.5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496.2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3708468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443.7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476.9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528.7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560.4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728.9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8757341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12.26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23.41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37.94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45.95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447379"/>
                  </a:ext>
                </a:extLst>
              </a:tr>
              <a:tr h="181857">
                <a:tc rowSpan="5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10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wiki-topcats</a:t>
                      </a:r>
                    </a:p>
                  </a:txBody>
                  <a:tcPr marL="8023" marR="8023" marT="8023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P1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5.15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9.75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13.64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20.28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7185267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P2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7.74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12.99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22.48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29.47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118192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P3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15.17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21.88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27.39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32.48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548949"/>
                  </a:ext>
                </a:extLst>
              </a:tr>
              <a:tr h="18185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P4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18.82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22.14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31.55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33.92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0509644"/>
                  </a:ext>
                </a:extLst>
              </a:tr>
              <a:tr h="19255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P5</a:t>
                      </a:r>
                    </a:p>
                  </a:txBody>
                  <a:tcPr marL="8023" marR="8023" marT="8023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10.01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11.23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18.1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7115124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057638A-C510-47B1-FC2A-2AF5FE4BFAB5}"/>
              </a:ext>
            </a:extLst>
          </p:cNvPr>
          <p:cNvSpPr txBox="1"/>
          <p:nvPr/>
        </p:nvSpPr>
        <p:spPr>
          <a:xfrm>
            <a:off x="3786329" y="809625"/>
            <a:ext cx="4619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Experiments with difference </a:t>
            </a:r>
            <a:r>
              <a:rPr lang="en-US" dirty="0" err="1"/>
              <a:t>cpu</a:t>
            </a:r>
            <a:r>
              <a:rPr lang="en-US" dirty="0"/>
              <a:t>-chunk sizes</a:t>
            </a:r>
          </a:p>
        </p:txBody>
      </p:sp>
    </p:spTree>
    <p:extLst>
      <p:ext uri="{BB962C8B-B14F-4D97-AF65-F5344CB8AC3E}">
        <p14:creationId xmlns:p14="http://schemas.microsoft.com/office/powerpoint/2010/main" val="3586012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2760DC3-46DF-845B-99D5-2C85715F48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5733128"/>
              </p:ext>
            </p:extLst>
          </p:nvPr>
        </p:nvGraphicFramePr>
        <p:xfrm>
          <a:off x="610376" y="2394781"/>
          <a:ext cx="10758350" cy="2280917"/>
        </p:xfrm>
        <a:graphic>
          <a:graphicData uri="http://schemas.openxmlformats.org/drawingml/2006/table">
            <a:tbl>
              <a:tblPr/>
              <a:tblGrid>
                <a:gridCol w="1055555">
                  <a:extLst>
                    <a:ext uri="{9D8B030D-6E8A-4147-A177-3AD203B41FA5}">
                      <a16:colId xmlns:a16="http://schemas.microsoft.com/office/drawing/2014/main" val="2814721784"/>
                    </a:ext>
                  </a:extLst>
                </a:gridCol>
                <a:gridCol w="647369">
                  <a:extLst>
                    <a:ext uri="{9D8B030D-6E8A-4147-A177-3AD203B41FA5}">
                      <a16:colId xmlns:a16="http://schemas.microsoft.com/office/drawing/2014/main" val="2886524223"/>
                    </a:ext>
                  </a:extLst>
                </a:gridCol>
                <a:gridCol w="634421">
                  <a:extLst>
                    <a:ext uri="{9D8B030D-6E8A-4147-A177-3AD203B41FA5}">
                      <a16:colId xmlns:a16="http://schemas.microsoft.com/office/drawing/2014/main" val="194284903"/>
                    </a:ext>
                  </a:extLst>
                </a:gridCol>
                <a:gridCol w="582632">
                  <a:extLst>
                    <a:ext uri="{9D8B030D-6E8A-4147-A177-3AD203B41FA5}">
                      <a16:colId xmlns:a16="http://schemas.microsoft.com/office/drawing/2014/main" val="3940146635"/>
                    </a:ext>
                  </a:extLst>
                </a:gridCol>
                <a:gridCol w="504949">
                  <a:extLst>
                    <a:ext uri="{9D8B030D-6E8A-4147-A177-3AD203B41FA5}">
                      <a16:colId xmlns:a16="http://schemas.microsoft.com/office/drawing/2014/main" val="3340376325"/>
                    </a:ext>
                  </a:extLst>
                </a:gridCol>
                <a:gridCol w="546125">
                  <a:extLst>
                    <a:ext uri="{9D8B030D-6E8A-4147-A177-3AD203B41FA5}">
                      <a16:colId xmlns:a16="http://schemas.microsoft.com/office/drawing/2014/main" val="2215280343"/>
                    </a:ext>
                  </a:extLst>
                </a:gridCol>
                <a:gridCol w="670927">
                  <a:extLst>
                    <a:ext uri="{9D8B030D-6E8A-4147-A177-3AD203B41FA5}">
                      <a16:colId xmlns:a16="http://schemas.microsoft.com/office/drawing/2014/main" val="401452201"/>
                    </a:ext>
                  </a:extLst>
                </a:gridCol>
                <a:gridCol w="554059">
                  <a:extLst>
                    <a:ext uri="{9D8B030D-6E8A-4147-A177-3AD203B41FA5}">
                      <a16:colId xmlns:a16="http://schemas.microsoft.com/office/drawing/2014/main" val="3122555536"/>
                    </a:ext>
                  </a:extLst>
                </a:gridCol>
                <a:gridCol w="803928">
                  <a:extLst>
                    <a:ext uri="{9D8B030D-6E8A-4147-A177-3AD203B41FA5}">
                      <a16:colId xmlns:a16="http://schemas.microsoft.com/office/drawing/2014/main" val="946168527"/>
                    </a:ext>
                  </a:extLst>
                </a:gridCol>
                <a:gridCol w="662696">
                  <a:extLst>
                    <a:ext uri="{9D8B030D-6E8A-4147-A177-3AD203B41FA5}">
                      <a16:colId xmlns:a16="http://schemas.microsoft.com/office/drawing/2014/main" val="3749520733"/>
                    </a:ext>
                  </a:extLst>
                </a:gridCol>
                <a:gridCol w="619243">
                  <a:extLst>
                    <a:ext uri="{9D8B030D-6E8A-4147-A177-3AD203B41FA5}">
                      <a16:colId xmlns:a16="http://schemas.microsoft.com/office/drawing/2014/main" val="3918946421"/>
                    </a:ext>
                  </a:extLst>
                </a:gridCol>
                <a:gridCol w="610697">
                  <a:extLst>
                    <a:ext uri="{9D8B030D-6E8A-4147-A177-3AD203B41FA5}">
                      <a16:colId xmlns:a16="http://schemas.microsoft.com/office/drawing/2014/main" val="3602121528"/>
                    </a:ext>
                  </a:extLst>
                </a:gridCol>
                <a:gridCol w="530012">
                  <a:extLst>
                    <a:ext uri="{9D8B030D-6E8A-4147-A177-3AD203B41FA5}">
                      <a16:colId xmlns:a16="http://schemas.microsoft.com/office/drawing/2014/main" val="2072840586"/>
                    </a:ext>
                  </a:extLst>
                </a:gridCol>
                <a:gridCol w="608377">
                  <a:extLst>
                    <a:ext uri="{9D8B030D-6E8A-4147-A177-3AD203B41FA5}">
                      <a16:colId xmlns:a16="http://schemas.microsoft.com/office/drawing/2014/main" val="103855923"/>
                    </a:ext>
                  </a:extLst>
                </a:gridCol>
                <a:gridCol w="554059">
                  <a:extLst>
                    <a:ext uri="{9D8B030D-6E8A-4147-A177-3AD203B41FA5}">
                      <a16:colId xmlns:a16="http://schemas.microsoft.com/office/drawing/2014/main" val="3233187088"/>
                    </a:ext>
                  </a:extLst>
                </a:gridCol>
                <a:gridCol w="597514">
                  <a:extLst>
                    <a:ext uri="{9D8B030D-6E8A-4147-A177-3AD203B41FA5}">
                      <a16:colId xmlns:a16="http://schemas.microsoft.com/office/drawing/2014/main" val="1660574799"/>
                    </a:ext>
                  </a:extLst>
                </a:gridCol>
                <a:gridCol w="575787">
                  <a:extLst>
                    <a:ext uri="{9D8B030D-6E8A-4147-A177-3AD203B41FA5}">
                      <a16:colId xmlns:a16="http://schemas.microsoft.com/office/drawing/2014/main" val="417117445"/>
                    </a:ext>
                  </a:extLst>
                </a:gridCol>
              </a:tblGrid>
              <a:tr h="2915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|V|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|E|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</a:t>
                      </a:r>
                      <a:r>
                        <a:rPr lang="en-US" sz="1000" b="1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max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𝜏</a:t>
                      </a:r>
                      <a:r>
                        <a:rPr lang="en-US" sz="1000" b="1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size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γ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# root tasks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  <a:r>
                        <a:rPr lang="en-US" sz="900" b="1" i="0" u="none" strike="noStrike" baseline="30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-AIMD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GPU-Layered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GPU-Hybrid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CPU-Only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CPU+GPU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GL2G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CG2GL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Gain</a:t>
                      </a:r>
                      <a:r>
                        <a:rPr lang="en-US" sz="900" b="1" i="0" u="none" strike="noStrike" baseline="300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CG2C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Quick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FastQC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4071191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socfb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-B-anon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2.938M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41.92M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4356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399,864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801.2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802.3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1708.1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607.6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1625.6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6901679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Flixster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2.523M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15.84M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1474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41,319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115.8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117.0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117.3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25.4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747.9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2826401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soc-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pokec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1.633M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44.60M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14,854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573,021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546.3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239.2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240.1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362.8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210.0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1260.9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0873528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Hyves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1.403M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5.555M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31,883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0.80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3785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35.2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39.2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38.8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1265.0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24.4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51.8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7974942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Douban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154.9K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654.3K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0.50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20,181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26.2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26.4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26.6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73.6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11.8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1095.1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2066162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WordNet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146.0K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1.314M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1008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0.80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94,500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46.8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49.3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49.5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50.3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7.5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294.9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301.2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41611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slashdot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-threads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51.08K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233.1K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2915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8421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29.3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28.8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29.0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19.2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62.5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8000798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FB-Pages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50.52K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1.638M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1469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16,009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714.7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406.3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400.5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250.1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—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5601787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kywiktionary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39.88K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152.9K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23,237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0.60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41.5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40.6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40.7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131.4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381.5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0061633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wikilens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-ratings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5111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53.70K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1730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32.9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38.3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39.6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715.4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31.7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0.9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22.6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3385341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sswiki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2022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22.23K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604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214.9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112.3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118.2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1021.6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96.9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10.5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OOT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970980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653985C-F6B1-8D45-33FA-0C3E242B8BFA}"/>
              </a:ext>
            </a:extLst>
          </p:cNvPr>
          <p:cNvSpPr txBox="1"/>
          <p:nvPr/>
        </p:nvSpPr>
        <p:spPr>
          <a:xfrm>
            <a:off x="3301868" y="5355772"/>
            <a:ext cx="55882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Invalid results due to big tasks that GPU cannot handle</a:t>
            </a:r>
          </a:p>
        </p:txBody>
      </p:sp>
    </p:spTree>
    <p:extLst>
      <p:ext uri="{BB962C8B-B14F-4D97-AF65-F5344CB8AC3E}">
        <p14:creationId xmlns:p14="http://schemas.microsoft.com/office/powerpoint/2010/main" val="41581116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27D02-03A8-BD45-4197-6BC5DC71D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MQC Adaptive GPU Chunk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F28F1-46A9-25E2-9F3A-20A11D91F9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The number of root tasks in MQC varies significantly across datasets.</a:t>
            </a:r>
          </a:p>
          <a:p>
            <a:pPr lvl="0"/>
            <a:r>
              <a:rPr lang="en-US" dirty="0"/>
              <a:t>A fixed GPU chunk size can cause load imbalance and GPU underutilization.</a:t>
            </a:r>
          </a:p>
          <a:p>
            <a:pPr lvl="0"/>
            <a:r>
              <a:rPr lang="en-US" dirty="0"/>
              <a:t>We dynamically calculate the GPU chunk size as:</a:t>
            </a:r>
          </a:p>
          <a:p>
            <a:pPr marL="0" indent="0">
              <a:buNone/>
            </a:pPr>
            <a:r>
              <a:rPr lang="en-US" dirty="0"/>
              <a:t>                   </a:t>
            </a:r>
            <a:r>
              <a:rPr lang="en-US" dirty="0" err="1"/>
              <a:t>GPU_chunk</a:t>
            </a:r>
            <a:r>
              <a:rPr lang="en-US" dirty="0"/>
              <a:t>=max(</a:t>
            </a:r>
            <a:r>
              <a:rPr lang="en-US" dirty="0" err="1"/>
              <a:t>root_tasks</a:t>
            </a:r>
            <a:r>
              <a:rPr lang="en-US" dirty="0"/>
              <a:t>/</a:t>
            </a:r>
            <a:r>
              <a:rPr lang="en-US" dirty="0" err="1"/>
              <a:t>c,min_chunk</a:t>
            </a:r>
            <a:r>
              <a:rPr lang="en-US" dirty="0"/>
              <a:t>)</a:t>
            </a:r>
          </a:p>
          <a:p>
            <a:pPr lvl="0"/>
            <a:r>
              <a:rPr lang="en-US" dirty="0"/>
              <a:t>c controls the number of chunks.</a:t>
            </a:r>
          </a:p>
          <a:p>
            <a:pPr lvl="0"/>
            <a:r>
              <a:rPr lang="en-US" dirty="0" err="1"/>
              <a:t>min_chunk</a:t>
            </a:r>
            <a:r>
              <a:rPr lang="en-US" dirty="0"/>
              <a:t> prevents GPU chunks from becoming too small.</a:t>
            </a:r>
          </a:p>
          <a:p>
            <a:pPr lvl="0"/>
            <a:r>
              <a:rPr lang="en-US" dirty="0">
                <a:solidFill>
                  <a:srgbClr val="C00000"/>
                </a:solidFill>
              </a:rPr>
              <a:t>add experiments for tuning eta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3C6030-394A-60A6-9AEA-297BFDD75394}"/>
              </a:ext>
            </a:extLst>
          </p:cNvPr>
          <p:cNvSpPr txBox="1"/>
          <p:nvPr/>
        </p:nvSpPr>
        <p:spPr>
          <a:xfrm>
            <a:off x="6337738" y="6474372"/>
            <a:ext cx="3021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C00000"/>
                </a:solidFill>
              </a:rPr>
              <a:t>min_chunk</a:t>
            </a:r>
            <a:r>
              <a:rPr lang="en-US" dirty="0">
                <a:solidFill>
                  <a:srgbClr val="C00000"/>
                </a:solidFill>
              </a:rPr>
              <a:t> =1000 by default</a:t>
            </a:r>
          </a:p>
        </p:txBody>
      </p:sp>
    </p:spTree>
    <p:extLst>
      <p:ext uri="{BB962C8B-B14F-4D97-AF65-F5344CB8AC3E}">
        <p14:creationId xmlns:p14="http://schemas.microsoft.com/office/powerpoint/2010/main" val="1162687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D0DF4D-AD84-4CB0-1626-65EC9A5F5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19B05F-E9CB-10F6-EF89-A7D72B7CFA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483791"/>
              </p:ext>
            </p:extLst>
          </p:nvPr>
        </p:nvGraphicFramePr>
        <p:xfrm>
          <a:off x="2149699" y="2288541"/>
          <a:ext cx="7892601" cy="2280917"/>
        </p:xfrm>
        <a:graphic>
          <a:graphicData uri="http://schemas.openxmlformats.org/drawingml/2006/table">
            <a:tbl>
              <a:tblPr/>
              <a:tblGrid>
                <a:gridCol w="1055555">
                  <a:extLst>
                    <a:ext uri="{9D8B030D-6E8A-4147-A177-3AD203B41FA5}">
                      <a16:colId xmlns:a16="http://schemas.microsoft.com/office/drawing/2014/main" val="2814721784"/>
                    </a:ext>
                  </a:extLst>
                </a:gridCol>
                <a:gridCol w="647369">
                  <a:extLst>
                    <a:ext uri="{9D8B030D-6E8A-4147-A177-3AD203B41FA5}">
                      <a16:colId xmlns:a16="http://schemas.microsoft.com/office/drawing/2014/main" val="2886524223"/>
                    </a:ext>
                  </a:extLst>
                </a:gridCol>
                <a:gridCol w="634421">
                  <a:extLst>
                    <a:ext uri="{9D8B030D-6E8A-4147-A177-3AD203B41FA5}">
                      <a16:colId xmlns:a16="http://schemas.microsoft.com/office/drawing/2014/main" val="194284903"/>
                    </a:ext>
                  </a:extLst>
                </a:gridCol>
                <a:gridCol w="582632">
                  <a:extLst>
                    <a:ext uri="{9D8B030D-6E8A-4147-A177-3AD203B41FA5}">
                      <a16:colId xmlns:a16="http://schemas.microsoft.com/office/drawing/2014/main" val="3940146635"/>
                    </a:ext>
                  </a:extLst>
                </a:gridCol>
                <a:gridCol w="504949">
                  <a:extLst>
                    <a:ext uri="{9D8B030D-6E8A-4147-A177-3AD203B41FA5}">
                      <a16:colId xmlns:a16="http://schemas.microsoft.com/office/drawing/2014/main" val="3340376325"/>
                    </a:ext>
                  </a:extLst>
                </a:gridCol>
                <a:gridCol w="546125">
                  <a:extLst>
                    <a:ext uri="{9D8B030D-6E8A-4147-A177-3AD203B41FA5}">
                      <a16:colId xmlns:a16="http://schemas.microsoft.com/office/drawing/2014/main" val="2215280343"/>
                    </a:ext>
                  </a:extLst>
                </a:gridCol>
                <a:gridCol w="670927">
                  <a:extLst>
                    <a:ext uri="{9D8B030D-6E8A-4147-A177-3AD203B41FA5}">
                      <a16:colId xmlns:a16="http://schemas.microsoft.com/office/drawing/2014/main" val="401452201"/>
                    </a:ext>
                  </a:extLst>
                </a:gridCol>
                <a:gridCol w="554059">
                  <a:extLst>
                    <a:ext uri="{9D8B030D-6E8A-4147-A177-3AD203B41FA5}">
                      <a16:colId xmlns:a16="http://schemas.microsoft.com/office/drawing/2014/main" val="3122555536"/>
                    </a:ext>
                  </a:extLst>
                </a:gridCol>
                <a:gridCol w="803928">
                  <a:extLst>
                    <a:ext uri="{9D8B030D-6E8A-4147-A177-3AD203B41FA5}">
                      <a16:colId xmlns:a16="http://schemas.microsoft.com/office/drawing/2014/main" val="946168527"/>
                    </a:ext>
                  </a:extLst>
                </a:gridCol>
                <a:gridCol w="662696">
                  <a:extLst>
                    <a:ext uri="{9D8B030D-6E8A-4147-A177-3AD203B41FA5}">
                      <a16:colId xmlns:a16="http://schemas.microsoft.com/office/drawing/2014/main" val="3749520733"/>
                    </a:ext>
                  </a:extLst>
                </a:gridCol>
                <a:gridCol w="619243">
                  <a:extLst>
                    <a:ext uri="{9D8B030D-6E8A-4147-A177-3AD203B41FA5}">
                      <a16:colId xmlns:a16="http://schemas.microsoft.com/office/drawing/2014/main" val="3918946421"/>
                    </a:ext>
                  </a:extLst>
                </a:gridCol>
                <a:gridCol w="610697">
                  <a:extLst>
                    <a:ext uri="{9D8B030D-6E8A-4147-A177-3AD203B41FA5}">
                      <a16:colId xmlns:a16="http://schemas.microsoft.com/office/drawing/2014/main" val="3602121528"/>
                    </a:ext>
                  </a:extLst>
                </a:gridCol>
              </a:tblGrid>
              <a:tr h="2915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G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|V|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|E|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</a:t>
                      </a:r>
                      <a:r>
                        <a:rPr lang="en-US" sz="1000" b="1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max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𝜏</a:t>
                      </a:r>
                      <a:r>
                        <a:rPr lang="en-US" sz="1000" b="1" i="1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size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l-G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γ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# root tasks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 = 2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 = 3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 = 4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 = 5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c = 10</a:t>
                      </a:r>
                    </a:p>
                  </a:txBody>
                  <a:tcPr marL="6695" marR="6695" marT="669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4071191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socfb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-B-anon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2.938M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41.92M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4356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399,864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607.6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678.6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629.5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656.3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683.5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6901679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Flixster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2.523M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15.84M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1474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41,319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25.4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25.3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27.1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27.7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2826401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soc-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pokec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1.633M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44.60M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14,854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573,021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210.0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241.4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225.6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223.7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231.7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0873528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Hyves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1.403M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5.555M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31,883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0.80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3785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24.4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26.6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27.3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27.1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26.8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7974942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Douban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154.9K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654.3K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287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0.50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20,181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6.2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8.0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9.8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12.7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2066162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WordNet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146.0K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1.314M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1008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0.80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94,500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7.5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7.2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7.0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9.7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11.0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7441611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slashdot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-threads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51.08K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233.1K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2915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8421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3.5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8000798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FB-Pages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50.52K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1.638M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1469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0.90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16,009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250.1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256.2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250.2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239.0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249.0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5601787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kywiktionary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39.88K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152.9K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23,237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0.60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5294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6.7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6.7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4.6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5.4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12.4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0061633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wikilens</a:t>
                      </a: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-ratings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5111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53.70K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1730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31.7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32.0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32.2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33.4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33.4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3385341"/>
                  </a:ext>
                </a:extLst>
              </a:tr>
              <a:tr h="180854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edit-</a:t>
                      </a:r>
                      <a:r>
                        <a:rPr lang="en-US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sswiki</a:t>
                      </a:r>
                      <a:endParaRPr lang="en-US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2022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22.23K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604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0.70</a:t>
                      </a:r>
                    </a:p>
                  </a:txBody>
                  <a:tcPr marL="6695" marR="6695" marT="669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96.9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104.3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104.6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105.8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+mn-cs"/>
                        </a:rPr>
                        <a:t>106.0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9709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5150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4380</TotalTime>
  <Words>1746</Words>
  <Application>Microsoft Macintosh PowerPoint</Application>
  <PresentationFormat>Widescreen</PresentationFormat>
  <Paragraphs>1170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Why CPU is much faster than GPU? </vt:lpstr>
      <vt:lpstr>Parameter Tuning</vt:lpstr>
      <vt:lpstr>PowerPoint Presentation</vt:lpstr>
      <vt:lpstr>PowerPoint Presentation</vt:lpstr>
      <vt:lpstr>PowerPoint Presentation</vt:lpstr>
      <vt:lpstr>MQC Adaptive GPU Chunk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Ahmad, Akhlaque</dc:creator>
  <cp:lastModifiedBy>Ahmad, Akhlaque</cp:lastModifiedBy>
  <cp:revision>30</cp:revision>
  <dcterms:created xsi:type="dcterms:W3CDTF">2026-08-16T02:36:35Z</dcterms:created>
  <dcterms:modified xsi:type="dcterms:W3CDTF">2026-08-27T15:12:14Z</dcterms:modified>
</cp:coreProperties>
</file>