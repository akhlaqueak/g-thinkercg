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726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FCC2-6CD8-C9EF-9FD9-D3693D944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C65EE2-2ECC-3C5C-E866-91AFD6F2A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5A4D6-D480-B7AA-462C-03479678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5/9/26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81B43-B5E3-F9F5-4BF7-15672D6C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BFAE-E1AF-CFCE-DD68-F96DB479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436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2EFD9-C212-57F7-C85C-17D2C0195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6B25D-889A-32AF-FD02-62323B239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C122E-5C2F-7599-9C0C-C81C37063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5/9/26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3A8F1-2B9E-4725-EFFD-6286B3C3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A8AEA-D89A-C65E-6B73-78CAC1E5A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71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B904F-AEDE-9839-0BE6-BB84006B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2CCF4-78F7-2967-9BEE-F0029E63F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B11E9-1125-8EFD-A225-B22CE23E9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5/9/26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D144D-8070-C6C6-C791-402CA27E0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764B6-4E8E-B9BD-C1EA-316DEA9DB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83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37286-6F42-64A7-D03A-6C399084F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1AE32-BCEE-B1A0-EE6F-F6F55B145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9F491-69FC-7F77-3A37-42F1A76C3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AE3E9-5EE1-81DD-58BD-5C991033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5/9/26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8C946-B4F6-249B-E976-E04A6ED3D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EFFC-D441-9F53-1741-A51888F6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601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C61A-F181-73CD-E382-60A5878DB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A9D8A-1AA3-7E64-9B9C-76C5AED8F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45CBA-7265-5D6C-9E9A-0E37B41D1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9C13A-C48A-73F6-D370-4D7D666B2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90D0D-B6E1-74D5-B586-C29B4DC4F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0A82CF-7E6F-621E-63BC-9BE6B59A4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5/9/26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2AF6FC-14F0-F557-8B55-689C7C922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2CCC6-C83A-CC6A-88D8-89B4197A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6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026FB-F82C-4ECD-EB69-75E1B92D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56E7C-69BE-9C46-C5B3-CC2291FD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5/9/26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8C6168-9855-84F7-8D7A-52ADE7D36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D3A02-888B-5D8B-BD28-D8DE5D6B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45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68F61-DF89-4755-8555-26EDFDCB7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5/9/26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A70ED-39AF-DD47-5C8E-45F184ED2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3031C-7849-FFAB-D7BE-9C2FAE3C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30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F478F-B1FA-7BDB-36C3-DDFA1448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EE8B-229B-997D-A171-01118C990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C8B40-0B36-CBEB-2BB4-1879690CF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7929D-C037-AD47-C5AF-BE76D23FD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5/9/26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5A27F-6260-CD0A-0846-D3952688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1465D-9A18-8876-B0A2-94A040FC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596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DD0D-7A26-5E7B-BBEF-E1465807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8715F-8281-44AB-619D-17EC6CC42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1771F-8D88-6066-1062-E7D4F3BF6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819B4-46CC-D375-BC23-78F2E9FA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5/9/26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625E3-9979-3408-C588-FD39F37D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AC7B0-ACE9-5947-8FDA-879F59A0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35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C66FA-D9E8-3C3F-7980-CA28F9FA4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58B1F-270F-FF14-46CD-8D7AEF1FC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6D945-880A-E7FF-96F4-8EEF81BE9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5/9/26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E45BF-986F-C31E-50E1-DB0216129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A82DD-4FF2-886E-A92B-F01AE9793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078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399E1-9F0D-61B4-3F00-B7F43D64C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140E4-11D8-A7C7-0F62-FDABD2CCD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262A7-0A29-0070-16A4-999F3B003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5/9/26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78B2C-0EC6-8B88-BE71-DC9C3EC64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FFF9F-FF47-1654-7F28-2EC6A625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7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A00FA-5594-4369-5228-B9B0CB884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CEC81-0E19-3B5C-992C-7188030D6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4B29A-EA94-D501-3D91-A94AE1366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84DAC-AA37-8C49-B5B6-53E9519E19BB}" type="datetimeFigureOut">
              <a:rPr lang="en-US" smtClean="0"/>
              <a:t>5/9/26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5945-053E-B5ED-4102-14373FB57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FC8C2-BFDA-B1DB-E344-F18838133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FDC34-D7BB-C24E-8041-A2B20FADB5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37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583BC5-4C6B-8910-76B7-242970843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Managed Memory Spill Buffer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2683D2-412B-E49D-3E90-10F604088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9650" y="1690688"/>
            <a:ext cx="7632700" cy="2628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0E8320-6BF3-0868-0178-705E89D0131E}"/>
              </a:ext>
            </a:extLst>
          </p:cNvPr>
          <p:cNvSpPr txBox="1"/>
          <p:nvPr/>
        </p:nvSpPr>
        <p:spPr>
          <a:xfrm>
            <a:off x="2627586" y="4845269"/>
            <a:ext cx="518494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 slow to read/write to managed memory buffer. </a:t>
            </a:r>
          </a:p>
          <a:p>
            <a:r>
              <a:rPr lang="en-US" b="1" dirty="0"/>
              <a:t>Example:</a:t>
            </a:r>
          </a:p>
          <a:p>
            <a:endParaRPr lang="en-US" b="1" dirty="0"/>
          </a:p>
          <a:p>
            <a:r>
              <a:rPr lang="en-US" b="1" dirty="0"/>
              <a:t>wikipedia_link_ru</a:t>
            </a:r>
          </a:p>
          <a:p>
            <a:r>
              <a:rPr lang="en-US" dirty="0"/>
              <a:t>total run time: 85.2 sec </a:t>
            </a:r>
          </a:p>
          <a:p>
            <a:r>
              <a:rPr lang="en-US" dirty="0"/>
              <a:t>host buffer read/write: 8.3 sec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B337A4-81B6-FED8-254B-771A44FD4A2F}"/>
              </a:ext>
            </a:extLst>
          </p:cNvPr>
          <p:cNvSpPr/>
          <p:nvPr/>
        </p:nvSpPr>
        <p:spPr>
          <a:xfrm>
            <a:off x="6779173" y="5435216"/>
            <a:ext cx="3909848" cy="3678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F52175-1AB0-5781-9179-92C1013667FA}"/>
              </a:ext>
            </a:extLst>
          </p:cNvPr>
          <p:cNvSpPr/>
          <p:nvPr/>
        </p:nvSpPr>
        <p:spPr>
          <a:xfrm>
            <a:off x="6779172" y="6125013"/>
            <a:ext cx="5281447" cy="3678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16A70B-E2E2-4B14-8CFC-AA561594D92B}"/>
              </a:ext>
            </a:extLst>
          </p:cNvPr>
          <p:cNvSpPr/>
          <p:nvPr/>
        </p:nvSpPr>
        <p:spPr>
          <a:xfrm>
            <a:off x="6863256" y="5485725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631529-204C-3B51-97B3-7FF7CF1C29F7}"/>
              </a:ext>
            </a:extLst>
          </p:cNvPr>
          <p:cNvSpPr/>
          <p:nvPr/>
        </p:nvSpPr>
        <p:spPr>
          <a:xfrm>
            <a:off x="7126015" y="5485725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F5C227-10D3-9E28-8DE5-BB644C6DB189}"/>
              </a:ext>
            </a:extLst>
          </p:cNvPr>
          <p:cNvSpPr/>
          <p:nvPr/>
        </p:nvSpPr>
        <p:spPr>
          <a:xfrm>
            <a:off x="7388774" y="5485725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78BC3-BACA-2623-F8E2-06EA860C67CD}"/>
              </a:ext>
            </a:extLst>
          </p:cNvPr>
          <p:cNvSpPr/>
          <p:nvPr/>
        </p:nvSpPr>
        <p:spPr>
          <a:xfrm>
            <a:off x="7651533" y="5485725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EE2DD-ECD0-8988-EDEF-1C0B30F4538E}"/>
              </a:ext>
            </a:extLst>
          </p:cNvPr>
          <p:cNvSpPr/>
          <p:nvPr/>
        </p:nvSpPr>
        <p:spPr>
          <a:xfrm>
            <a:off x="7914292" y="5485725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59B738-F281-26CC-EADD-490BDEC0D22A}"/>
              </a:ext>
            </a:extLst>
          </p:cNvPr>
          <p:cNvSpPr/>
          <p:nvPr/>
        </p:nvSpPr>
        <p:spPr>
          <a:xfrm>
            <a:off x="8177051" y="5485725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FE7D5B-E899-D64D-9F95-7DFE4D5CAD62}"/>
              </a:ext>
            </a:extLst>
          </p:cNvPr>
          <p:cNvSpPr/>
          <p:nvPr/>
        </p:nvSpPr>
        <p:spPr>
          <a:xfrm>
            <a:off x="7662044" y="6182886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C3B04B-8089-BEEE-CEF7-E1BC983D4AD5}"/>
              </a:ext>
            </a:extLst>
          </p:cNvPr>
          <p:cNvSpPr/>
          <p:nvPr/>
        </p:nvSpPr>
        <p:spPr>
          <a:xfrm>
            <a:off x="7924803" y="6182886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D6C44D-F4E4-F432-B374-2EDA5CD8A40B}"/>
              </a:ext>
            </a:extLst>
          </p:cNvPr>
          <p:cNvSpPr/>
          <p:nvPr/>
        </p:nvSpPr>
        <p:spPr>
          <a:xfrm>
            <a:off x="8187562" y="6182886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77F03F-5A45-3A20-EAF2-C352BCA85D84}"/>
              </a:ext>
            </a:extLst>
          </p:cNvPr>
          <p:cNvSpPr/>
          <p:nvPr/>
        </p:nvSpPr>
        <p:spPr>
          <a:xfrm>
            <a:off x="8450321" y="6182886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D8BE32-42B9-A6C1-E5D1-E4A9C05A313C}"/>
              </a:ext>
            </a:extLst>
          </p:cNvPr>
          <p:cNvSpPr/>
          <p:nvPr/>
        </p:nvSpPr>
        <p:spPr>
          <a:xfrm>
            <a:off x="8713080" y="6182886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6B7719-5087-EB6F-7853-AF74CA301F9F}"/>
              </a:ext>
            </a:extLst>
          </p:cNvPr>
          <p:cNvSpPr/>
          <p:nvPr/>
        </p:nvSpPr>
        <p:spPr>
          <a:xfrm>
            <a:off x="8975839" y="6182886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1B4F7D-E327-EF00-B2EB-D3B81C7D1EB5}"/>
              </a:ext>
            </a:extLst>
          </p:cNvPr>
          <p:cNvSpPr txBox="1"/>
          <p:nvPr/>
        </p:nvSpPr>
        <p:spPr>
          <a:xfrm>
            <a:off x="6505903" y="5100678"/>
            <a:ext cx="79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Brd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1CE647-0EF1-9A0D-9AFE-FC1F9DE52991}"/>
              </a:ext>
            </a:extLst>
          </p:cNvPr>
          <p:cNvSpPr txBox="1"/>
          <p:nvPr/>
        </p:nvSpPr>
        <p:spPr>
          <a:xfrm>
            <a:off x="6411312" y="5813554"/>
            <a:ext cx="79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2A78CE-47B7-C2BC-DED0-11DB194DBEDB}"/>
              </a:ext>
            </a:extLst>
          </p:cNvPr>
          <p:cNvSpPr/>
          <p:nvPr/>
        </p:nvSpPr>
        <p:spPr>
          <a:xfrm>
            <a:off x="6868514" y="6190835"/>
            <a:ext cx="178676" cy="26684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2CAA3F-C807-DC50-FDC0-0C4C7C7C31F9}"/>
              </a:ext>
            </a:extLst>
          </p:cNvPr>
          <p:cNvSpPr/>
          <p:nvPr/>
        </p:nvSpPr>
        <p:spPr>
          <a:xfrm>
            <a:off x="7131273" y="6190835"/>
            <a:ext cx="178676" cy="26684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111EE6-D952-9796-1809-E04E52097063}"/>
              </a:ext>
            </a:extLst>
          </p:cNvPr>
          <p:cNvSpPr/>
          <p:nvPr/>
        </p:nvSpPr>
        <p:spPr>
          <a:xfrm>
            <a:off x="7394032" y="6190835"/>
            <a:ext cx="178676" cy="26684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5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C8055-AC4B-5124-0509-8DA608A7D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 Resident Buffer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3F9EF-384A-6025-F4AC-E25DAFB4F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3734"/>
          </a:xfrm>
        </p:spPr>
        <p:txBody>
          <a:bodyPr/>
          <a:lstStyle/>
          <a:p>
            <a:r>
              <a:rPr lang="en-US" dirty="0"/>
              <a:t>Create with </a:t>
            </a:r>
            <a:r>
              <a:rPr lang="en-US" b="1" dirty="0"/>
              <a:t>new</a:t>
            </a:r>
            <a:r>
              <a:rPr lang="en-US" dirty="0"/>
              <a:t> </a:t>
            </a:r>
          </a:p>
          <a:p>
            <a:r>
              <a:rPr lang="en-US" dirty="0"/>
              <a:t>After returning from kernel, copy data to/from host buffer</a:t>
            </a:r>
          </a:p>
          <a:p>
            <a:r>
              <a:rPr lang="en-US" dirty="0"/>
              <a:t>Bulk copy data instead of copying each subgraph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173A4-D879-8F03-F25D-E7815C89E0E5}"/>
              </a:ext>
            </a:extLst>
          </p:cNvPr>
          <p:cNvSpPr txBox="1"/>
          <p:nvPr/>
        </p:nvSpPr>
        <p:spPr>
          <a:xfrm>
            <a:off x="1135117" y="494249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wikipedia_link_ru</a:t>
            </a:r>
          </a:p>
          <a:p>
            <a:r>
              <a:rPr lang="en-US" dirty="0"/>
              <a:t>total run time: 76.6 sec </a:t>
            </a:r>
          </a:p>
          <a:p>
            <a:r>
              <a:rPr lang="en-US" dirty="0"/>
              <a:t>host buffer read/write: 1.3 sec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EFBDFB-41DF-7F29-62B9-ECD1A2DD775A}"/>
              </a:ext>
            </a:extLst>
          </p:cNvPr>
          <p:cNvSpPr/>
          <p:nvPr/>
        </p:nvSpPr>
        <p:spPr>
          <a:xfrm>
            <a:off x="6369270" y="4001294"/>
            <a:ext cx="3909848" cy="3678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CA4AD0-905A-73B5-2396-1B60E26A33B2}"/>
              </a:ext>
            </a:extLst>
          </p:cNvPr>
          <p:cNvSpPr/>
          <p:nvPr/>
        </p:nvSpPr>
        <p:spPr>
          <a:xfrm>
            <a:off x="6369269" y="4691091"/>
            <a:ext cx="5281447" cy="3678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97D780-A2CF-ADE2-2254-21FE67E594F0}"/>
              </a:ext>
            </a:extLst>
          </p:cNvPr>
          <p:cNvSpPr/>
          <p:nvPr/>
        </p:nvSpPr>
        <p:spPr>
          <a:xfrm>
            <a:off x="6453353" y="4051803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4DC7D-F514-61BA-B92D-3CAC78907D58}"/>
              </a:ext>
            </a:extLst>
          </p:cNvPr>
          <p:cNvSpPr/>
          <p:nvPr/>
        </p:nvSpPr>
        <p:spPr>
          <a:xfrm>
            <a:off x="6716112" y="4051803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66C9C8-6328-FFE2-28BC-DDA56EF2F51E}"/>
              </a:ext>
            </a:extLst>
          </p:cNvPr>
          <p:cNvSpPr/>
          <p:nvPr/>
        </p:nvSpPr>
        <p:spPr>
          <a:xfrm>
            <a:off x="6978871" y="4051803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7CB73C-AF4D-75B5-9FF0-C8A040C2A12F}"/>
              </a:ext>
            </a:extLst>
          </p:cNvPr>
          <p:cNvSpPr/>
          <p:nvPr/>
        </p:nvSpPr>
        <p:spPr>
          <a:xfrm>
            <a:off x="7241630" y="4051803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DC9702-9889-7364-6CE6-71121028C96E}"/>
              </a:ext>
            </a:extLst>
          </p:cNvPr>
          <p:cNvSpPr/>
          <p:nvPr/>
        </p:nvSpPr>
        <p:spPr>
          <a:xfrm>
            <a:off x="7504389" y="4051803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45F749-FD06-0D3D-7909-D2347A5FE9F5}"/>
              </a:ext>
            </a:extLst>
          </p:cNvPr>
          <p:cNvSpPr/>
          <p:nvPr/>
        </p:nvSpPr>
        <p:spPr>
          <a:xfrm>
            <a:off x="7767148" y="4051803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BB24A6-520A-8390-DD38-29421AA7B233}"/>
              </a:ext>
            </a:extLst>
          </p:cNvPr>
          <p:cNvSpPr/>
          <p:nvPr/>
        </p:nvSpPr>
        <p:spPr>
          <a:xfrm>
            <a:off x="7252141" y="4748964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A72DB4-0476-BAE8-979B-CA1FA6C5B484}"/>
              </a:ext>
            </a:extLst>
          </p:cNvPr>
          <p:cNvSpPr/>
          <p:nvPr/>
        </p:nvSpPr>
        <p:spPr>
          <a:xfrm>
            <a:off x="7514900" y="4748964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183DA3-803D-4514-6E30-05674FA14CED}"/>
              </a:ext>
            </a:extLst>
          </p:cNvPr>
          <p:cNvSpPr/>
          <p:nvPr/>
        </p:nvSpPr>
        <p:spPr>
          <a:xfrm>
            <a:off x="7777659" y="4748964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77F7D2-A995-61AE-E9F2-6048D1D7A137}"/>
              </a:ext>
            </a:extLst>
          </p:cNvPr>
          <p:cNvSpPr/>
          <p:nvPr/>
        </p:nvSpPr>
        <p:spPr>
          <a:xfrm>
            <a:off x="8040418" y="4748964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90374B-097C-5122-CBAD-2915914995C4}"/>
              </a:ext>
            </a:extLst>
          </p:cNvPr>
          <p:cNvSpPr/>
          <p:nvPr/>
        </p:nvSpPr>
        <p:spPr>
          <a:xfrm>
            <a:off x="8303177" y="4748964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7CEC49-1F7E-1E80-E876-1E69912CAB70}"/>
              </a:ext>
            </a:extLst>
          </p:cNvPr>
          <p:cNvSpPr/>
          <p:nvPr/>
        </p:nvSpPr>
        <p:spPr>
          <a:xfrm>
            <a:off x="8565936" y="4748964"/>
            <a:ext cx="178676" cy="2668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979762-27FC-9B1F-8300-846E2E53A02D}"/>
              </a:ext>
            </a:extLst>
          </p:cNvPr>
          <p:cNvSpPr txBox="1"/>
          <p:nvPr/>
        </p:nvSpPr>
        <p:spPr>
          <a:xfrm>
            <a:off x="6096000" y="3666756"/>
            <a:ext cx="79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758331-BB25-1684-0F06-17283CFB3658}"/>
              </a:ext>
            </a:extLst>
          </p:cNvPr>
          <p:cNvSpPr txBox="1"/>
          <p:nvPr/>
        </p:nvSpPr>
        <p:spPr>
          <a:xfrm>
            <a:off x="6001409" y="4379632"/>
            <a:ext cx="79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FCB574-DD58-2725-E233-047340E09CB3}"/>
              </a:ext>
            </a:extLst>
          </p:cNvPr>
          <p:cNvSpPr/>
          <p:nvPr/>
        </p:nvSpPr>
        <p:spPr>
          <a:xfrm>
            <a:off x="6458611" y="4756913"/>
            <a:ext cx="178676" cy="26684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B0DF84-B1EE-F287-C1A8-3E3058C29298}"/>
              </a:ext>
            </a:extLst>
          </p:cNvPr>
          <p:cNvSpPr/>
          <p:nvPr/>
        </p:nvSpPr>
        <p:spPr>
          <a:xfrm>
            <a:off x="6721370" y="4756913"/>
            <a:ext cx="178676" cy="26684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90E2C1-92CB-2B2B-4BB2-1ADC3CEC5873}"/>
              </a:ext>
            </a:extLst>
          </p:cNvPr>
          <p:cNvSpPr/>
          <p:nvPr/>
        </p:nvSpPr>
        <p:spPr>
          <a:xfrm>
            <a:off x="6984129" y="4756913"/>
            <a:ext cx="178676" cy="26684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206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6E973-A004-1ADE-14F2-6CA6ED23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 Resident Buffer – Downside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281DFC-C1BD-CDA5-1357-6531DDCAE1FC}"/>
              </a:ext>
            </a:extLst>
          </p:cNvPr>
          <p:cNvSpPr/>
          <p:nvPr/>
        </p:nvSpPr>
        <p:spPr>
          <a:xfrm>
            <a:off x="2091559" y="2764221"/>
            <a:ext cx="3909848" cy="3678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Bwr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52861B-6AEB-4D99-1565-3BAB19A9A7EB}"/>
              </a:ext>
            </a:extLst>
          </p:cNvPr>
          <p:cNvSpPr/>
          <p:nvPr/>
        </p:nvSpPr>
        <p:spPr>
          <a:xfrm>
            <a:off x="7378261" y="2764221"/>
            <a:ext cx="2722179" cy="3678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C53FC0-B59F-7874-3116-BBD204AC84FC}"/>
              </a:ext>
            </a:extLst>
          </p:cNvPr>
          <p:cNvCxnSpPr/>
          <p:nvPr/>
        </p:nvCxnSpPr>
        <p:spPr>
          <a:xfrm flipV="1">
            <a:off x="5454869" y="3129455"/>
            <a:ext cx="0" cy="599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3E271A6-5D77-3579-CA03-3906DBFDB080}"/>
              </a:ext>
            </a:extLst>
          </p:cNvPr>
          <p:cNvSpPr txBox="1"/>
          <p:nvPr/>
        </p:nvSpPr>
        <p:spPr>
          <a:xfrm>
            <a:off x="4151586" y="3836284"/>
            <a:ext cx="3286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90% filled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press brake pedal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3BDBA0-E359-5938-0FB3-E30F9AA2466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001407" y="2948152"/>
            <a:ext cx="13768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3BF1332-30DB-73E3-0140-6FAFD1EAB2AD}"/>
              </a:ext>
            </a:extLst>
          </p:cNvPr>
          <p:cNvSpPr txBox="1"/>
          <p:nvPr/>
        </p:nvSpPr>
        <p:spPr>
          <a:xfrm>
            <a:off x="6227381" y="2599840"/>
            <a:ext cx="1057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spill to 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645910-F1A6-5C04-D2E2-7272EEC65998}"/>
              </a:ext>
            </a:extLst>
          </p:cNvPr>
          <p:cNvSpPr txBox="1"/>
          <p:nvPr/>
        </p:nvSpPr>
        <p:spPr>
          <a:xfrm>
            <a:off x="830317" y="2070538"/>
            <a:ext cx="270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Managed Memory case: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5FE284-5DAC-E4AF-F4F6-E91487D6B07C}"/>
              </a:ext>
            </a:extLst>
          </p:cNvPr>
          <p:cNvSpPr/>
          <p:nvPr/>
        </p:nvSpPr>
        <p:spPr>
          <a:xfrm>
            <a:off x="2091558" y="5072728"/>
            <a:ext cx="3909848" cy="3678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Bwr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7DDC7B-C6CF-F369-5ECD-C7AF674B8FA8}"/>
              </a:ext>
            </a:extLst>
          </p:cNvPr>
          <p:cNvSpPr/>
          <p:nvPr/>
        </p:nvSpPr>
        <p:spPr>
          <a:xfrm>
            <a:off x="7378260" y="5072728"/>
            <a:ext cx="2722179" cy="3678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D4FD46-17A1-3BFA-CFA6-91FE6CA357DA}"/>
              </a:ext>
            </a:extLst>
          </p:cNvPr>
          <p:cNvCxnSpPr/>
          <p:nvPr/>
        </p:nvCxnSpPr>
        <p:spPr>
          <a:xfrm flipV="1">
            <a:off x="5454868" y="5437962"/>
            <a:ext cx="0" cy="599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ABBA3C-3386-3F2F-2EED-CEB34F7562C0}"/>
              </a:ext>
            </a:extLst>
          </p:cNvPr>
          <p:cNvSpPr txBox="1"/>
          <p:nvPr/>
        </p:nvSpPr>
        <p:spPr>
          <a:xfrm>
            <a:off x="4151585" y="6144791"/>
            <a:ext cx="3286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90% filled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press brake pedal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6A6723-5D3C-58E3-F38F-62B822082254}"/>
              </a:ext>
            </a:extLst>
          </p:cNvPr>
          <p:cNvSpPr txBox="1"/>
          <p:nvPr/>
        </p:nvSpPr>
        <p:spPr>
          <a:xfrm>
            <a:off x="5564663" y="5437962"/>
            <a:ext cx="1914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spill not possible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8B98B9-6CB6-7690-BC26-31CD29A622FA}"/>
              </a:ext>
            </a:extLst>
          </p:cNvPr>
          <p:cNvSpPr txBox="1"/>
          <p:nvPr/>
        </p:nvSpPr>
        <p:spPr>
          <a:xfrm>
            <a:off x="635876" y="4432745"/>
            <a:ext cx="1825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Host Resident: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33FF75-3F46-76D6-88C4-7336F1019265}"/>
              </a:ext>
            </a:extLst>
          </p:cNvPr>
          <p:cNvSpPr txBox="1"/>
          <p:nvPr/>
        </p:nvSpPr>
        <p:spPr>
          <a:xfrm>
            <a:off x="8647504" y="6190957"/>
            <a:ext cx="3286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wikipedia_link_fr is facing this situation. How to address it??</a:t>
            </a:r>
          </a:p>
        </p:txBody>
      </p:sp>
    </p:spTree>
    <p:extLst>
      <p:ext uri="{BB962C8B-B14F-4D97-AF65-F5344CB8AC3E}">
        <p14:creationId xmlns:p14="http://schemas.microsoft.com/office/powerpoint/2010/main" val="374321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03FD5-EB14-7CC3-5BB1-285AB4037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Quasi Clique Application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AC095E-BF34-B701-4D03-C8F4840B9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1600" y="1393191"/>
            <a:ext cx="4908800" cy="500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75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48B0D-AF69-96DE-08CC-BB0DE9568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Results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4799DED-BE63-3006-EA39-C74B5E392F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4712501"/>
              </p:ext>
            </p:extLst>
          </p:nvPr>
        </p:nvGraphicFramePr>
        <p:xfrm>
          <a:off x="904602" y="3063421"/>
          <a:ext cx="10378445" cy="3373876"/>
        </p:xfrm>
        <a:graphic>
          <a:graphicData uri="http://schemas.openxmlformats.org/drawingml/2006/table">
            <a:tbl>
              <a:tblPr/>
              <a:tblGrid>
                <a:gridCol w="1132150">
                  <a:extLst>
                    <a:ext uri="{9D8B030D-6E8A-4147-A177-3AD203B41FA5}">
                      <a16:colId xmlns:a16="http://schemas.microsoft.com/office/drawing/2014/main" val="2713897327"/>
                    </a:ext>
                  </a:extLst>
                </a:gridCol>
                <a:gridCol w="903797">
                  <a:extLst>
                    <a:ext uri="{9D8B030D-6E8A-4147-A177-3AD203B41FA5}">
                      <a16:colId xmlns:a16="http://schemas.microsoft.com/office/drawing/2014/main" val="2150304406"/>
                    </a:ext>
                  </a:extLst>
                </a:gridCol>
                <a:gridCol w="915816">
                  <a:extLst>
                    <a:ext uri="{9D8B030D-6E8A-4147-A177-3AD203B41FA5}">
                      <a16:colId xmlns:a16="http://schemas.microsoft.com/office/drawing/2014/main" val="2243225001"/>
                    </a:ext>
                  </a:extLst>
                </a:gridCol>
                <a:gridCol w="515197">
                  <a:extLst>
                    <a:ext uri="{9D8B030D-6E8A-4147-A177-3AD203B41FA5}">
                      <a16:colId xmlns:a16="http://schemas.microsoft.com/office/drawing/2014/main" val="2972052075"/>
                    </a:ext>
                  </a:extLst>
                </a:gridCol>
                <a:gridCol w="573286">
                  <a:extLst>
                    <a:ext uri="{9D8B030D-6E8A-4147-A177-3AD203B41FA5}">
                      <a16:colId xmlns:a16="http://schemas.microsoft.com/office/drawing/2014/main" val="1334432183"/>
                    </a:ext>
                  </a:extLst>
                </a:gridCol>
                <a:gridCol w="829683">
                  <a:extLst>
                    <a:ext uri="{9D8B030D-6E8A-4147-A177-3AD203B41FA5}">
                      <a16:colId xmlns:a16="http://schemas.microsoft.com/office/drawing/2014/main" val="2626238600"/>
                    </a:ext>
                  </a:extLst>
                </a:gridCol>
                <a:gridCol w="1102104">
                  <a:extLst>
                    <a:ext uri="{9D8B030D-6E8A-4147-A177-3AD203B41FA5}">
                      <a16:colId xmlns:a16="http://schemas.microsoft.com/office/drawing/2014/main" val="297224623"/>
                    </a:ext>
                  </a:extLst>
                </a:gridCol>
                <a:gridCol w="1290395">
                  <a:extLst>
                    <a:ext uri="{9D8B030D-6E8A-4147-A177-3AD203B41FA5}">
                      <a16:colId xmlns:a16="http://schemas.microsoft.com/office/drawing/2014/main" val="3163159027"/>
                    </a:ext>
                  </a:extLst>
                </a:gridCol>
                <a:gridCol w="931840">
                  <a:extLst>
                    <a:ext uri="{9D8B030D-6E8A-4147-A177-3AD203B41FA5}">
                      <a16:colId xmlns:a16="http://schemas.microsoft.com/office/drawing/2014/main" val="962728455"/>
                    </a:ext>
                  </a:extLst>
                </a:gridCol>
                <a:gridCol w="853720">
                  <a:extLst>
                    <a:ext uri="{9D8B030D-6E8A-4147-A177-3AD203B41FA5}">
                      <a16:colId xmlns:a16="http://schemas.microsoft.com/office/drawing/2014/main" val="3298218237"/>
                    </a:ext>
                  </a:extLst>
                </a:gridCol>
                <a:gridCol w="1330457">
                  <a:extLst>
                    <a:ext uri="{9D8B030D-6E8A-4147-A177-3AD203B41FA5}">
                      <a16:colId xmlns:a16="http://schemas.microsoft.com/office/drawing/2014/main" val="900833380"/>
                    </a:ext>
                  </a:extLst>
                </a:gridCol>
              </a:tblGrid>
              <a:tr h="3658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dataset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l-GR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θ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l-GR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γ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#MQC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Gthinker-CG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DCFastQC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Quick+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cu-QC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#{cu-QC} 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527003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ca-GrQc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26,198 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14,490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1,665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1.3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659542"/>
                  </a:ext>
                </a:extLst>
              </a:tr>
              <a:tr h="673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condmat-dimacs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39,577 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175,691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7,222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8.2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2.2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432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619954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condmat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108,301 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93,468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4,382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1.5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0, paper reported(4396)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10221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enron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36,692 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183,831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12.8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102.0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3.3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0, paper reported(200)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962238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facebook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4,039 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88,234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0.95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104.2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282.9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352.1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1.4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0, paper reported (2)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19" marR="12019" marT="12019" marB="0" anchor="b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66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33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8D96-752A-BB39-31C5-06E92718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Dividing Tasks Among CPU Workers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1644B-847F-58EE-7D76-5F47DB1DE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Earlier CPU workers takes fixed number of tasks/vertices (cpuchunk)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better division is: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min(#tasks / #workers, cpuchunk)</a:t>
            </a:r>
          </a:p>
        </p:txBody>
      </p:sp>
    </p:spTree>
    <p:extLst>
      <p:ext uri="{BB962C8B-B14F-4D97-AF65-F5344CB8AC3E}">
        <p14:creationId xmlns:p14="http://schemas.microsoft.com/office/powerpoint/2010/main" val="3468713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0BAD-79FD-0470-8427-965989CA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Distributing Small No. of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8D188-066E-2D61-09D7-012E036D4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/>
              <a:t>Ideally, GPU should get large number of initial tasks</a:t>
            </a:r>
          </a:p>
          <a:p>
            <a:r>
              <a:rPr lang="en-US" dirty="0"/>
              <a:t>If the no. of tasks less, then divide percentage of tasks to GPU</a:t>
            </a:r>
          </a:p>
        </p:txBody>
      </p:sp>
    </p:spTree>
    <p:extLst>
      <p:ext uri="{BB962C8B-B14F-4D97-AF65-F5344CB8AC3E}">
        <p14:creationId xmlns:p14="http://schemas.microsoft.com/office/powerpoint/2010/main" val="2665304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8F2B-E76F-40B0-7063-17E52B8E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div_factor experiments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37DA67-F41C-DE21-0056-63C6246309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1437656"/>
              </p:ext>
            </p:extLst>
          </p:nvPr>
        </p:nvGraphicFramePr>
        <p:xfrm>
          <a:off x="3647559" y="2502019"/>
          <a:ext cx="3617432" cy="2251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8716">
                  <a:extLst>
                    <a:ext uri="{9D8B030D-6E8A-4147-A177-3AD203B41FA5}">
                      <a16:colId xmlns:a16="http://schemas.microsoft.com/office/drawing/2014/main" val="260910380"/>
                    </a:ext>
                  </a:extLst>
                </a:gridCol>
                <a:gridCol w="1808716">
                  <a:extLst>
                    <a:ext uri="{9D8B030D-6E8A-4147-A177-3AD203B41FA5}">
                      <a16:colId xmlns:a16="http://schemas.microsoft.com/office/drawing/2014/main" val="97647769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Div_factor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Time(sec)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684556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0.70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37.57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6873373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0.80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29.64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905119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0.90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30.75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9617642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0.95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32.06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2515305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1.00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101.65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38820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A0CB83-5B57-EE5C-4EF1-3551705B2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974449"/>
              </p:ext>
            </p:extLst>
          </p:nvPr>
        </p:nvGraphicFramePr>
        <p:xfrm>
          <a:off x="2743201" y="1855548"/>
          <a:ext cx="5426148" cy="3752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8716">
                  <a:extLst>
                    <a:ext uri="{9D8B030D-6E8A-4147-A177-3AD203B41FA5}">
                      <a16:colId xmlns:a16="http://schemas.microsoft.com/office/drawing/2014/main" val="2063601532"/>
                    </a:ext>
                  </a:extLst>
                </a:gridCol>
                <a:gridCol w="1808716">
                  <a:extLst>
                    <a:ext uri="{9D8B030D-6E8A-4147-A177-3AD203B41FA5}">
                      <a16:colId xmlns:a16="http://schemas.microsoft.com/office/drawing/2014/main" val="2721509019"/>
                    </a:ext>
                  </a:extLst>
                </a:gridCol>
                <a:gridCol w="1808716">
                  <a:extLst>
                    <a:ext uri="{9D8B030D-6E8A-4147-A177-3AD203B41FA5}">
                      <a16:colId xmlns:a16="http://schemas.microsoft.com/office/drawing/2014/main" val="1347420145"/>
                    </a:ext>
                  </a:extLst>
                </a:gridCol>
              </a:tblGrid>
              <a:tr h="3497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Flixster</a:t>
                      </a:r>
                      <a:r>
                        <a:rPr lang="en-US" sz="24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k=23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g=0.95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01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290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5898</TotalTime>
  <Words>324</Words>
  <Application>Microsoft Macintosh PowerPoint</Application>
  <PresentationFormat>Widescreen</PresentationFormat>
  <Paragraphs>123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Consolas</vt:lpstr>
      <vt:lpstr>Wingdings</vt:lpstr>
      <vt:lpstr>Office Theme</vt:lpstr>
      <vt:lpstr>Managed Memory Spill Buffer</vt:lpstr>
      <vt:lpstr>Host Resident Buffer</vt:lpstr>
      <vt:lpstr>Host Resident Buffer – Downside </vt:lpstr>
      <vt:lpstr>Quasi Clique Application</vt:lpstr>
      <vt:lpstr>Results</vt:lpstr>
      <vt:lpstr>Dividing Tasks Among CPU Workers</vt:lpstr>
      <vt:lpstr>Distributing Small No. of Tasks</vt:lpstr>
      <vt:lpstr>div_factor experiments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Akhlaque</dc:creator>
  <cp:lastModifiedBy>Ahmad, Akhlaque</cp:lastModifiedBy>
  <cp:revision>5</cp:revision>
  <dcterms:created xsi:type="dcterms:W3CDTF">2026-04-20T02:32:18Z</dcterms:created>
  <dcterms:modified xsi:type="dcterms:W3CDTF">2026-05-09T18:07:04Z</dcterms:modified>
</cp:coreProperties>
</file>