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726"/>
  </p:normalViewPr>
  <p:slideViewPr>
    <p:cSldViewPr snapToGrid="0">
      <p:cViewPr>
        <p:scale>
          <a:sx n="100" d="100"/>
          <a:sy n="100" d="100"/>
        </p:scale>
        <p:origin x="107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/>
              <a:t>wikipedia_link_ru</a:t>
            </a:r>
          </a:p>
          <a:p>
            <a:r>
              <a:rPr lang="en-US" dirty="0"/>
              <a:t>total run time: 85.2 sec </a:t>
            </a:r>
          </a:p>
          <a:p>
            <a:r>
              <a:rPr lang="en-US" dirty="0"/>
              <a:t>host buffer read/write: 8.3 sec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B337A4-81B6-FED8-254B-771A44FD4A2F}"/>
              </a:ext>
            </a:extLst>
          </p:cNvPr>
          <p:cNvSpPr/>
          <p:nvPr/>
        </p:nvSpPr>
        <p:spPr>
          <a:xfrm>
            <a:off x="6779173" y="5435216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F52175-1AB0-5781-9179-92C1013667FA}"/>
              </a:ext>
            </a:extLst>
          </p:cNvPr>
          <p:cNvSpPr/>
          <p:nvPr/>
        </p:nvSpPr>
        <p:spPr>
          <a:xfrm>
            <a:off x="6779172" y="6125013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16A70B-E2E2-4B14-8CFC-AA561594D92B}"/>
              </a:ext>
            </a:extLst>
          </p:cNvPr>
          <p:cNvSpPr/>
          <p:nvPr/>
        </p:nvSpPr>
        <p:spPr>
          <a:xfrm>
            <a:off x="6863256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631529-204C-3B51-97B3-7FF7CF1C29F7}"/>
              </a:ext>
            </a:extLst>
          </p:cNvPr>
          <p:cNvSpPr/>
          <p:nvPr/>
        </p:nvSpPr>
        <p:spPr>
          <a:xfrm>
            <a:off x="7126015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F5C227-10D3-9E28-8DE5-BB644C6DB189}"/>
              </a:ext>
            </a:extLst>
          </p:cNvPr>
          <p:cNvSpPr/>
          <p:nvPr/>
        </p:nvSpPr>
        <p:spPr>
          <a:xfrm>
            <a:off x="7388774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78BC3-BACA-2623-F8E2-06EA860C67CD}"/>
              </a:ext>
            </a:extLst>
          </p:cNvPr>
          <p:cNvSpPr/>
          <p:nvPr/>
        </p:nvSpPr>
        <p:spPr>
          <a:xfrm>
            <a:off x="7651533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4EE2DD-ECD0-8988-EDEF-1C0B30F4538E}"/>
              </a:ext>
            </a:extLst>
          </p:cNvPr>
          <p:cNvSpPr/>
          <p:nvPr/>
        </p:nvSpPr>
        <p:spPr>
          <a:xfrm>
            <a:off x="7914292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59B738-F281-26CC-EADD-490BDEC0D22A}"/>
              </a:ext>
            </a:extLst>
          </p:cNvPr>
          <p:cNvSpPr/>
          <p:nvPr/>
        </p:nvSpPr>
        <p:spPr>
          <a:xfrm>
            <a:off x="8177051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FE7D5B-E899-D64D-9F95-7DFE4D5CAD62}"/>
              </a:ext>
            </a:extLst>
          </p:cNvPr>
          <p:cNvSpPr/>
          <p:nvPr/>
        </p:nvSpPr>
        <p:spPr>
          <a:xfrm>
            <a:off x="7662044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C3B04B-8089-BEEE-CEF7-E1BC983D4AD5}"/>
              </a:ext>
            </a:extLst>
          </p:cNvPr>
          <p:cNvSpPr/>
          <p:nvPr/>
        </p:nvSpPr>
        <p:spPr>
          <a:xfrm>
            <a:off x="7924803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6C44D-F4E4-F432-B374-2EDA5CD8A40B}"/>
              </a:ext>
            </a:extLst>
          </p:cNvPr>
          <p:cNvSpPr/>
          <p:nvPr/>
        </p:nvSpPr>
        <p:spPr>
          <a:xfrm>
            <a:off x="8187562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77F03F-5A45-3A20-EAF2-C352BCA85D84}"/>
              </a:ext>
            </a:extLst>
          </p:cNvPr>
          <p:cNvSpPr/>
          <p:nvPr/>
        </p:nvSpPr>
        <p:spPr>
          <a:xfrm>
            <a:off x="8450321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D8BE32-42B9-A6C1-E5D1-E4A9C05A313C}"/>
              </a:ext>
            </a:extLst>
          </p:cNvPr>
          <p:cNvSpPr/>
          <p:nvPr/>
        </p:nvSpPr>
        <p:spPr>
          <a:xfrm>
            <a:off x="8713080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6B7719-5087-EB6F-7853-AF74CA301F9F}"/>
              </a:ext>
            </a:extLst>
          </p:cNvPr>
          <p:cNvSpPr/>
          <p:nvPr/>
        </p:nvSpPr>
        <p:spPr>
          <a:xfrm>
            <a:off x="8975839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1B4F7D-E327-EF00-B2EB-D3B81C7D1EB5}"/>
              </a:ext>
            </a:extLst>
          </p:cNvPr>
          <p:cNvSpPr txBox="1"/>
          <p:nvPr/>
        </p:nvSpPr>
        <p:spPr>
          <a:xfrm>
            <a:off x="6505903" y="5100678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1CE647-0EF1-9A0D-9AFE-FC1F9DE52991}"/>
              </a:ext>
            </a:extLst>
          </p:cNvPr>
          <p:cNvSpPr txBox="1"/>
          <p:nvPr/>
        </p:nvSpPr>
        <p:spPr>
          <a:xfrm>
            <a:off x="6411312" y="5813554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2A78CE-47B7-C2BC-DED0-11DB194DBEDB}"/>
              </a:ext>
            </a:extLst>
          </p:cNvPr>
          <p:cNvSpPr/>
          <p:nvPr/>
        </p:nvSpPr>
        <p:spPr>
          <a:xfrm>
            <a:off x="6868514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2CAA3F-C807-DC50-FDC0-0C4C7C7C31F9}"/>
              </a:ext>
            </a:extLst>
          </p:cNvPr>
          <p:cNvSpPr/>
          <p:nvPr/>
        </p:nvSpPr>
        <p:spPr>
          <a:xfrm>
            <a:off x="7131273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D111EE6-D952-9796-1809-E04E52097063}"/>
              </a:ext>
            </a:extLst>
          </p:cNvPr>
          <p:cNvSpPr/>
          <p:nvPr/>
        </p:nvSpPr>
        <p:spPr>
          <a:xfrm>
            <a:off x="7394032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wikipedia_link_ru</a:t>
            </a:r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Bwr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Bwr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wikipedia_link_fr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712501"/>
              </p:ext>
            </p:extLst>
          </p:nvPr>
        </p:nvGraphicFramePr>
        <p:xfrm>
          <a:off x="904602" y="3063421"/>
          <a:ext cx="10378445" cy="3373876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Gthinker-CG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8D96-752A-BB39-31C5-06E927181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Tasks Among CPU Workers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1644B-847F-58EE-7D76-5F47DB1DE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Earlier CPU workers takes fixed number of tasks/vertices (cpuchunk)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better division is: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min(#tasks / #workers, cpuchunk)</a:t>
            </a:r>
          </a:p>
        </p:txBody>
      </p:sp>
    </p:spTree>
    <p:extLst>
      <p:ext uri="{BB962C8B-B14F-4D97-AF65-F5344CB8AC3E}">
        <p14:creationId xmlns:p14="http://schemas.microsoft.com/office/powerpoint/2010/main" val="3468713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00BAD-79FD-0470-8427-965989CA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Distributing Small No. of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8D188-066E-2D61-09D7-012E036D4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/>
          <a:lstStyle/>
          <a:p>
            <a:r>
              <a:rPr lang="en-US" dirty="0"/>
              <a:t>Ideally, GPU should get large number of initial tasks</a:t>
            </a:r>
          </a:p>
          <a:p>
            <a:r>
              <a:rPr lang="en-US" dirty="0"/>
              <a:t>If the no. of tasks less, then divide percentage of tasks to GPU</a:t>
            </a:r>
          </a:p>
        </p:txBody>
      </p:sp>
    </p:spTree>
    <p:extLst>
      <p:ext uri="{BB962C8B-B14F-4D97-AF65-F5344CB8AC3E}">
        <p14:creationId xmlns:p14="http://schemas.microsoft.com/office/powerpoint/2010/main" val="2665304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28F2B-E76F-40B0-7063-17E52B8EE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div_factor experiments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37DA67-F41C-DE21-0056-63C6246309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1437656"/>
              </p:ext>
            </p:extLst>
          </p:nvPr>
        </p:nvGraphicFramePr>
        <p:xfrm>
          <a:off x="3647559" y="2502019"/>
          <a:ext cx="3617432" cy="2251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8716">
                  <a:extLst>
                    <a:ext uri="{9D8B030D-6E8A-4147-A177-3AD203B41FA5}">
                      <a16:colId xmlns:a16="http://schemas.microsoft.com/office/drawing/2014/main" val="260910380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97647769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Div_factor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Time(sec)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684556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0.70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37.57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6873373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0.80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29.64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905119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0.90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30.75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6176425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0.95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32.06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2515305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101.65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9388208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6A0CB83-5B57-EE5C-4EF1-3551705B24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974449"/>
              </p:ext>
            </p:extLst>
          </p:nvPr>
        </p:nvGraphicFramePr>
        <p:xfrm>
          <a:off x="2743201" y="1855548"/>
          <a:ext cx="5426148" cy="375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8716">
                  <a:extLst>
                    <a:ext uri="{9D8B030D-6E8A-4147-A177-3AD203B41FA5}">
                      <a16:colId xmlns:a16="http://schemas.microsoft.com/office/drawing/2014/main" val="2063601532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2721509019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1347420145"/>
                    </a:ext>
                  </a:extLst>
                </a:gridCol>
              </a:tblGrid>
              <a:tr h="3497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Flixster</a:t>
                      </a: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k=23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g=0.95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014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3290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5A50-4677-63C7-039D-3F0060C6E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120E09-39A9-6AA8-0784-ECB4BB3A6127}"/>
              </a:ext>
            </a:extLst>
          </p:cNvPr>
          <p:cNvSpPr/>
          <p:nvPr/>
        </p:nvSpPr>
        <p:spPr>
          <a:xfrm>
            <a:off x="3391786" y="2679405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E0971-D818-29B0-5265-E69E15AA827F}"/>
              </a:ext>
            </a:extLst>
          </p:cNvPr>
          <p:cNvSpPr txBox="1"/>
          <p:nvPr/>
        </p:nvSpPr>
        <p:spPr>
          <a:xfrm>
            <a:off x="2413591" y="2456121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B71A3D-6A1E-5974-D76E-A419FB7F88DC}"/>
              </a:ext>
            </a:extLst>
          </p:cNvPr>
          <p:cNvSpPr/>
          <p:nvPr/>
        </p:nvSpPr>
        <p:spPr>
          <a:xfrm>
            <a:off x="3391786" y="3388868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E41D59-DF4C-D15C-E103-93044792499B}"/>
              </a:ext>
            </a:extLst>
          </p:cNvPr>
          <p:cNvSpPr txBox="1"/>
          <p:nvPr/>
        </p:nvSpPr>
        <p:spPr>
          <a:xfrm>
            <a:off x="2413591" y="3165584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FB95C8-503A-DB2D-F3E0-B16775BC89EF}"/>
              </a:ext>
            </a:extLst>
          </p:cNvPr>
          <p:cNvSpPr/>
          <p:nvPr/>
        </p:nvSpPr>
        <p:spPr>
          <a:xfrm>
            <a:off x="5486398" y="2724853"/>
            <a:ext cx="51390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912E3D-7D18-CCDA-6055-467BDCA8AC33}"/>
              </a:ext>
            </a:extLst>
          </p:cNvPr>
          <p:cNvSpPr/>
          <p:nvPr/>
        </p:nvSpPr>
        <p:spPr>
          <a:xfrm>
            <a:off x="5922336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853AF3-01FA-0BE0-C594-CC2664B1A70C}"/>
              </a:ext>
            </a:extLst>
          </p:cNvPr>
          <p:cNvSpPr/>
          <p:nvPr/>
        </p:nvSpPr>
        <p:spPr>
          <a:xfrm>
            <a:off x="5241850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ED1FB0-6F09-2A42-0BB6-074A40FCF304}"/>
              </a:ext>
            </a:extLst>
          </p:cNvPr>
          <p:cNvCxnSpPr>
            <a:stCxn id="9" idx="2"/>
          </p:cNvCxnSpPr>
          <p:nvPr/>
        </p:nvCxnSpPr>
        <p:spPr>
          <a:xfrm flipH="1">
            <a:off x="4880344" y="3058632"/>
            <a:ext cx="531628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095CD25-7653-562F-100D-1718C6087C6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5582093" y="3058632"/>
            <a:ext cx="161259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99FB7C-D806-7012-A6B1-699528B501A5}"/>
              </a:ext>
            </a:extLst>
          </p:cNvPr>
          <p:cNvCxnSpPr>
            <a:cxnSpLocks/>
          </p:cNvCxnSpPr>
          <p:nvPr/>
        </p:nvCxnSpPr>
        <p:spPr>
          <a:xfrm>
            <a:off x="6128781" y="3058632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87280E4-0284-34B2-3EEB-B565FB39571B}"/>
              </a:ext>
            </a:extLst>
          </p:cNvPr>
          <p:cNvSpPr/>
          <p:nvPr/>
        </p:nvSpPr>
        <p:spPr>
          <a:xfrm>
            <a:off x="4901607" y="3434317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B4C3A5-B3BE-170A-99D2-8B0856E5E500}"/>
              </a:ext>
            </a:extLst>
          </p:cNvPr>
          <p:cNvSpPr/>
          <p:nvPr/>
        </p:nvSpPr>
        <p:spPr>
          <a:xfrm>
            <a:off x="5583419" y="3426601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E7B755-A61D-574A-7B33-7CF52DA71D78}"/>
              </a:ext>
            </a:extLst>
          </p:cNvPr>
          <p:cNvSpPr txBox="1"/>
          <p:nvPr/>
        </p:nvSpPr>
        <p:spPr>
          <a:xfrm>
            <a:off x="659219" y="2743200"/>
            <a:ext cx="94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</p:txBody>
      </p:sp>
    </p:spTree>
    <p:extLst>
      <p:ext uri="{BB962C8B-B14F-4D97-AF65-F5344CB8AC3E}">
        <p14:creationId xmlns:p14="http://schemas.microsoft.com/office/powerpoint/2010/main" val="3140495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FE11A-ECA3-838C-41CD-EE71547B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0244-DF45-9C9E-5A19-51E0A0456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6DA451-AAF6-2A2E-097A-18DEDFB2D240}"/>
              </a:ext>
            </a:extLst>
          </p:cNvPr>
          <p:cNvSpPr/>
          <p:nvPr/>
        </p:nvSpPr>
        <p:spPr>
          <a:xfrm>
            <a:off x="3391786" y="2679405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56BCF2-032C-99A1-FCF6-54E19AB458D0}"/>
              </a:ext>
            </a:extLst>
          </p:cNvPr>
          <p:cNvSpPr txBox="1"/>
          <p:nvPr/>
        </p:nvSpPr>
        <p:spPr>
          <a:xfrm>
            <a:off x="2413591" y="2456121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CCB565-FAEC-2F70-D70F-2B79BD3D9768}"/>
              </a:ext>
            </a:extLst>
          </p:cNvPr>
          <p:cNvSpPr/>
          <p:nvPr/>
        </p:nvSpPr>
        <p:spPr>
          <a:xfrm>
            <a:off x="3391786" y="3388868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4A73C-9F2A-2598-541F-63BD2DD6A0C6}"/>
              </a:ext>
            </a:extLst>
          </p:cNvPr>
          <p:cNvSpPr txBox="1"/>
          <p:nvPr/>
        </p:nvSpPr>
        <p:spPr>
          <a:xfrm>
            <a:off x="2413591" y="3165584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AD0422-46D4-B175-2C1C-8811E73E671C}"/>
              </a:ext>
            </a:extLst>
          </p:cNvPr>
          <p:cNvSpPr/>
          <p:nvPr/>
        </p:nvSpPr>
        <p:spPr>
          <a:xfrm>
            <a:off x="5486398" y="2724853"/>
            <a:ext cx="51390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A4A19-A4CE-0469-607F-64B8AB72FE24}"/>
              </a:ext>
            </a:extLst>
          </p:cNvPr>
          <p:cNvSpPr/>
          <p:nvPr/>
        </p:nvSpPr>
        <p:spPr>
          <a:xfrm>
            <a:off x="5922336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8D2CB3-2B84-BAFE-1CBA-63525158B8E0}"/>
              </a:ext>
            </a:extLst>
          </p:cNvPr>
          <p:cNvSpPr/>
          <p:nvPr/>
        </p:nvSpPr>
        <p:spPr>
          <a:xfrm>
            <a:off x="5241850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A32FD7-01F0-6D2C-FBF8-BE7804C9DB4A}"/>
              </a:ext>
            </a:extLst>
          </p:cNvPr>
          <p:cNvCxnSpPr>
            <a:stCxn id="9" idx="2"/>
          </p:cNvCxnSpPr>
          <p:nvPr/>
        </p:nvCxnSpPr>
        <p:spPr>
          <a:xfrm flipH="1">
            <a:off x="4880344" y="3058632"/>
            <a:ext cx="531628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42EE21-C40F-BD49-9AA4-C3C8B6CF212C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5582093" y="3058632"/>
            <a:ext cx="161259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4D1BDD9-07C8-6754-6A6F-95B524B0FA65}"/>
              </a:ext>
            </a:extLst>
          </p:cNvPr>
          <p:cNvCxnSpPr>
            <a:cxnSpLocks/>
          </p:cNvCxnSpPr>
          <p:nvPr/>
        </p:nvCxnSpPr>
        <p:spPr>
          <a:xfrm>
            <a:off x="6128781" y="3058632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531A138B-A7B8-DB22-E217-A9AB8D23B595}"/>
              </a:ext>
            </a:extLst>
          </p:cNvPr>
          <p:cNvSpPr/>
          <p:nvPr/>
        </p:nvSpPr>
        <p:spPr>
          <a:xfrm>
            <a:off x="4901607" y="3434317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91B2C4-9E07-E386-69E2-BC4C80D4C4B1}"/>
              </a:ext>
            </a:extLst>
          </p:cNvPr>
          <p:cNvSpPr/>
          <p:nvPr/>
        </p:nvSpPr>
        <p:spPr>
          <a:xfrm>
            <a:off x="5583419" y="3426601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3B2B14-4F49-8862-744A-C7D634740EA9}"/>
              </a:ext>
            </a:extLst>
          </p:cNvPr>
          <p:cNvSpPr txBox="1"/>
          <p:nvPr/>
        </p:nvSpPr>
        <p:spPr>
          <a:xfrm>
            <a:off x="659219" y="2743200"/>
            <a:ext cx="94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093E29-9F5A-93E6-85BF-70A9B4FD4ADF}"/>
              </a:ext>
            </a:extLst>
          </p:cNvPr>
          <p:cNvSpPr/>
          <p:nvPr/>
        </p:nvSpPr>
        <p:spPr>
          <a:xfrm>
            <a:off x="3391786" y="4499560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43E7F0-AAB0-6445-1E1E-D32D9845BB62}"/>
              </a:ext>
            </a:extLst>
          </p:cNvPr>
          <p:cNvSpPr txBox="1"/>
          <p:nvPr/>
        </p:nvSpPr>
        <p:spPr>
          <a:xfrm>
            <a:off x="2413591" y="4276276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B7727D-DCE4-4686-E7E8-E31B3E1E0E5C}"/>
              </a:ext>
            </a:extLst>
          </p:cNvPr>
          <p:cNvSpPr/>
          <p:nvPr/>
        </p:nvSpPr>
        <p:spPr>
          <a:xfrm>
            <a:off x="3391786" y="5209023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527B95-6603-B737-979E-E3FD277E2C30}"/>
              </a:ext>
            </a:extLst>
          </p:cNvPr>
          <p:cNvSpPr txBox="1"/>
          <p:nvPr/>
        </p:nvSpPr>
        <p:spPr>
          <a:xfrm>
            <a:off x="2413591" y="4985739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E7F5E8-4092-056B-ADC6-01C67DCC733C}"/>
              </a:ext>
            </a:extLst>
          </p:cNvPr>
          <p:cNvSpPr/>
          <p:nvPr/>
        </p:nvSpPr>
        <p:spPr>
          <a:xfrm>
            <a:off x="5743352" y="4545008"/>
            <a:ext cx="51922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7198B4-48C4-2218-38F9-5B779E71FA88}"/>
              </a:ext>
            </a:extLst>
          </p:cNvPr>
          <p:cNvSpPr/>
          <p:nvPr/>
        </p:nvSpPr>
        <p:spPr>
          <a:xfrm>
            <a:off x="5241850" y="4545008"/>
            <a:ext cx="501502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9448A-A50B-2CEC-502D-EDF359607F42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880344" y="4878787"/>
            <a:ext cx="612257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18A85B8-EA02-3130-FF0A-A1D6BF0E436E}"/>
              </a:ext>
            </a:extLst>
          </p:cNvPr>
          <p:cNvCxnSpPr>
            <a:cxnSpLocks/>
          </p:cNvCxnSpPr>
          <p:nvPr/>
        </p:nvCxnSpPr>
        <p:spPr>
          <a:xfrm>
            <a:off x="6128781" y="4878787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9C5216C-664C-CAD0-AD04-901415E557E7}"/>
              </a:ext>
            </a:extLst>
          </p:cNvPr>
          <p:cNvSpPr/>
          <p:nvPr/>
        </p:nvSpPr>
        <p:spPr>
          <a:xfrm>
            <a:off x="4901607" y="5254472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130D27-CD9F-0DC1-D27B-6ECC25E685D9}"/>
              </a:ext>
            </a:extLst>
          </p:cNvPr>
          <p:cNvSpPr/>
          <p:nvPr/>
        </p:nvSpPr>
        <p:spPr>
          <a:xfrm>
            <a:off x="5583419" y="5246756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C08B24-5E69-0AC2-B43C-158E3C442014}"/>
              </a:ext>
            </a:extLst>
          </p:cNvPr>
          <p:cNvSpPr txBox="1"/>
          <p:nvPr/>
        </p:nvSpPr>
        <p:spPr>
          <a:xfrm>
            <a:off x="659219" y="4563355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Proposed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74F4E16-8B94-A372-97AF-E154330A855B}"/>
              </a:ext>
            </a:extLst>
          </p:cNvPr>
          <p:cNvSpPr/>
          <p:nvPr/>
        </p:nvSpPr>
        <p:spPr>
          <a:xfrm>
            <a:off x="3391786" y="5938194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6EED0A-3FF8-3A5C-B802-33B250767027}"/>
              </a:ext>
            </a:extLst>
          </p:cNvPr>
          <p:cNvSpPr txBox="1"/>
          <p:nvPr/>
        </p:nvSpPr>
        <p:spPr>
          <a:xfrm>
            <a:off x="2413591" y="5911765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EF621C2-BCA8-070B-94AE-96A5250077B2}"/>
              </a:ext>
            </a:extLst>
          </p:cNvPr>
          <p:cNvSpPr/>
          <p:nvPr/>
        </p:nvSpPr>
        <p:spPr>
          <a:xfrm>
            <a:off x="5331342" y="5983955"/>
            <a:ext cx="501502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3289F9-F0D1-88BF-2ACA-3B8455570628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5582093" y="5679774"/>
            <a:ext cx="0" cy="30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5236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E5CE3626-FB0A-692A-F035-A1DF78C21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150E0C-EF31-9E3B-653E-15424381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Buffer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19DFFE26-B75F-43CD-55F5-9E3EA43815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2223225"/>
              </p:ext>
            </p:extLst>
          </p:nvPr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D8A8E56-B852-AB89-A094-0ABE1BBE77BC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level tasks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306A4D-FDE3-C800-7E1C-84906394F217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DA448AB-F1BC-2284-B2BB-209FB2E9000F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4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A725-C0FB-AFBB-BD77-C989D1102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F65E09FD-86C3-B452-444F-53A4F6F7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2F1B3E-B919-6AAB-EBA8-2232CDA9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Buffer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F7BEEAA0-DB71-CB33-8F1C-7F30FD0FB0F1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D450443-76AA-47EF-8518-82CDF232C420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level tasks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DF527D-D515-F294-E1EC-14ED18FFC723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BC0C70-8964-A7F5-37A8-04C08D4E0EBC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9088A7C-78EB-F510-6A5A-607DA4322B1B}"/>
              </a:ext>
            </a:extLst>
          </p:cNvPr>
          <p:cNvSpPr txBox="1"/>
          <p:nvPr/>
        </p:nvSpPr>
        <p:spPr>
          <a:xfrm>
            <a:off x="1709998" y="3289727"/>
            <a:ext cx="1850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 warp scratch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53A03-19D4-3309-7501-A43EB6713F89}"/>
              </a:ext>
            </a:extLst>
          </p:cNvPr>
          <p:cNvSpPr txBox="1"/>
          <p:nvPr/>
        </p:nvSpPr>
        <p:spPr>
          <a:xfrm>
            <a:off x="1172184" y="3576806"/>
            <a:ext cx="295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32000 it sums to 6.5GB</a:t>
            </a:r>
          </a:p>
        </p:txBody>
      </p:sp>
    </p:spTree>
    <p:extLst>
      <p:ext uri="{BB962C8B-B14F-4D97-AF65-F5344CB8AC3E}">
        <p14:creationId xmlns:p14="http://schemas.microsoft.com/office/powerpoint/2010/main" val="167228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744D-A139-FB1A-B60B-51B6E628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Handlink Big Tasks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23482F-EE93-313A-EB53-C79917AA89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7645106"/>
              </p:ext>
            </p:extLst>
          </p:nvPr>
        </p:nvGraphicFramePr>
        <p:xfrm>
          <a:off x="4092558" y="2098718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5B80B6-EC4E-F048-0038-CFF6411D550E}"/>
              </a:ext>
            </a:extLst>
          </p:cNvPr>
          <p:cNvSpPr txBox="1"/>
          <p:nvPr/>
        </p:nvSpPr>
        <p:spPr>
          <a:xfrm>
            <a:off x="4866655" y="1612797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root vertices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991E7-EBD9-411B-061E-6EB77AADD304}"/>
              </a:ext>
            </a:extLst>
          </p:cNvPr>
          <p:cNvSpPr/>
          <p:nvPr/>
        </p:nvSpPr>
        <p:spPr>
          <a:xfrm>
            <a:off x="5231740" y="2753290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12D79D-DB24-5704-F564-5A38DEC648E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5682873" y="2537077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C93F2F9-94CF-FE9B-9197-06D4D1F1CD30}"/>
              </a:ext>
            </a:extLst>
          </p:cNvPr>
          <p:cNvSpPr txBox="1"/>
          <p:nvPr/>
        </p:nvSpPr>
        <p:spPr>
          <a:xfrm>
            <a:off x="1214293" y="3528339"/>
            <a:ext cx="9851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vertices with big tasks are separated at initialization step, using CPU threads (by OpenMP)</a:t>
            </a:r>
          </a:p>
          <a:p>
            <a:endParaRPr lang="en-US" dirty="0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BF605D24-416F-9502-BA14-C0F3CB133CF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3953480"/>
              </p:ext>
            </p:extLst>
          </p:nvPr>
        </p:nvGraphicFramePr>
        <p:xfrm>
          <a:off x="2686966" y="4796747"/>
          <a:ext cx="1908378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5C8D13-994B-590F-D315-8769F534E8DE}"/>
              </a:ext>
            </a:extLst>
          </p:cNvPr>
          <p:cNvSpPr txBox="1"/>
          <p:nvPr/>
        </p:nvSpPr>
        <p:spPr>
          <a:xfrm>
            <a:off x="2626729" y="4428363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regular root vertices</a:t>
            </a:r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6FCD81F-D4A1-BEE8-5E13-FBED0B789A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1838108"/>
              </p:ext>
            </p:extLst>
          </p:nvPr>
        </p:nvGraphicFramePr>
        <p:xfrm>
          <a:off x="7885816" y="4809544"/>
          <a:ext cx="1272252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4B4EE0A-6C55-BBED-95D8-E20AFE162E30}"/>
              </a:ext>
            </a:extLst>
          </p:cNvPr>
          <p:cNvSpPr txBox="1"/>
          <p:nvPr/>
        </p:nvSpPr>
        <p:spPr>
          <a:xfrm>
            <a:off x="7596657" y="4427415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big_root</a:t>
            </a:r>
            <a:r>
              <a:rPr lang="en-US" dirty="0"/>
              <a:t> vertices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344CD-3D80-F184-01EF-D60C64B87CD9}"/>
              </a:ext>
            </a:extLst>
          </p:cNvPr>
          <p:cNvSpPr txBox="1"/>
          <p:nvPr/>
        </p:nvSpPr>
        <p:spPr>
          <a:xfrm>
            <a:off x="7227116" y="5365990"/>
            <a:ext cx="3034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 schedules </a:t>
            </a:r>
            <a:r>
              <a:rPr lang="en-US" dirty="0" err="1"/>
              <a:t>big_root</a:t>
            </a:r>
            <a:r>
              <a:rPr lang="en-US" dirty="0"/>
              <a:t> </a:t>
            </a:r>
          </a:p>
          <a:p>
            <a:r>
              <a:rPr lang="en-US" dirty="0"/>
              <a:t>vertices to CPU threads only </a:t>
            </a:r>
          </a:p>
        </p:txBody>
      </p:sp>
    </p:spTree>
    <p:extLst>
      <p:ext uri="{BB962C8B-B14F-4D97-AF65-F5344CB8AC3E}">
        <p14:creationId xmlns:p14="http://schemas.microsoft.com/office/powerpoint/2010/main" val="760717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91E18-9DFD-BE05-AAD5-88906D18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CPU Worker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F3316-7270-F1BB-A82C-E34019F8BA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91"/>
          <a:stretch>
            <a:fillRect/>
          </a:stretch>
        </p:blipFill>
        <p:spPr>
          <a:xfrm>
            <a:off x="2349500" y="1955631"/>
            <a:ext cx="7950200" cy="260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87BFF7-624C-257F-6649-8B778DD7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40"/>
          <a:stretch>
            <a:fillRect/>
          </a:stretch>
        </p:blipFill>
        <p:spPr>
          <a:xfrm>
            <a:off x="7412901" y="5259645"/>
            <a:ext cx="390360" cy="730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916048-DF75-1452-4265-9D9A582345D9}"/>
              </a:ext>
            </a:extLst>
          </p:cNvPr>
          <p:cNvSpPr txBox="1"/>
          <p:nvPr/>
        </p:nvSpPr>
        <p:spPr>
          <a:xfrm>
            <a:off x="7412901" y="5259645"/>
            <a:ext cx="626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1" dirty="0"/>
              <a:t>big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0DF368-E8DA-C66C-E90C-77DD0DB2C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350" y="1663531"/>
            <a:ext cx="2527300" cy="2921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32A7DEC-0ED2-99D7-C858-3C74D3068193}"/>
              </a:ext>
            </a:extLst>
          </p:cNvPr>
          <p:cNvSpPr txBox="1"/>
          <p:nvPr/>
        </p:nvSpPr>
        <p:spPr>
          <a:xfrm>
            <a:off x="5721350" y="132135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</a:t>
            </a:r>
            <a:r>
              <a:rPr lang="en-US" dirty="0">
                <a:sym typeface="Wingdings" pitchFamily="2" charset="2"/>
              </a:rPr>
              <a:t>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E7DE85-92A7-A7EA-AE7C-F1B776E35B2C}"/>
              </a:ext>
            </a:extLst>
          </p:cNvPr>
          <p:cNvSpPr txBox="1"/>
          <p:nvPr/>
        </p:nvSpPr>
        <p:spPr>
          <a:xfrm>
            <a:off x="4622800" y="1586299"/>
            <a:ext cx="989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big_root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C7BAF6-FF5F-E302-0365-0CAF2AAD1F7C}"/>
              </a:ext>
            </a:extLst>
          </p:cNvPr>
          <p:cNvCxnSpPr>
            <a:stCxn id="15" idx="2"/>
          </p:cNvCxnSpPr>
          <p:nvPr/>
        </p:nvCxnSpPr>
        <p:spPr>
          <a:xfrm>
            <a:off x="6985000" y="1955631"/>
            <a:ext cx="1263650" cy="1168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8E86F-74E4-1777-90C5-96968350B754}"/>
              </a:ext>
            </a:extLst>
          </p:cNvPr>
          <p:cNvCxnSpPr>
            <a:cxnSpLocks/>
          </p:cNvCxnSpPr>
          <p:nvPr/>
        </p:nvCxnSpPr>
        <p:spPr>
          <a:xfrm>
            <a:off x="7539468" y="3572171"/>
            <a:ext cx="27025" cy="168747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53AEAA8-B890-570B-D908-E2423BC4FBAA}"/>
              </a:ext>
            </a:extLst>
          </p:cNvPr>
          <p:cNvSpPr txBox="1"/>
          <p:nvPr/>
        </p:nvSpPr>
        <p:spPr>
          <a:xfrm>
            <a:off x="6592907" y="4618895"/>
            <a:ext cx="95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still a </a:t>
            </a:r>
          </a:p>
          <a:p>
            <a:r>
              <a:rPr lang="en-US" dirty="0"/>
              <a:t>big task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3D4A19A-2EDE-CB25-E141-9CEF122CCF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8414" b="18252"/>
          <a:stretch>
            <a:fillRect/>
          </a:stretch>
        </p:blipFill>
        <p:spPr>
          <a:xfrm>
            <a:off x="8038907" y="5756778"/>
            <a:ext cx="736405" cy="46719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B99B4F-A683-F981-B0B5-E57FAF0629D9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632312" y="5990373"/>
            <a:ext cx="40659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89AF7A7-23FB-40B7-63F6-C7FA798F1045}"/>
              </a:ext>
            </a:extLst>
          </p:cNvPr>
          <p:cNvSpPr txBox="1"/>
          <p:nvPr/>
        </p:nvSpPr>
        <p:spPr>
          <a:xfrm>
            <a:off x="8700988" y="580570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big_S</a:t>
            </a:r>
            <a:endParaRPr lang="en-US" i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1A66878-DAE4-281F-4E7A-65095BA631A9}"/>
              </a:ext>
            </a:extLst>
          </p:cNvPr>
          <p:cNvCxnSpPr>
            <a:cxnSpLocks/>
            <a:stCxn id="25" idx="1"/>
          </p:cNvCxnSpPr>
          <p:nvPr/>
        </p:nvCxnSpPr>
        <p:spPr>
          <a:xfrm flipV="1">
            <a:off x="8038907" y="3552586"/>
            <a:ext cx="474147" cy="2437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586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14887</TotalTime>
  <Words>435</Words>
  <Application>Microsoft Macintosh PowerPoint</Application>
  <PresentationFormat>Widescreen</PresentationFormat>
  <Paragraphs>176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Aptos Narrow</vt:lpstr>
      <vt:lpstr>Arial</vt:lpstr>
      <vt:lpstr>Consolas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</vt:lpstr>
      <vt:lpstr>Dividing Tasks Among CPU Workers</vt:lpstr>
      <vt:lpstr>Distributing Small No. of Tasks</vt:lpstr>
      <vt:lpstr>div_factor experiments</vt:lpstr>
      <vt:lpstr>Buffer</vt:lpstr>
      <vt:lpstr>Buffer</vt:lpstr>
      <vt:lpstr>Scratch Buffer</vt:lpstr>
      <vt:lpstr>Scratch Buffer</vt:lpstr>
      <vt:lpstr>Handlink Big Tasks</vt:lpstr>
      <vt:lpstr>Update CPU Worker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7</cp:revision>
  <dcterms:created xsi:type="dcterms:W3CDTF">2026-04-20T02:32:18Z</dcterms:created>
  <dcterms:modified xsi:type="dcterms:W3CDTF">2026-05-17T06:29:38Z</dcterms:modified>
</cp:coreProperties>
</file>