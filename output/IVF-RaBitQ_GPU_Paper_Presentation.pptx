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035e11f5e347fe" /><Relationship Type="http://schemas.openxmlformats.org/officeDocument/2006/relationships/extended-properties" Target="/docProps/app.xml" Id="R9b34a7fa87ef4659" /><Relationship Type="http://schemas.openxmlformats.org/officeDocument/2006/relationships/officeDocument" Target="/ppt/presentation.xml" Id="Rbc5fc2c598f449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a70934c6a84615"/>
  </p:sldMasterIdLst>
  <p:notesMasterIdLst>
    <p:notesMasterId xmlns:r="http://schemas.openxmlformats.org/officeDocument/2006/relationships" r:id="R2c29024c6b3e436a"/>
  </p:notesMasterIdLst>
  <p:sldIdLst>
    <p:sldId xmlns:r="http://schemas.openxmlformats.org/officeDocument/2006/relationships" id="256" r:id="R7dc5cc69aeb54b16"/>
    <p:sldId xmlns:r="http://schemas.openxmlformats.org/officeDocument/2006/relationships" id="257" r:id="R41ddb3fec6d5429b"/>
    <p:sldId xmlns:r="http://schemas.openxmlformats.org/officeDocument/2006/relationships" id="258" r:id="R94d66605724a4632"/>
    <p:sldId xmlns:r="http://schemas.openxmlformats.org/officeDocument/2006/relationships" id="259" r:id="Rc6845492c6f94c5d"/>
    <p:sldId xmlns:r="http://schemas.openxmlformats.org/officeDocument/2006/relationships" id="260" r:id="R5c2c34eca1474150"/>
    <p:sldId xmlns:r="http://schemas.openxmlformats.org/officeDocument/2006/relationships" id="261" r:id="R868d0d1db0694263"/>
    <p:sldId xmlns:r="http://schemas.openxmlformats.org/officeDocument/2006/relationships" id="262" r:id="R605cdafcfdb54455"/>
    <p:sldId xmlns:r="http://schemas.openxmlformats.org/officeDocument/2006/relationships" id="263" r:id="R8dc58079be3b4901"/>
    <p:sldId xmlns:r="http://schemas.openxmlformats.org/officeDocument/2006/relationships" id="264" r:id="R099673d62bfd48ae"/>
    <p:sldId xmlns:r="http://schemas.openxmlformats.org/officeDocument/2006/relationships" id="265" r:id="R7fd82246219f4cdf"/>
    <p:sldId xmlns:r="http://schemas.openxmlformats.org/officeDocument/2006/relationships" id="266" r:id="R544217a89d934d3a"/>
    <p:sldId xmlns:r="http://schemas.openxmlformats.org/officeDocument/2006/relationships" id="267" r:id="R0da555ca3c354065"/>
    <p:sldId xmlns:r="http://schemas.openxmlformats.org/officeDocument/2006/relationships" id="268" r:id="Rc76a5d17ee744153"/>
    <p:sldId xmlns:r="http://schemas.openxmlformats.org/officeDocument/2006/relationships" id="269" r:id="R296ce2c3bf1547d6"/>
    <p:sldId xmlns:r="http://schemas.openxmlformats.org/officeDocument/2006/relationships" id="270" r:id="R28c6484755d84be0"/>
    <p:sldId xmlns:r="http://schemas.openxmlformats.org/officeDocument/2006/relationships" id="271" r:id="R67449b82e2df4f26"/>
    <p:sldId xmlns:r="http://schemas.openxmlformats.org/officeDocument/2006/relationships" id="272" r:id="Rc251204cdcbb4fb5"/>
    <p:sldId xmlns:r="http://schemas.openxmlformats.org/officeDocument/2006/relationships" id="273" r:id="R5db636b003e347dd"/>
    <p:sldId xmlns:r="http://schemas.openxmlformats.org/officeDocument/2006/relationships" id="274" r:id="R26c783b3f0ae498e"/>
    <p:sldId xmlns:r="http://schemas.openxmlformats.org/officeDocument/2006/relationships" id="275" r:id="R6321dfb1b08946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6e70963ff74982" /><Relationship Type="http://schemas.openxmlformats.org/officeDocument/2006/relationships/slideMaster" Target="/ppt/slideMasters/slideMaster1.xml" Id="Re3a70934c6a84615" /><Relationship Type="http://schemas.openxmlformats.org/officeDocument/2006/relationships/notesMaster" Target="/ppt/notesMasters/notesMaster1.xml" Id="R2c29024c6b3e436a" /><Relationship Type="http://schemas.openxmlformats.org/officeDocument/2006/relationships/presProps" Target="/ppt/presProps.xml" Id="Reef01c2183ce4914" /><Relationship Type="http://schemas.openxmlformats.org/officeDocument/2006/relationships/tableStyles" Target="/ppt/tableStyles.xml" Id="R72195594b7874755" /><Relationship Type="http://schemas.openxmlformats.org/officeDocument/2006/relationships/slide" Target="/ppt/slides/slide1.xml" Id="R7dc5cc69aeb54b16" /><Relationship Type="http://schemas.openxmlformats.org/officeDocument/2006/relationships/slide" Target="/ppt/slides/slide2.xml" Id="R41ddb3fec6d5429b" /><Relationship Type="http://schemas.openxmlformats.org/officeDocument/2006/relationships/slide" Target="/ppt/slides/slide3.xml" Id="R94d66605724a4632" /><Relationship Type="http://schemas.openxmlformats.org/officeDocument/2006/relationships/slide" Target="/ppt/slides/slide4.xml" Id="Rc6845492c6f94c5d" /><Relationship Type="http://schemas.openxmlformats.org/officeDocument/2006/relationships/slide" Target="/ppt/slides/slide5.xml" Id="R5c2c34eca1474150" /><Relationship Type="http://schemas.openxmlformats.org/officeDocument/2006/relationships/slide" Target="/ppt/slides/slide6.xml" Id="R868d0d1db0694263" /><Relationship Type="http://schemas.openxmlformats.org/officeDocument/2006/relationships/slide" Target="/ppt/slides/slide7.xml" Id="R605cdafcfdb54455" /><Relationship Type="http://schemas.openxmlformats.org/officeDocument/2006/relationships/slide" Target="/ppt/slides/slide8.xml" Id="R8dc58079be3b4901" /><Relationship Type="http://schemas.openxmlformats.org/officeDocument/2006/relationships/slide" Target="/ppt/slides/slide9.xml" Id="R099673d62bfd48ae" /><Relationship Type="http://schemas.openxmlformats.org/officeDocument/2006/relationships/slide" Target="/ppt/slides/slide10.xml" Id="R7fd82246219f4cdf" /><Relationship Type="http://schemas.openxmlformats.org/officeDocument/2006/relationships/slide" Target="/ppt/slides/slide11.xml" Id="R544217a89d934d3a" /><Relationship Type="http://schemas.openxmlformats.org/officeDocument/2006/relationships/slide" Target="/ppt/slides/slide12.xml" Id="R0da555ca3c354065" /><Relationship Type="http://schemas.openxmlformats.org/officeDocument/2006/relationships/slide" Target="/ppt/slides/slide13.xml" Id="Rc76a5d17ee744153" /><Relationship Type="http://schemas.openxmlformats.org/officeDocument/2006/relationships/slide" Target="/ppt/slides/slide14.xml" Id="R296ce2c3bf1547d6" /><Relationship Type="http://schemas.openxmlformats.org/officeDocument/2006/relationships/slide" Target="/ppt/slides/slide15.xml" Id="R28c6484755d84be0" /><Relationship Type="http://schemas.openxmlformats.org/officeDocument/2006/relationships/slide" Target="/ppt/slides/slide16.xml" Id="R67449b82e2df4f26" /><Relationship Type="http://schemas.openxmlformats.org/officeDocument/2006/relationships/slide" Target="/ppt/slides/slide17.xml" Id="Rc251204cdcbb4fb5" /><Relationship Type="http://schemas.openxmlformats.org/officeDocument/2006/relationships/slide" Target="/ppt/slides/slide18.xml" Id="R5db636b003e347dd" /><Relationship Type="http://schemas.openxmlformats.org/officeDocument/2006/relationships/slide" Target="/ppt/slides/slide19.xml" Id="R26c783b3f0ae498e" /><Relationship Type="http://schemas.openxmlformats.org/officeDocument/2006/relationships/slide" Target="/ppt/slides/slide20.xml" Id="R6321dfb1b08946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f2002551cf4d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b144761c824c1b" /><Relationship Type="http://schemas.openxmlformats.org/officeDocument/2006/relationships/notesMaster" Target="/ppt/notesMasters/notesMaster1.xml" Id="R42a6f605f66447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abb6c583984732" /><Relationship Type="http://schemas.openxmlformats.org/officeDocument/2006/relationships/notesMaster" Target="/ppt/notesMasters/notesMaster1.xml" Id="R046906baf7b141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cfc0d0cf344ca8" /><Relationship Type="http://schemas.openxmlformats.org/officeDocument/2006/relationships/notesMaster" Target="/ppt/notesMasters/notesMaster1.xml" Id="R2bc90cb3ecb841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0f493174614680" /><Relationship Type="http://schemas.openxmlformats.org/officeDocument/2006/relationships/notesMaster" Target="/ppt/notesMasters/notesMaster1.xml" Id="R3f881c49dcb548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0c0c536047402d" /><Relationship Type="http://schemas.openxmlformats.org/officeDocument/2006/relationships/notesMaster" Target="/ppt/notesMasters/notesMaster1.xml" Id="R17039100eab84c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aaf10b03364dc7" /><Relationship Type="http://schemas.openxmlformats.org/officeDocument/2006/relationships/notesMaster" Target="/ppt/notesMasters/notesMaster1.xml" Id="Ra5f3c20c629746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eb618fdd3f4318" /><Relationship Type="http://schemas.openxmlformats.org/officeDocument/2006/relationships/notesMaster" Target="/ppt/notesMasters/notesMaster1.xml" Id="R5a266b096aad4c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02ad195199461d" /><Relationship Type="http://schemas.openxmlformats.org/officeDocument/2006/relationships/notesMaster" Target="/ppt/notesMasters/notesMaster1.xml" Id="R8de8fa50f67549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e9d68df3c34b2f" /><Relationship Type="http://schemas.openxmlformats.org/officeDocument/2006/relationships/notesMaster" Target="/ppt/notesMasters/notesMaster1.xml" Id="Re216e1e977a54b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5a188fd21a4d8f" /><Relationship Type="http://schemas.openxmlformats.org/officeDocument/2006/relationships/notesMaster" Target="/ppt/notesMasters/notesMaster1.xml" Id="R736a4d4d52a340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0fb3f7a7c94249" /><Relationship Type="http://schemas.openxmlformats.org/officeDocument/2006/relationships/notesMaster" Target="/ppt/notesMasters/notesMaster1.xml" Id="R6646ecb769104b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ae6e13e6c8426a" /><Relationship Type="http://schemas.openxmlformats.org/officeDocument/2006/relationships/notesMaster" Target="/ppt/notesMasters/notesMaster1.xml" Id="R68ba6cc45b874a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62c206f71949b8" /><Relationship Type="http://schemas.openxmlformats.org/officeDocument/2006/relationships/notesMaster" Target="/ppt/notesMasters/notesMaster1.xml" Id="Rac18a53c07a84b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9647667bea24947" /><Relationship Type="http://schemas.openxmlformats.org/officeDocument/2006/relationships/notesMaster" Target="/ppt/notesMasters/notesMaster1.xml" Id="Rbc71053c44aa45c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afe555d8384854" /><Relationship Type="http://schemas.openxmlformats.org/officeDocument/2006/relationships/notesMaster" Target="/ppt/notesMasters/notesMaster1.xml" Id="Rde2cfe0150254ee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04ccaf875404811" /><Relationship Type="http://schemas.openxmlformats.org/officeDocument/2006/relationships/notesMaster" Target="/ppt/notesMasters/notesMaster1.xml" Id="Rd912437815c442e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71e8828da884e32" /><Relationship Type="http://schemas.openxmlformats.org/officeDocument/2006/relationships/notesMaster" Target="/ppt/notesMasters/notesMaster1.xml" Id="Re1c401069d7d4ba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e1723fa782842c3" /><Relationship Type="http://schemas.openxmlformats.org/officeDocument/2006/relationships/notesMaster" Target="/ppt/notesMasters/notesMaster1.xml" Id="Rd8d6d7ea641646c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73ec8105a914408" /><Relationship Type="http://schemas.openxmlformats.org/officeDocument/2006/relationships/notesMaster" Target="/ppt/notesMasters/notesMaster1.xml" Id="Rba3b5d1318a9430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d36b3dd8cd24bc3" /><Relationship Type="http://schemas.openxmlformats.org/officeDocument/2006/relationships/notesMaster" Target="/ppt/notesMasters/notesMaster1.xml" Id="Rc27f95e9364046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paper and its objective: an end-to-end GPU-native IVF-RaBitQ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/Users/akahmad/Library/CloudStorage/OneDrive-IndianaUniversity(2)/Vector DB/papers/RabitQ-GPU.pdf, paper page(s)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design problem as a four-way systems trade-off.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/Users/akahmad/Library/CloudStorage/OneDrive-IndianaUniversity(2)/Vector DB/papers/RabitQ-GPU.pdf, paper page(s)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graph-based and IVF-based baselines, then state the paper's central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/Users/akahmad/Library/CloudStorage/OneDrive-IndianaUniversity(2)/Vector DB/papers/RabitQ-GPU.pdf, paper page(s) 1,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four contributions that structure the remainder of the 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/Users/akahmad/Library/CloudStorage/OneDrive-IndianaUniversity(2)/Vector DB/papers/RabitQ-GPU.pdf, paper page(s)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division of labor between IVF partitioning and RaBitQ quantization.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/Users/akahmad/Library/CloudStorage/OneDrive-IndianaUniversity(2)/Vector DB/papers/RabitQ-GPU.pdf, paper page(s) 2,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centering, normalization, orthogonal rotation, and nearest-direction coding.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/Users/akahmad/Library/CloudStorage/OneDrive-IndianaUniversity(2)/Vector DB/papers/RabitQ-GPU.pdf, paper page(s)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clear why GPU-native design is necessary rather than a straightforward CUDA 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/Users/akahmad/Library/CloudStorage/OneDrive-IndianaUniversity(2)/Vector DB/papers/RabitQ-GPU.pdf, paper page(s)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cluster-at-a-time launch granularity and block-per-vector thread mapping.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/Users/akahmad/Library/CloudStorage/OneDrive-IndianaUniversity(2)/Vector DB/papers/RabitQ-GPU.pdf, paper page(s) 2, 4,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Algorithm 1 line-by-line and clarify that it is inspired by, but does not literally execute, ternary search.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/Users/akahmad/Library/CloudStorage/OneDrive-IndianaUniversity(2)/Vector DB/papers/RabitQ-GPU.pdf, paper page(s) 5,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Follow a batch from rotation through cluster selection, pair scheduling, local search, and final merge.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/Users/akahmad/Library/CloudStorage/OneDrive-IndianaUniversity(2)/Vector DB/papers/RabitQ-GPU.pdf, paper page(s) 4, 5,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short-code filtering and ex-code refinement, emphasizing avoided memory traffic.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/Users/akahmad/Library/CloudStorage/OneDrive-IndianaUniversity(2)/Vector DB/papers/RabitQ-GPU.pdf, paper page(s) 4,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memory-centric LUT method with the compute-centric bitwise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/Users/akahmad/Library/CloudStorage/OneDrive-IndianaUniversity(2)/Vector DB/papers/RabitQ-GPU.pdf, paper page(s) 6,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Figure 1 to show bit-plane decomposition, AND operations, popcount, and weighted accumulation.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/Users/akahmad/Library/CloudStorage/OneDrive-IndianaUniversity(2)/Vector DB/papers/RabitQ-GPU.pdf, paper page(s)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four separate kernels with the paper's fused cluster-local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/Users/akahmad/Library/CloudStorage/OneDrive-IndianaUniversity(2)/Vector DB/papers/RabitQ-GPU.pdf, paper page(s) 7,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separate arrays for short codes, factors, long codes, and IDs, then the interleaved short-code layout.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/Users/akahmad/Library/CloudStorage/OneDrive-IndianaUniversity(2)/Vector DB/papers/RabitQ-GPU.pdf, paper page(s)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Summarize platform, datasets, baselines, batch size, and default RaBitQ settings.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/Users/akahmad/Library/CloudStorage/OneDrive-IndianaUniversity(2)/Vector DB/papers/RabitQ-GPU.pdf, paper page(s)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Figure 3 from the high-recall region and compare against CAGRA and both IVF-PQ modes.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/Users/akahmad/Library/CloudStorage/OneDrive-IndianaUniversity(2)/Vector DB/papers/RabitQ-GPU.pdf, paper page(s)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Figures 4 and 5 to connect algorithmic simplicity to build time and raw-vector avoidance to storage.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/Users/akahmad/Library/CloudStorage/OneDrive-IndianaUniversity(2)/Vector DB/papers/RabitQ-GPU.pdf, paper page(s)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 the bit-width control knob, then show that the GPU version matches CPU recall while greatly increasing QPS.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/Users/akahmad/Library/CloudStorage/OneDrive-IndianaUniversity(2)/Vector DB/papers/RabitQ-GPU.pdf, paper page(s) 11,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three design lessons, then state the evaluation scope and open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/Users/akahmad/Library/CloudStorage/OneDrive-IndianaUniversity(2)/Vector DB/papers/RabitQ-GPU.pdf, paper page(s) 2,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46ddcab2f249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45e9767ba5497b" /><Relationship Type="http://schemas.openxmlformats.org/officeDocument/2006/relationships/slideLayout" Target="/ppt/slideLayouts/slideLayout1.xml" Id="Rce04aaedf7f142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04aaedf7f142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2fa64a3574712" /><Relationship Type="http://schemas.openxmlformats.org/officeDocument/2006/relationships/notesSlide" Target="/ppt/notesSlides/notesSlide1.xml" Id="Rcbe09e02000246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a05daebda489c" /><Relationship Type="http://schemas.openxmlformats.org/officeDocument/2006/relationships/notesSlide" Target="/ppt/notesSlides/notesSlide2.xml" Id="Rc83d33e13e4c41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b347668704c4a" /><Relationship Type="http://schemas.openxmlformats.org/officeDocument/2006/relationships/notesSlide" Target="/ppt/notesSlides/notesSlide3.xml" Id="Rb8d292cd89b044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a0c078ddc4ca7" /><Relationship Type="http://schemas.openxmlformats.org/officeDocument/2006/relationships/notesSlide" Target="/ppt/notesSlides/notesSlide4.xml" Id="R3ea45f133db545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6357156fd4375" /><Relationship Type="http://schemas.openxmlformats.org/officeDocument/2006/relationships/notesSlide" Target="/ppt/notesSlides/notesSlide5.xml" Id="R25a95344532542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36e60a9564082" /><Relationship Type="http://schemas.openxmlformats.org/officeDocument/2006/relationships/notesSlide" Target="/ppt/notesSlides/notesSlide6.xml" Id="R5134d673fc3a49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c9701405b4890" /><Relationship Type="http://schemas.openxmlformats.org/officeDocument/2006/relationships/notesSlide" Target="/ppt/notesSlides/notesSlide7.xml" Id="Re17e4ef6b6104e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836eb4cff49a1" /><Relationship Type="http://schemas.openxmlformats.org/officeDocument/2006/relationships/notesSlide" Target="/ppt/notesSlides/notesSlide8.xml" Id="Ra7a50801886f4c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7c305a3d442bc" /><Relationship Type="http://schemas.openxmlformats.org/officeDocument/2006/relationships/notesSlide" Target="/ppt/notesSlides/notesSlide9.xml" Id="R93c903dde5784e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6d9eab2bc4585" /><Relationship Type="http://schemas.openxmlformats.org/officeDocument/2006/relationships/notesSlide" Target="/ppt/notesSlides/notesSlide10.xml" Id="R8fcae4320f8e4f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d9a2cb8be483f" /><Relationship Type="http://schemas.openxmlformats.org/officeDocument/2006/relationships/notesSlide" Target="/ppt/notesSlides/notesSlide11.xml" Id="R34e34875edb6497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b78e59ec943e1" /><Relationship Type="http://schemas.openxmlformats.org/officeDocument/2006/relationships/notesSlide" Target="/ppt/notesSlides/notesSlide12.xml" Id="R29d55e5aaede4d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005cc41cf412f" /><Relationship Type="http://schemas.openxmlformats.org/officeDocument/2006/relationships/image" Target="/ppt/media/image.png" Id="R7d39094c97944d86" /><Relationship Type="http://schemas.openxmlformats.org/officeDocument/2006/relationships/notesSlide" Target="/ppt/notesSlides/notesSlide13.xml" Id="Rbf7499fa122b466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a28316bd34bb8" /><Relationship Type="http://schemas.openxmlformats.org/officeDocument/2006/relationships/notesSlide" Target="/ppt/notesSlides/notesSlide14.xml" Id="Ra11023b9d2e2439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9ecbe2e584d84" /><Relationship Type="http://schemas.openxmlformats.org/officeDocument/2006/relationships/image" Target="/ppt/media/image2.png" Id="R43ce5a599ef547c0" /><Relationship Type="http://schemas.openxmlformats.org/officeDocument/2006/relationships/notesSlide" Target="/ppt/notesSlides/notesSlide15.xml" Id="R5a2eac748dd34c5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c6606de62435e" /><Relationship Type="http://schemas.openxmlformats.org/officeDocument/2006/relationships/image" Target="/ppt/media/image3.png" Id="Red0707c8897943e9" /><Relationship Type="http://schemas.openxmlformats.org/officeDocument/2006/relationships/notesSlide" Target="/ppt/notesSlides/notesSlide16.xml" Id="R62fd1766462e4e9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a87b02c644c6a" /><Relationship Type="http://schemas.openxmlformats.org/officeDocument/2006/relationships/image" Target="/ppt/media/image4.png" Id="R5462f54698d94a46" /><Relationship Type="http://schemas.openxmlformats.org/officeDocument/2006/relationships/notesSlide" Target="/ppt/notesSlides/notesSlide17.xml" Id="R4111b47c331e45f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e7abb23834198" /><Relationship Type="http://schemas.openxmlformats.org/officeDocument/2006/relationships/image" Target="/ppt/media/image5.png" Id="Rc93d5742417f4e55" /><Relationship Type="http://schemas.openxmlformats.org/officeDocument/2006/relationships/image" Target="/ppt/media/image6.png" Id="R5c67fbd240cd4096" /><Relationship Type="http://schemas.openxmlformats.org/officeDocument/2006/relationships/notesSlide" Target="/ppt/notesSlides/notesSlide18.xml" Id="Re7252c3839bc456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349c0584a40db" /><Relationship Type="http://schemas.openxmlformats.org/officeDocument/2006/relationships/image" Target="/ppt/media/image7.png" Id="Rdba28025ce244fca" /><Relationship Type="http://schemas.openxmlformats.org/officeDocument/2006/relationships/image" Target="/ppt/media/image8.png" Id="R0786adb6f5ad4a65" /><Relationship Type="http://schemas.openxmlformats.org/officeDocument/2006/relationships/notesSlide" Target="/ppt/notesSlides/notesSlide19.xml" Id="Rf79f08cf5e08485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ef3cf88374a30" /><Relationship Type="http://schemas.openxmlformats.org/officeDocument/2006/relationships/notesSlide" Target="/ppt/notesSlides/notesSlide20.xml" Id="R6fbb204c847246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6E660-E4A7-4C05-A022-24C20656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AKHLAQUE AHMAD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96046-FB1F-416D-BE65-96FF81B2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2900"/>
            <a:ext cx="3886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PAPER PRESENTATION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4F662-4530-4125-A086-9A927271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GPU-Native Approximate</a:t>
            </a:r>
          </a:p>
          <a:p xmlns:a="http://schemas.openxmlformats.org/drawingml/2006/main">
            <a:pPr algn="l">
              <a:defRPr sz="55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Nearest Neighbor Search</a:t>
            </a:r>
          </a:p>
          <a:p xmlns:a="http://schemas.openxmlformats.org/drawingml/2006/main">
            <a:pPr algn="l">
              <a:defRPr sz="55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with IVF-RaBitQ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0BF5A-77CE-4ECA-9F9B-E1088723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B8E59-CE7C-4D31-8478-BFBCF16D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Jifan Shi · Jianyang Gao · James Xia · Tamás Béla Fehér · Cheng Long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D8193-E01F-4ABA-9441-BEFAE6FF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191250"/>
            <a:ext cx="1933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arXiv:2602.23999</a:t>
            </a:r>
          </a:p>
        </p:txBody>
      </p:sp>
    </p:spTree>
    <p:extLst>
      <p:ext uri="{BB962C8B-B14F-4D97-AF65-F5344CB8AC3E}">
        <p14:creationId xmlns:p14="http://schemas.microsoft.com/office/powerpoint/2010/main" val="926122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14D891-A9C0-405F-A7A0-A4F5F91C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MOTIVATION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977D5127-A2A1-4141-8611-6E0DF5F4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GPU ANNS must optimize four objectives at once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62803-94B9-4EC0-9ED6-A98A166F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972D1-A70A-4FBB-9728-CAC6A96A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BF98D-1FE7-496C-8917-168E3DBF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723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831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Modern semantic search, RAG, and recommendation operate over massive, high-dimensional embeddings. A useful GPU index must do more than answer queries quickly.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43B4A-C28B-48B2-9C7F-9BB42C39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5334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3AAA8-1F1D-48AA-B306-CDFA04DD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High 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3FD0A-95A0-4A44-808F-5A501706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Preserve true neighbors at demanding accuracy targets.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D412FF-9B9B-479D-ABB6-9E989ED7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24150"/>
            <a:ext cx="5334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354B9-DBF3-47C9-BE16-3F89250F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High QPS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1C63A-45D1-436E-A08D-BD9CAC40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147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Exploit batching, memory bandwidth, and massive parallelism.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DA6A9-61F5-42EC-B167-67FA6500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5334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CD5FD4-3239-4EAE-A858-239B1F56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Fast build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CA733-731C-46ED-831E-C79039C1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Avoid expensive graph construction or trained codebooks.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A0FFA-A8CB-43D3-95D1-6492816A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81500"/>
            <a:ext cx="5334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74C9F9-3D98-4628-991B-CA7E97E5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52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Compact index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F3650B-87C0-4820-B601-714D238C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720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Keep vectors GPU-resident without raw-vector reranking.</a:t>
            </a:r>
          </a:p>
        </p:txBody>
      </p:sp>
    </p:spTree>
    <p:extLst>
      <p:ext uri="{BB962C8B-B14F-4D97-AF65-F5344CB8AC3E}">
        <p14:creationId xmlns:p14="http://schemas.microsoft.com/office/powerpoint/2010/main" val="1588941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988F4E-E48F-43E8-992E-D11520BC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PROBLEM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808908AF-CB5E-45A9-8A60-55B62C53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01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Existing GPU indexes occupy different trade-off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0ABB6-D7C8-476C-9A27-2E6D704F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4E5C4-D757-429B-8F8E-A2408B25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8AE26-D077-4D83-B816-EAD4752A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542925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89B9B-B945-4924-AFCE-EC03F420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04950"/>
            <a:ext cx="581025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599B2-47FF-43F2-BC6A-6B807A4C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Graph-based indexes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7170A-41EE-4913-9996-97A698DF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CAGRA and related methods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0A981-561A-4132-AD29-DBD698CF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4667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• Strong recall-throughput frontier</a:t>
            </a:r>
          </a:p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• Irregular traversal and memory access</a:t>
            </a:r>
          </a:p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• Heavy graph construction</a:t>
            </a:r>
          </a:p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• Raw or lightly compressed storage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31F360-7FFF-48B7-B497-DB597048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Cluster-based indexes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3D853-A6F1-4785-AC82-419D3451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241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IVF-Flat and IVF-PQ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E6A696-BD62-4988-B47A-0A5C3FF4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9560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• Regular, GPU-friendly probing</a:t>
            </a:r>
          </a:p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• Fast and simple construction</a:t>
            </a:r>
          </a:p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• IVF-Flat is bandwidth-heavy</a:t>
            </a:r>
          </a:p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• IVF-PQ often reranks raw vectors for high recall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DDE149-16C1-422E-87BB-BB3618CA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86450"/>
            <a:ext cx="1055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6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paper asks whether a cluster-based index can reach graph-like recall and throughput without graph-like build and storage costs.</a:t>
            </a:r>
          </a:p>
        </p:txBody>
      </p:sp>
    </p:spTree>
    <p:extLst>
      <p:ext uri="{BB962C8B-B14F-4D97-AF65-F5344CB8AC3E}">
        <p14:creationId xmlns:p14="http://schemas.microsoft.com/office/powerpoint/2010/main" val="9122325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563D64-2F2C-45CD-9B24-C03A2557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CONTRIBUTIONS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BE4A1536-500B-4F6F-8246-10524EB1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contribution is an end-to-end GPU co-design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A7D42-3F95-4824-89C0-C9F208DE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59E77-2964-4EC5-B50C-6868674D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86E3F-9091-4693-B2B6-9AD367DA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 · Quantization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F0E13-5818-4C31-9CE1-28667E17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80C70-0C5B-41C5-9BBC-E79AE57D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514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Cluster-at-a-time, block-per-vector encoding plus a two-phase parallel grid search.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F0797-802D-4AC8-A41A-9DC154EA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811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 · Distance kernels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6D62C-B119-4A2C-8423-650A6242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383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0B571-7D2C-4FB8-AF8C-0BCC311C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9800"/>
            <a:ext cx="514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LUT and bitwise inner-product schemes for the dominant 1-bit filtering stage.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206E2-B0CA-46E0-9DC6-A8D44232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 · Fused 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6E7F1-0616-4F1E-99FA-BC4556F0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36E845-EC4C-4EED-A1A5-FF4CF0F7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514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Filtering, refinement, and top-K selection execute inside one cluster-local kernel.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AF18EE-22BB-4FD9-A0AF-8AF115D5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719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04 · Data layout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E116A-C973-4845-A9B1-1CB1BFFF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2910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11CB7A-5C3C-4D25-ACDC-5FF952D4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00550"/>
            <a:ext cx="514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CSR-like inverted lists and interleaved short codes align storage with warp access.</a:t>
            </a:r>
          </a:p>
        </p:txBody>
      </p:sp>
    </p:spTree>
    <p:extLst>
      <p:ext uri="{BB962C8B-B14F-4D97-AF65-F5344CB8AC3E}">
        <p14:creationId xmlns:p14="http://schemas.microsoft.com/office/powerpoint/2010/main" val="13155942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D7B2F6-E424-442C-8A0E-CDB669D6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METHOD PRIMER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5FD0DE68-39C6-4AF9-B743-604B4E47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686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IVF narrows the search; RaBitQ compresses each candidate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11463-70CA-42C1-82CB-ED0A8FEC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31D6A-D392-4C68-B335-FA2DC285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FAEC0B-D689-40AF-92F0-DCE86EA4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00375"/>
            <a:ext cx="666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92181-6370-48AE-8B9E-8D5785EB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00375"/>
            <a:ext cx="666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B0D80-BC05-46E3-9D76-9B811323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00375"/>
            <a:ext cx="666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663B9-E27C-47A7-8841-A43E88E1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60557-F4EA-459D-A543-DFDED3C4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Raw vectors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86584A-BEDD-40BD-91B4-8C693C86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1847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N vectors in D dimensions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4419EB-E891-4975-BA96-6EA40DD1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00300"/>
            <a:ext cx="2324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25823-0320-468B-A85C-7A3D8E1E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527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IVF clustering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E6BBF-E252-45DB-897E-27394097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52750"/>
            <a:ext cx="1981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57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Assign each vector to its nearest centroid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D3056-480A-45D1-A6B7-36A9C9F5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00300"/>
            <a:ext cx="2324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9F28B-6178-469F-8084-AD82CE5B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527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RaBitQ codes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2078B-605C-410E-ABB4-B3820580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52750"/>
            <a:ext cx="1981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61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Normalize residuals, rotate, and encode B bits per dimension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F14C79-90B5-4D92-8AD3-6F110558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0030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0516FD-4BCD-4F12-8943-CACFDA86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527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Probe and rank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CEEF7B-B294-4D7B-B4B3-730FCEDC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52750"/>
            <a:ext cx="2324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61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Visit nearby lists and estimate distances from codes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9FB107-C85E-4896-8A1B-3A46DDC6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Index build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C88EDC-7E31-4D30-8DE7-92EB2A06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52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Query time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9CC0D3-2252-40B8-A6A0-C4C7F900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9105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IVF controls how many vectors are examined. RaBitQ controls the bytes moved and the cost of scoring each examined vector.</a:t>
            </a:r>
          </a:p>
        </p:txBody>
      </p:sp>
    </p:spTree>
    <p:extLst>
      <p:ext uri="{BB962C8B-B14F-4D97-AF65-F5344CB8AC3E}">
        <p14:creationId xmlns:p14="http://schemas.microsoft.com/office/powerpoint/2010/main" val="14163556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00E03F-677A-4E1B-B8D9-C2597E7C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RABITQ BACKGROUND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45A0DE54-D520-4D15-B435-46510EA7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RaBitQ encodes direction on a rotated integer grid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8C85E-72A4-4DA5-A923-6913B927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2F867-A968-4E05-8BFE-A24B603A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44282-71F2-49D8-B13F-E7B28D53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91125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EC234-6E15-4849-81CF-CDAD425C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· Center and normalize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33634-EAD4-4843-90AB-A398EF85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3D8DFF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3D8DFF"/>
                </a:solidFill>
                <a:latin typeface="Cambria Math"/>
                <a:ea typeface="Cambria Math"/>
                <a:cs typeface="Cambria Math"/>
              </a:rPr>
              <a:t>o = (oᵣ − c) / ‖oᵣ − c‖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A66656-DBF5-47EC-9371-35195B82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· Rotate into a shared orthogonal basis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0C166-129E-4A72-A027-8AA909EE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3D8DFF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3D8DFF"/>
                </a:solidFill>
                <a:latin typeface="Cambria Math"/>
                <a:ea typeface="Cambria Math"/>
                <a:cs typeface="Cambria Math"/>
              </a:rPr>
              <a:t>o′ = P⁻¹o     and     PᵀP = 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438EE-DB26-4832-8EF7-1D8F8643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· Store the closest integer direction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0AF24-9E8E-452B-AFE5-1EE70E31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3D8DFF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3D8DFF"/>
                </a:solidFill>
                <a:latin typeface="Cambria Math"/>
                <a:ea typeface="Cambria Math"/>
                <a:cs typeface="Cambria Math"/>
              </a:rPr>
              <a:t>x̂ = arg max ⟨x / ‖x‖, o′⟩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BA6C39-A8E5-4868-9F43-682B544E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145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Why this helps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A4EC70-8442-472A-A6CD-5173B8AC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43150"/>
            <a:ext cx="51911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• No learned quantization codebook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• Distances and dot products are estimated from compact integer codes plus small factors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• Orthogonal rotation preserves geometry while spreading coordinates across the grid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• Bit width B directly controls the storage-accuracy trade-off</a:t>
            </a:r>
          </a:p>
        </p:txBody>
      </p:sp>
    </p:spTree>
    <p:extLst>
      <p:ext uri="{BB962C8B-B14F-4D97-AF65-F5344CB8AC3E}">
        <p14:creationId xmlns:p14="http://schemas.microsoft.com/office/powerpoint/2010/main" val="9213566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EB22B8-A7E4-44B9-9798-59A5E2D6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DESIGN CHALLENGE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29AF33C4-0CA4-4D0E-B228-F24F4B5F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61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direct RaBitQ port fights the GPU execution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A64DE-0A3A-46E8-A1A9-4FCB72B8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1C30A-C289-435C-9966-3F917CB1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61925-861A-46B7-B7BE-05B45D09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CA93A-4D23-456D-B1EC-88AE95B3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621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Sequential factor 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3325F-F7D5-4638-ABB0-BF3A4C9C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62100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CPU enumerates D·2ᴮ⁻¹ critical scales with per-vector state and a priority queue.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ECF86-52CD-428F-9BDD-FE4118E7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33A65-7157-4F57-ABDF-C002A825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9D367-E045-4947-8938-051B74A2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70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Irregular control 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E7E87F-9081-41A8-B0E9-8AD53BC0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0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Fine-grained state updates and branches create warp divergence.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54FFB-12F8-4013-82A1-8B300097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6710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68F611-5D84-4E0D-9822-F8D33DDE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D2000-A3BC-49F6-995B-9AA30DB7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719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direct SIMD equivalent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8CFDAE-EC59-47DB-A455-C8425E2F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71900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CPU packed/shuffle and bit-scan routines do not map directly to SIMT execution.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51BE75-67C4-4A1F-AB18-83DD0662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7200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D089CB-2C78-4531-B7D4-793CD637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39B780-4373-466D-977C-2EF9CEDE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Pipeline overhead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EC06B5-A588-4A6E-BE3F-100A6337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76800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Separate filtering, refinement, and top-K kernels repeatedly touch global memory.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AA76FA-C2E2-4C82-B16F-F787DEDA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7690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02441A-5870-43C4-8833-8C28C866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007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487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solution changes both the algorithm and the storage layout—not just the programming language.</a:t>
            </a:r>
          </a:p>
        </p:txBody>
      </p:sp>
    </p:spTree>
    <p:extLst>
      <p:ext uri="{BB962C8B-B14F-4D97-AF65-F5344CB8AC3E}">
        <p14:creationId xmlns:p14="http://schemas.microsoft.com/office/powerpoint/2010/main" val="10960172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5D7539-B929-4250-AE7A-B2A34BB4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GPU INDEX BUILD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629F83B0-0C41-40A5-90AF-682B53D0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Index construction exposes intra-vector parallelism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F08AC-7185-4AD0-8EC7-2DD41D33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9BEF5-09C1-4660-9AAC-5CE1ECD2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79955-D28B-4BAF-A4FE-7F9DDE6B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81300"/>
            <a:ext cx="609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2D9B7-EAD0-4EFA-BC0D-FF1858E7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81300"/>
            <a:ext cx="609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DEF3E-FA71-4B8B-86D7-96F27034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81300"/>
            <a:ext cx="609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47905-49DF-47D8-BAAF-B983F08B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23241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B1441-FACA-40B2-97CA-71BBAF41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Balanced K-means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101E1-C9B1-4E4D-85F0-75711A07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1981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Learn centroids and assign vectors to IVF lists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956B3B-31F3-4F29-95C7-B8854E81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33600"/>
            <a:ext cx="24193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10CB72-585C-44F5-8266-1818AAD5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860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Normalize + rotate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C1353-64BD-4442-968F-D12C60FC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86050"/>
            <a:ext cx="2076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82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Process residuals by cluster; use GEMM for the shared orthogonal transform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8C8C3-9D8C-4BC1-B31B-4B51ED97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4193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098FD9-1D74-4B30-A930-D5897BA8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860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Block per vector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0B2BE6-97BE-41D8-BFBA-5BCB7C8E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86050"/>
            <a:ext cx="2076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82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Threads cooperate across dimensions and candidate scaling factors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BD0213-F7C3-4F9F-8005-F751E405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33600"/>
            <a:ext cx="24574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B6A525-24AD-4CB8-97EB-4B516DE1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Pack the index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D05599-5990-4D9F-9617-68A35C47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86050"/>
            <a:ext cx="2114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Separate 1-bit codes, ex-codes, factors, and vector IDs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86E02E-553D-4015-8152-DE1EE66A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89655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&gt;1M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37F22C-F4C0-4D83-B01B-9BF50239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960-D vectors quantized per second to 8-bit codes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E344C2-7BBB-4635-B25B-C6918588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67250"/>
            <a:ext cx="714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Cluster-at-a-time launches bound temporary storage. Block-per-vector mapping enables intra-vector parallelism and coalesced reads.</a:t>
            </a:r>
          </a:p>
        </p:txBody>
      </p:sp>
    </p:spTree>
    <p:extLst>
      <p:ext uri="{BB962C8B-B14F-4D97-AF65-F5344CB8AC3E}">
        <p14:creationId xmlns:p14="http://schemas.microsoft.com/office/powerpoint/2010/main" val="16433789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E414B9-6A6C-4338-B28D-C926EC42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TWO-PHASE RESCALING SEARCH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5CE94350-0A18-4842-B538-74DC7062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Algorithm 1 uses two GPU-parallel grids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5CD62-2F08-4B44-9C29-09C4D3FA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C67E1-1204-46EC-B16F-C57F7F8E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A3749-729C-440D-BE6C-B78CC1D9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Objective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B1E16-86C7-422B-9DBF-F5059C3A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D8DFF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3D8DFF"/>
                </a:solidFill>
                <a:latin typeface="Cambria Math"/>
                <a:ea typeface="Cambria Math"/>
                <a:cs typeface="Cambria Math"/>
              </a:rPr>
              <a:t>maximize  f(t) = ⟨x(t), o′⟩ / ‖x(t)‖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CFD91-2C7F-4891-AB1C-3AC9ECA6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685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A43DE-ED7F-4042-9BE3-67B1D59F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57550"/>
            <a:ext cx="685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B242B-5CEB-457E-8434-4A98FA53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2743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4718D-E3FB-4A19-9268-BBC7DDEA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· Search range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6E1E1-D36E-4621-BD77-9C82BD3F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95650"/>
            <a:ext cx="2400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Use maxᵢ|o′ᵢ| and B to initialize [tstart, tend].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F1276-0E89-4A10-855C-E5BC98FE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4320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8418C7-DB6D-4061-B1F9-EB51871D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956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· Coarse grid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CD383-6F98-451C-9538-F299F88A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95650"/>
            <a:ext cx="2705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61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Evaluate Ncoarse uniformly spaced t values in parallel; reduce to tcenter.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A12DA4-FD91-4C7F-847D-AFDF6530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43200"/>
            <a:ext cx="4267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EFE96B-4ED8-46C9-BE1A-E369B952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95600"/>
            <a:ext cx="392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· Fine grid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69C710-B7B9-46ED-9E85-AE64E0E1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95650"/>
            <a:ext cx="3924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Search [tcenter−δ, tcenter+δ] with Nfine parallel samples.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F65C78-0CFD-4A78-869F-2AD57EC9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106299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Classical ternary search repeatedly shrinks a unimodal interval. Algorithm 1 keeps that coarse-to-fine idea but uses two fixed GPU-parallel rounds—64 coarse and 32 fine samples in the experiments.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F14CD2-8705-4A82-80EF-DDCC4998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0550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O(1) rounds means fixed synchronization depth; each sample still rounds and scores D coordinates.</a:t>
            </a:r>
          </a:p>
        </p:txBody>
      </p:sp>
    </p:spTree>
    <p:extLst>
      <p:ext uri="{BB962C8B-B14F-4D97-AF65-F5344CB8AC3E}">
        <p14:creationId xmlns:p14="http://schemas.microsoft.com/office/powerpoint/2010/main" val="8129800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70FBEF-8C62-4C17-9D3B-7595364B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SEARCH PIPELINE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A2A12A93-BEE1-48E9-A08E-C0785C0D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Queries become independent work units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F117D-F2D5-4343-9040-63F105E1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AE835-1B49-4C92-9235-4A51680A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1BD71-3C5D-4368-BFD0-D9C24B64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33700"/>
            <a:ext cx="5334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9AE46-8AD2-46F4-99BC-002BC264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33700"/>
            <a:ext cx="5334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0CA65-2B15-44E1-B62A-85B0EBCB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33700"/>
            <a:ext cx="5334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C79DFB-A5F4-4E2F-8626-8614FC04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33700"/>
            <a:ext cx="5334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722AB-4E97-40B9-BAF9-6916DD8D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1962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98B17-B186-4BB1-9896-13886CEA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55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Batch rotation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DABE79-16F9-42C4-91F1-BF98C102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One GEMM produces Q′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AEC7D-3F42-4BEE-A93F-E1E85926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43150"/>
            <a:ext cx="1962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A2D6C-3D0E-4EDD-A3FD-D6DB58F8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955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862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Cluster selection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48B01A-B7E4-4170-9F6F-3571EA81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95600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Top-nprobe centroids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D7317C-BF21-45A8-9B61-EA97D79A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43150"/>
            <a:ext cx="1962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8FC7FC-1326-485B-A98B-790D6B8C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955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Pair scheduling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3876D3-7332-445E-9DCA-82D6F7A3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95600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Sort (query, cluster) pairs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BCF062-4B4E-4D0F-882E-DEA2A3B0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43150"/>
            <a:ext cx="1962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F6878E-AF44-4391-BCB2-893C5B9A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955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294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Cluster-local 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F54F9A-DAFB-438D-8D19-950BEBB4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95600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Filter, refine, local top-K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DDC196-9634-47F8-98F7-7EB548F3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43150"/>
            <a:ext cx="1866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C2CA53-BA8F-439C-89BC-164E0C92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95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Batch merge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91348B-44F2-4DB9-AE5A-1DA2EF1A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956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Global top-K per query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42ABBF-D7EF-465C-97A9-DCE3107C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76750"/>
            <a:ext cx="937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908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Sorting pairs by cluster improves code reuse and lets blocks process probed lists independently.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FF03AC-731A-425D-9AF3-2AC20242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91150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dominant work happens inside cluster-local search, so the rest of the design is organized around that kernel.</a:t>
            </a:r>
          </a:p>
        </p:txBody>
      </p:sp>
    </p:spTree>
    <p:extLst>
      <p:ext uri="{BB962C8B-B14F-4D97-AF65-F5344CB8AC3E}">
        <p14:creationId xmlns:p14="http://schemas.microsoft.com/office/powerpoint/2010/main" val="19614764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A038A0-8ED1-4828-94EC-83BDBB4F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TWO-STAGE DISTANCE ESTIMATION</a:t>
            </a:r>
          </a:p>
        </p:txBody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E990CC8D-7EC8-45D2-9CD8-D1FA4B9F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Most vectors pay only for a 1-bit distance estimate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61C6C-3660-4799-BF90-6A97B1BC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D94D5-D0D8-4E0C-843B-DB140E4B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F61D8-2258-4F26-A6EF-A4725E0A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7048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F0892-CC71-4FF5-B112-41C1BDF6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All candidates in a probed 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724B2-FC78-465C-884C-B284B136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43815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6689E-00BE-42FA-9FA7-049F44C8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62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1-bit code filter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14CED-BB91-4B84-852F-83386881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86200"/>
            <a:ext cx="2000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C9A43"/>
          </a:solidFill>
          <a:ln xmlns:a="http://schemas.openxmlformats.org/drawingml/2006/main" w="0">
            <a:solidFill>
              <a:srgbClr val="5C9A4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0771CC-8335-443A-B2EA-AD2B9BE8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861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Only survivors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F36BB-6C08-4F88-A64E-3E298693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19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Refine with ex-code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581BC-5A1F-4005-94EC-98D0D2EF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3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34A4A"/>
                </a:solidFill>
                <a:latin typeface="Helvetica Neue"/>
                <a:ea typeface="Helvetica Neue"/>
                <a:cs typeface="Helvetica Neue"/>
              </a:rPr>
              <a:t>discard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A35868-6516-48F4-B742-89DEF741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short 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16AB2-9040-4605-9FFF-0AD092A7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95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long 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9F3F78-B5AF-4A13-9F36-68DC257E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1E6781-E0D4-40F1-BE1C-75925C27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33650"/>
            <a:ext cx="3333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836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• Filtering touches many vectors and dominates runtime.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• The ex-code is fetched only for promising candidates.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• High recall does not require loading raw vectors for reranking.</a:t>
            </a:r>
          </a:p>
        </p:txBody>
      </p:sp>
    </p:spTree>
    <p:extLst>
      <p:ext uri="{BB962C8B-B14F-4D97-AF65-F5344CB8AC3E}">
        <p14:creationId xmlns:p14="http://schemas.microsoft.com/office/powerpoint/2010/main" val="2620289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7E1601-311F-441B-ABAA-0248E7EA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KERNEL CO-DESIGN</a:t>
            </a:r>
          </a:p>
        </p:txBody>
      </p:sp>
      <p:sp>
        <p:nvSpPr>
          <p:cNvPr id="2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16664A6B-8604-4E3F-B782-0EDE7984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28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Two inner-product kernels target different GPU bottlenecks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F321E-AB93-4EF9-BFF4-87AC626E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4E6A0-336D-4B10-A389-09938995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C3F98-882A-4C74-8FA4-0EA51AEB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54292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D125D-7D48-44FD-B9B9-03E005E7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62100"/>
            <a:ext cx="58102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748DA-2302-435C-8D2C-DD6A8EB7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Lookup-table kernel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4CA83-292F-485D-908B-E55A7705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667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748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• Precompute query-dependent partial inner products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• Keep LUTs in shared memory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• Reuse tables across hundreds of threads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• Fast when shared-memory residency is sufficient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E4F17-2420-4991-BADD-7FB3C9BF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Bitwise decomposition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16D88-3E48-4826-8577-1505282B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33650"/>
            <a:ext cx="5048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• Quantize each query into signed integers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• Decompose the inner product by bit plane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• Use AND + POPCNT over 32 dimensions per 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• Much smaller shared-memory footprint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BCDEA-E92A-438C-9C52-B16B05BA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8170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91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At high dimensionality, LUT capacity can limit occupancy; the bitwise kernel remains lightweight.</a:t>
            </a:r>
          </a:p>
        </p:txBody>
      </p:sp>
    </p:spTree>
    <p:extLst>
      <p:ext uri="{BB962C8B-B14F-4D97-AF65-F5344CB8AC3E}">
        <p14:creationId xmlns:p14="http://schemas.microsoft.com/office/powerpoint/2010/main" val="6801944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D42112-C0AD-4BB6-8641-1EE1B120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BITWISE KERNEL</a:t>
            </a:r>
          </a:p>
        </p:txBody>
      </p:sp>
      <p:sp>
        <p:nvSpPr>
          <p:cNvPr id="2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43CA6655-CDCE-4F97-9F2A-0FF8942D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97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Bitwise decomposition turns dot products into popcounts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BF796-05F7-43A8-9D16-9D18D1E1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D8B77-61CE-4D88-8EBF-780B6A84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B1DEA-DC9C-4FB0-B53D-D935CFE2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9094c97944d86"/>
          <a:stretch xmlns:a="http://schemas.openxmlformats.org/drawingml/2006/main"/>
        </p:blipFill>
        <p:spPr>
          <a:xfrm xmlns:a="http://schemas.openxmlformats.org/drawingml/2006/main">
            <a:off x="1070142" y="1638300"/>
            <a:ext cx="10051716" cy="2781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C0720-1355-4501-B0DD-01C3076D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D4694-31F5-486A-A228-E8B060EB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0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32 code dimensions per machine word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79A28-FADB-4842-B61C-62A86BAB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9911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Decompose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5EC80D-E164-4FD0-86C2-67FD6D7B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530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0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One binary inner product per query bit plane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60AA2B-344D-4BC8-84E7-6447B510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911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Accumulate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A95E6C-E029-4E27-AE1B-607CAB42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530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0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Shift and add the weighted popcount results</a:t>
            </a:r>
          </a:p>
        </p:txBody>
      </p:sp>
    </p:spTree>
    <p:extLst>
      <p:ext uri="{BB962C8B-B14F-4D97-AF65-F5344CB8AC3E}">
        <p14:creationId xmlns:p14="http://schemas.microsoft.com/office/powerpoint/2010/main" val="17004931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B889B5-5A05-4413-8DFB-C94AE328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FUSED CLUSTER-LOCAL SEARCH</a:t>
            </a:r>
          </a:p>
        </p:txBody>
      </p:sp>
      <p:sp>
        <p:nvSpPr>
          <p:cNvPr id="2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54EBE301-C896-4126-8A48-79A57D45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fused kernel keeps intermediate state on chip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26589-2F8B-4052-B2AF-C1BA6001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3B091-CC83-4CFE-A7BD-7EA3A738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E274E-D725-4BD8-907B-63DB089D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3919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F117F-E948-458F-AB8D-56E23BDC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990850"/>
            <a:ext cx="514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81B5A-EAFE-4560-B9E9-7D332F78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90850"/>
            <a:ext cx="514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C2249-BF19-4078-AFEA-9851BAEA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90850"/>
            <a:ext cx="514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319175-CFF8-46DD-B425-75B7A621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1526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E87BF-0E3B-409C-B932-163F232B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1-bit estimate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BB4CF1-5E70-4329-927C-CD837820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Score every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01D7B7-BDC6-4273-9E77-03542432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2860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C099D6-7334-4775-9F2A-D3027C3C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Candidate filter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BB8DF5-A84D-48FA-ACD4-485B8550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14650"/>
            <a:ext cx="1943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Reject by lower bound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C910AE-F162-415F-B663-0319E182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62200"/>
            <a:ext cx="22860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C4521F-B2DD-4B20-8216-5BFBC07C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146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Ex-code refine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0D9524-38FB-4064-B15F-FBC98C47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1943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Improve only survivors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AFB7E3-3920-49C9-95AE-A67FDF36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62200"/>
            <a:ext cx="26098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8CC998-7393-4F6E-85D7-EFAAD235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146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In-block top-K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716537-27B4-4F22-AFE6-08CA971C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14650"/>
            <a:ext cx="2266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Emit local candidates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E8B29E-7818-449A-88E6-0C54A872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3624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Shared memory + registers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03213B-D44E-4F5B-AC6E-0F84EA13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91150"/>
            <a:ext cx="941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Fusion removes sequential kernel launches, intermediate global-memory writes, and synchronization between stages.</a:t>
            </a:r>
          </a:p>
        </p:txBody>
      </p:sp>
    </p:spTree>
    <p:extLst>
      <p:ext uri="{BB962C8B-B14F-4D97-AF65-F5344CB8AC3E}">
        <p14:creationId xmlns:p14="http://schemas.microsoft.com/office/powerpoint/2010/main" val="20738627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83027-BEA3-412A-B3B8-BBDEFBC9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GPU INDEX LAYOUT</a:t>
            </a:r>
          </a:p>
        </p:txBody>
      </p:sp>
      <p:sp>
        <p:nvSpPr>
          <p:cNvPr id="2" name="slide-15-title">
            <a:extLst xmlns:a="http://schemas.openxmlformats.org/drawingml/2006/main">
              <a:ext uri="{FF2B5EF4-FFF2-40B4-BE49-F238E27FC236}">
                <a16:creationId xmlns:a16="http://schemas.microsoft.com/office/drawing/2014/main" id="{109CB16F-11A1-447A-930B-FA5E2FF9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576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memory layout is designed around the dominant access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2B8766-42F9-4E0D-8BAA-DF9385F6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0DA66-E7B8-4FE2-9EA7-D7C620DC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e5a599ef547c0"/>
          <a:stretch xmlns:a="http://schemas.openxmlformats.org/drawingml/2006/main"/>
        </p:blipFill>
        <p:spPr>
          <a:xfrm xmlns:a="http://schemas.openxmlformats.org/drawingml/2006/main">
            <a:off x="1463842" y="1409700"/>
            <a:ext cx="9264316" cy="4191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A1C67-5FAC-48CD-9368-71E47CF8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53100"/>
            <a:ext cx="1036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08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CSR-like offsets make each cluster contiguous; short codes are interleaved so a warp reads adjacent dimensions from adjacent vectors.</a:t>
            </a:r>
          </a:p>
        </p:txBody>
      </p:sp>
    </p:spTree>
    <p:extLst>
      <p:ext uri="{BB962C8B-B14F-4D97-AF65-F5344CB8AC3E}">
        <p14:creationId xmlns:p14="http://schemas.microsoft.com/office/powerpoint/2010/main" val="3820180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DEA195-2FCB-4660-B25F-70733FA7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EXPERIMENTAL SETUP</a:t>
            </a:r>
          </a:p>
        </p:txBody>
      </p:sp>
      <p:sp>
        <p:nvSpPr>
          <p:cNvPr id="2" name="slide-16-title">
            <a:extLst xmlns:a="http://schemas.openxmlformats.org/drawingml/2006/main">
              <a:ext uri="{FF2B5EF4-FFF2-40B4-BE49-F238E27FC236}">
                <a16:creationId xmlns:a16="http://schemas.microsoft.com/office/drawing/2014/main" id="{1ED0CACA-BC0A-459F-BFBB-ECBFFFB0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Evaluation spans six diverse vector datasets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F529B-E559-4289-8E0C-450CC754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19055-992F-42A2-B8EA-8C9B847E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A3242-5F36-4C5D-96B2-2B173F2E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571500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0707c8897943e9"/>
          <a:stretch xmlns:a="http://schemas.openxmlformats.org/drawingml/2006/main"/>
        </p:blipFill>
        <p:spPr>
          <a:xfrm xmlns:a="http://schemas.openxmlformats.org/drawingml/2006/main">
            <a:off x="533400" y="2109601"/>
            <a:ext cx="5448300" cy="299122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0CF48-6891-4470-B1E0-78F318D7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57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115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93A1D-6F36-4BA4-96D3-8F720D82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4095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NVIDIA L40S, 48 GB</a:t>
            </a:r>
          </a:p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CUDA 13.1</a:t>
            </a:r>
          </a:p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Ubuntu 22.04</a:t>
            </a:r>
          </a:p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Batch size = 10⁴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082F4-08FC-456A-BD29-706DC43A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38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115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Baselines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41E39-76FE-42DF-88E1-A24171C3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4762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CAGRA</a:t>
            </a:r>
          </a:p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IVF-Flat</a:t>
            </a:r>
          </a:p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IVF-PQ with / without refinement</a:t>
            </a:r>
          </a:p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RaBitQLib CPU counterpart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D2FCF1-95F0-4923-987E-F3A65AE5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817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Default RaBitQ: 8 bits/dimension · Ncoarse = 64 · Nfine = 32</a:t>
            </a:r>
          </a:p>
        </p:txBody>
      </p:sp>
    </p:spTree>
    <p:extLst>
      <p:ext uri="{BB962C8B-B14F-4D97-AF65-F5344CB8AC3E}">
        <p14:creationId xmlns:p14="http://schemas.microsoft.com/office/powerpoint/2010/main" val="12424924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59BAD9-7DEA-4D8F-B625-BF7FC0E1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SEARCH PERFORMANCE</a:t>
            </a:r>
          </a:p>
        </p:txBody>
      </p:sp>
      <p:sp>
        <p:nvSpPr>
          <p:cNvPr id="2" name="slide-17-title">
            <a:extLst xmlns:a="http://schemas.openxmlformats.org/drawingml/2006/main">
              <a:ext uri="{FF2B5EF4-FFF2-40B4-BE49-F238E27FC236}">
                <a16:creationId xmlns:a16="http://schemas.microsoft.com/office/drawing/2014/main" id="{1D4D331E-E8A1-48B6-A3C9-EA579053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IVF-RaBitQ leads the medium-to-high recall region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EFE51-75E7-4C01-9107-2545E083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A75A38-B6E3-411B-9D27-22453674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2f54698d94a46"/>
          <a:stretch xmlns:a="http://schemas.openxmlformats.org/drawingml/2006/main"/>
        </p:blipFill>
        <p:spPr>
          <a:xfrm xmlns:a="http://schemas.openxmlformats.org/drawingml/2006/main">
            <a:off x="994481" y="1371600"/>
            <a:ext cx="7478889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72F16-DF35-4AD9-AD48-B3D73687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524000"/>
            <a:ext cx="24765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1680C-3A47-4FA0-B21A-6AD3D77B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907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At Recall = 0.95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7C409-55E0-4083-A25F-CECB67DA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288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2.2×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CA1CA-F25E-44D8-9965-A9BCDC3D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average QPS vs. CAGRA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2C748-9F3F-4B3F-94EF-92DF5189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42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2.0–31.4×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F692AD-CD8A-4405-B74A-1E6777AC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4815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QPS vs. IVF-PQ without refinement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A1300-C5A7-4F63-B230-3B1991B6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530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22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Bitwise scales better than LUT on very high-dimensional vectors.</a:t>
            </a:r>
          </a:p>
        </p:txBody>
      </p:sp>
    </p:spTree>
    <p:extLst>
      <p:ext uri="{BB962C8B-B14F-4D97-AF65-F5344CB8AC3E}">
        <p14:creationId xmlns:p14="http://schemas.microsoft.com/office/powerpoint/2010/main" val="13121602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00EDE-0F64-4CCD-8993-0C20D2B2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SYSTEM EFFICIENCY</a:t>
            </a:r>
          </a:p>
        </p:txBody>
      </p:sp>
      <p:sp>
        <p:nvSpPr>
          <p:cNvPr id="2" name="slide-18-title">
            <a:extLst xmlns:a="http://schemas.openxmlformats.org/drawingml/2006/main">
              <a:ext uri="{FF2B5EF4-FFF2-40B4-BE49-F238E27FC236}">
                <a16:creationId xmlns:a16="http://schemas.microsoft.com/office/drawing/2014/main" id="{48F15322-EA85-4381-9344-FDD51A48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91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same index is faster to build and substantially smaller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F6A06-28E7-484D-8981-1905F0C9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13D2C-165E-4BD9-80CE-0004EA2F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3d5742417f4e55"/>
          <a:stretch xmlns:a="http://schemas.openxmlformats.org/drawingml/2006/main"/>
        </p:blipFill>
        <p:spPr>
          <a:xfrm xmlns:a="http://schemas.openxmlformats.org/drawingml/2006/main">
            <a:off x="884704" y="1352550"/>
            <a:ext cx="7126941" cy="22860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7fbd240cd4096"/>
          <a:stretch xmlns:a="http://schemas.openxmlformats.org/drawingml/2006/main"/>
        </p:blipFill>
        <p:spPr>
          <a:xfrm xmlns:a="http://schemas.openxmlformats.org/drawingml/2006/main">
            <a:off x="400050" y="3864701"/>
            <a:ext cx="8096250" cy="208134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C1A6D-9F16-445E-94A4-E2FFF6EA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29337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565F3-22CA-4540-8D67-097B2DD0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90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857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7.7×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C7F85-1D2C-4F8D-8775-703AB7B5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14600"/>
            <a:ext cx="2400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faster index build than CAGRA on average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BCB48-1AE2-4BA4-BF7F-94007DFD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004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857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4.4×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07C98-38CF-4769-BAEB-D9A37895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24300"/>
            <a:ext cx="2400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faster build than IVF-PQ on average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138B98-9307-4A03-880C-F22C77EB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053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74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Wiki-all example:</a:t>
            </a:r>
          </a:p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7.49 GB for IVF-RaBitQ</a:t>
            </a:r>
          </a:p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&gt;30 GB for CAGRA and IVF-PQ with refinement</a:t>
            </a:r>
          </a:p>
        </p:txBody>
      </p:sp>
    </p:spTree>
    <p:extLst>
      <p:ext uri="{BB962C8B-B14F-4D97-AF65-F5344CB8AC3E}">
        <p14:creationId xmlns:p14="http://schemas.microsoft.com/office/powerpoint/2010/main" val="40890834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850AED-CE98-485F-B0EF-9A2B26DD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SENSITIVITY AND PORTABILITY</a:t>
            </a:r>
          </a:p>
        </p:txBody>
      </p:sp>
      <p:sp>
        <p:nvSpPr>
          <p:cNvPr id="2" name="slide-19-title">
            <a:extLst xmlns:a="http://schemas.openxmlformats.org/drawingml/2006/main">
              <a:ext uri="{FF2B5EF4-FFF2-40B4-BE49-F238E27FC236}">
                <a16:creationId xmlns:a16="http://schemas.microsoft.com/office/drawing/2014/main" id="{2E58F96A-9BBD-49A0-9855-95782AF9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72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Bit width controls recall; GPU execution preserves accuracy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BE4DD-F1E3-47D1-B24D-A8393F4A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206B4-3D9D-4CEF-9444-D2A53E19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FA4C2-CD4E-4BBC-9D51-242129EB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Quantization-bit trade-off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28025ce244fca"/>
          <a:stretch xmlns:a="http://schemas.openxmlformats.org/drawingml/2006/main"/>
        </p:blipFill>
        <p:spPr>
          <a:xfrm xmlns:a="http://schemas.openxmlformats.org/drawingml/2006/main">
            <a:off x="400050" y="2077190"/>
            <a:ext cx="5334000" cy="258932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C2EC7-952E-44D4-BD2D-0CF967D2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287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GPU versus CPU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86adb6f5ad4a65"/>
          <a:stretch xmlns:a="http://schemas.openxmlformats.org/drawingml/2006/main"/>
        </p:blipFill>
        <p:spPr>
          <a:xfrm xmlns:a="http://schemas.openxmlformats.org/drawingml/2006/main">
            <a:off x="6734175" y="1847850"/>
            <a:ext cx="4572000" cy="3048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2825A-FF84-4C3D-9A0C-D44FBC38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143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 =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FA1D5A-33F0-4F3A-8A91-8606665C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768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&gt;0.95 recall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18E7E-19BF-48A4-9D4F-3ED728B5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143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 = 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DD54C9-78A3-4D15-BEEF-9D4A51CB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829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&gt;0.99 recall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7CF5C-2B3A-4012-96DE-E90FFD01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101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12.9×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F8D5D-96A7-479D-B030-B2FA360D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7340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average GPU QPS speedup at Recall@10 = 0.95</a:t>
            </a:r>
          </a:p>
        </p:txBody>
      </p:sp>
    </p:spTree>
    <p:extLst>
      <p:ext uri="{BB962C8B-B14F-4D97-AF65-F5344CB8AC3E}">
        <p14:creationId xmlns:p14="http://schemas.microsoft.com/office/powerpoint/2010/main" val="27923726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26107-9C80-49EE-A89C-80484D49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TAKEAWAYS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42CD3-55F2-4150-838D-9BDDF726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857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5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IVF-RaBitQ shifts the</a:t>
            </a:r>
          </a:p>
          <a:p xmlns:a="http://schemas.openxmlformats.org/drawingml/2006/main">
            <a:pPr algn="l">
              <a:defRPr sz="5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GPU ANNS frontier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D8406-41A1-4680-9211-6BBE499F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09B94-2E64-4739-B760-D147C03F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30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GPU-native quantization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665C1-5C69-4DAB-98CF-701AB8F3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333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Parallel factor exploration makes RaBitQ practical at scale.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DBBB0-CE66-4769-A4B2-87730590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38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30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Kernel + layout co-design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B8FBB-4F4A-4CE1-A367-96C06CBC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57650"/>
            <a:ext cx="333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6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Two-stage scoring, bitwise/LUT kernels, and fusion reduce data movement.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5699C-E537-48C9-BAAE-527B0049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38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30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Strong measured trade-off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248CC-A8CC-4A6D-9344-DC19A2B4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57650"/>
            <a:ext cx="333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High recall and QPS with fast builds and compact storage.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D8242-67AB-4B10-AED5-A0FD8F23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1391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CDC38-7EFE-4F83-BB23-4F4DE5A3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215"/>
          </a:bodyPr>
          <a:lstStyle xmlns:a="http://schemas.openxmlformats.org/drawingml/2006/main"/>
          <a:p xmlns:a="http://schemas.openxmlformats.org/drawingml/2006/main">
            <a:pPr algn="ctr">
              <a:defRPr sz="153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3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Scope to remember: one L40S, GPU-resident large batches, and an empirically tuned two-phase grid search. Small-batch latency, out-of-core behavior, and broader GPU portability remain useful next questions.</a:t>
            </a:r>
          </a:p>
        </p:txBody>
      </p:sp>
    </p:spTree>
    <p:extLst>
      <p:ext uri="{BB962C8B-B14F-4D97-AF65-F5344CB8AC3E}">
        <p14:creationId xmlns:p14="http://schemas.microsoft.com/office/powerpoint/2010/main" val="3987599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2026-07-26T19:49:19.0770000Z</dcterms:created>
  <dcterms:modified xsi:type="dcterms:W3CDTF">2026-07-26T19:49:19.0770000Z</dcterms:modified>
</coreProperties>
</file>